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1"/>
  </p:notesMasterIdLst>
  <p:sldIdLst>
    <p:sldId id="256" r:id="rId2"/>
    <p:sldId id="257" r:id="rId3"/>
    <p:sldId id="259" r:id="rId4"/>
    <p:sldId id="260" r:id="rId5"/>
    <p:sldId id="262" r:id="rId6"/>
    <p:sldId id="264" r:id="rId7"/>
    <p:sldId id="267" r:id="rId8"/>
    <p:sldId id="265" r:id="rId9"/>
    <p:sldId id="266" r:id="rId10"/>
  </p:sldIdLst>
  <p:sldSz cx="12192000" cy="6858000"/>
  <p:notesSz cx="12192000" cy="685800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78" d="100"/>
          <a:sy n="78" d="100"/>
        </p:scale>
        <p:origin x="850" y="62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ヘッダー プレースホルダー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5283200" cy="3444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kumimoji="1" lang="ja-JP" altLang="en-US"/>
          </a:p>
        </p:txBody>
      </p:sp>
      <p:sp>
        <p:nvSpPr>
          <p:cNvPr id="3" name="日付プレースホルダー 2"/>
          <p:cNvSpPr>
            <a:spLocks noGrp="1"/>
          </p:cNvSpPr>
          <p:nvPr>
            <p:ph type="dt" idx="1"/>
          </p:nvPr>
        </p:nvSpPr>
        <p:spPr>
          <a:xfrm>
            <a:off x="6905625" y="0"/>
            <a:ext cx="5283200" cy="3444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844CC07-7CCF-4856-941D-F16981C68265}" type="datetimeFigureOut">
              <a:rPr kumimoji="1" lang="ja-JP" altLang="en-US" smtClean="0"/>
              <a:t>2026/2/17</a:t>
            </a:fld>
            <a:endParaRPr kumimoji="1" lang="ja-JP" altLang="en-US"/>
          </a:p>
        </p:txBody>
      </p:sp>
      <p:sp>
        <p:nvSpPr>
          <p:cNvPr id="4" name="スライド イメージ プレースホルダー 3"/>
          <p:cNvSpPr>
            <a:spLocks noGrp="1" noRot="1" noChangeAspect="1"/>
          </p:cNvSpPr>
          <p:nvPr>
            <p:ph type="sldImg" idx="2"/>
          </p:nvPr>
        </p:nvSpPr>
        <p:spPr>
          <a:xfrm>
            <a:off x="4038600" y="857250"/>
            <a:ext cx="4114800" cy="231457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ja-JP" altLang="en-US"/>
          </a:p>
        </p:txBody>
      </p:sp>
      <p:sp>
        <p:nvSpPr>
          <p:cNvPr id="5" name="ノート プレースホルダー 4"/>
          <p:cNvSpPr>
            <a:spLocks noGrp="1"/>
          </p:cNvSpPr>
          <p:nvPr>
            <p:ph type="body" sz="quarter" idx="3"/>
          </p:nvPr>
        </p:nvSpPr>
        <p:spPr>
          <a:xfrm>
            <a:off x="1219200" y="3300413"/>
            <a:ext cx="9753600" cy="2700337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6" name="フッター プレースホルダー 5"/>
          <p:cNvSpPr>
            <a:spLocks noGrp="1"/>
          </p:cNvSpPr>
          <p:nvPr>
            <p:ph type="ftr" sz="quarter" idx="4"/>
          </p:nvPr>
        </p:nvSpPr>
        <p:spPr>
          <a:xfrm>
            <a:off x="0" y="6513513"/>
            <a:ext cx="5283200" cy="3444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kumimoji="1" lang="ja-JP" altLang="en-US"/>
          </a:p>
        </p:txBody>
      </p:sp>
      <p:sp>
        <p:nvSpPr>
          <p:cNvPr id="7" name="スライド番号プレースホルダー 6"/>
          <p:cNvSpPr>
            <a:spLocks noGrp="1"/>
          </p:cNvSpPr>
          <p:nvPr>
            <p:ph type="sldNum" sz="quarter" idx="5"/>
          </p:nvPr>
        </p:nvSpPr>
        <p:spPr>
          <a:xfrm>
            <a:off x="6905625" y="6513513"/>
            <a:ext cx="5283200" cy="3444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0476A4E-7012-4A9C-843C-6443E265FB9C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22960878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ja-JP" altLang="en-US" dirty="0"/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476A4E-7012-4A9C-843C-6443E265FB9C}" type="slidenum">
              <a:rPr kumimoji="1" lang="ja-JP" altLang="en-US" smtClean="0"/>
              <a:t>7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74549625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914400" y="2125980"/>
            <a:ext cx="10363200" cy="14401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4400" b="0" i="0" u="sng">
                <a:solidFill>
                  <a:schemeClr val="bg1"/>
                </a:solidFill>
                <a:latin typeface="MS Gothic"/>
                <a:cs typeface="MS Gothic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828800" y="3840480"/>
            <a:ext cx="8534400" cy="17145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800" b="0" i="0">
                <a:solidFill>
                  <a:schemeClr val="bg1"/>
                </a:solidFill>
                <a:latin typeface="MS Gothic"/>
                <a:cs typeface="MS Gothic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2/17/2026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400" b="0" i="0" u="sng">
                <a:solidFill>
                  <a:schemeClr val="bg1"/>
                </a:solidFill>
                <a:latin typeface="MS Gothic"/>
                <a:cs typeface="MS Gothic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2800" b="0" i="0">
                <a:solidFill>
                  <a:schemeClr val="bg1"/>
                </a:solidFill>
                <a:latin typeface="MS Gothic"/>
                <a:cs typeface="MS Gothic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2/17/2026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400" b="0" i="0" u="sng">
                <a:solidFill>
                  <a:schemeClr val="bg1"/>
                </a:solidFill>
                <a:latin typeface="MS Gothic"/>
                <a:cs typeface="MS Gothic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60960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627888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2/17/2026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400" b="0" i="0" u="sng">
                <a:solidFill>
                  <a:schemeClr val="bg1"/>
                </a:solidFill>
                <a:latin typeface="MS Gothic"/>
                <a:cs typeface="MS Gothic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2/17/2026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2/17/2026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image" Target="../media/image1.pn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bg object 16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442671" y="482041"/>
            <a:ext cx="7287259" cy="69723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4400" b="0" i="0" u="sng">
                <a:solidFill>
                  <a:schemeClr val="bg1"/>
                </a:solidFill>
                <a:latin typeface="MS Gothic"/>
                <a:cs typeface="MS Gothic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553313" y="2137663"/>
            <a:ext cx="5001895" cy="219837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800" b="0" i="0">
                <a:solidFill>
                  <a:schemeClr val="bg1"/>
                </a:solidFill>
                <a:latin typeface="MS Gothic"/>
                <a:cs typeface="MS Gothic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4145280" y="6377940"/>
            <a:ext cx="390144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609600" y="6377940"/>
            <a:ext cx="280416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2/17/2026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8778240" y="6377940"/>
            <a:ext cx="280416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4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8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840355" y="1905000"/>
            <a:ext cx="6511290" cy="936154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algn="ctr">
              <a:lnSpc>
                <a:spcPct val="100000"/>
              </a:lnSpc>
              <a:spcBef>
                <a:spcPts val="100"/>
              </a:spcBef>
            </a:pPr>
            <a:r>
              <a:rPr lang="ja-JP" altLang="en-US" sz="6000" dirty="0"/>
              <a:t>就職作品概要資料</a:t>
            </a:r>
            <a:endParaRPr sz="6000" dirty="0"/>
          </a:p>
        </p:txBody>
      </p:sp>
      <p:sp>
        <p:nvSpPr>
          <p:cNvPr id="3" name="object 3"/>
          <p:cNvSpPr txBox="1"/>
          <p:nvPr/>
        </p:nvSpPr>
        <p:spPr>
          <a:xfrm>
            <a:off x="2914650" y="5791200"/>
            <a:ext cx="6362700" cy="536685"/>
          </a:xfrm>
          <a:prstGeom prst="rect">
            <a:avLst/>
          </a:prstGeom>
        </p:spPr>
        <p:txBody>
          <a:bodyPr vert="horz" wrap="square" lIns="0" tIns="104775" rIns="0" bIns="0" rtlCol="0">
            <a:spAutoFit/>
          </a:bodyPr>
          <a:lstStyle/>
          <a:p>
            <a:pPr marL="12700" algn="ctr">
              <a:lnSpc>
                <a:spcPct val="100000"/>
              </a:lnSpc>
              <a:spcBef>
                <a:spcPts val="735"/>
              </a:spcBef>
            </a:pPr>
            <a:r>
              <a:rPr lang="en-US" altLang="ja-JP" sz="2800" spc="-125" dirty="0">
                <a:solidFill>
                  <a:srgbClr val="FFFFFF"/>
                </a:solidFill>
                <a:latin typeface="MS Gothic"/>
                <a:cs typeface="MS Gothic"/>
              </a:rPr>
              <a:t>HAL</a:t>
            </a:r>
            <a:r>
              <a:rPr lang="ja-JP" altLang="en-US" sz="2800" spc="-125" dirty="0">
                <a:solidFill>
                  <a:srgbClr val="FFFFFF"/>
                </a:solidFill>
                <a:latin typeface="MS Gothic"/>
                <a:cs typeface="MS Gothic"/>
              </a:rPr>
              <a:t>大阪　ゲーム４年制学科　松田 </a:t>
            </a:r>
            <a:r>
              <a:rPr sz="2800" spc="-125" dirty="0" err="1">
                <a:solidFill>
                  <a:srgbClr val="FFFFFF"/>
                </a:solidFill>
                <a:latin typeface="MS Gothic"/>
                <a:cs typeface="MS Gothic"/>
              </a:rPr>
              <a:t>健志</a:t>
            </a:r>
            <a:endParaRPr sz="2800" dirty="0">
              <a:latin typeface="MS Gothic"/>
              <a:cs typeface="MS Gothic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3030DCD2-F0DB-B7B9-A22B-CC6696E04FB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1001" y="381000"/>
            <a:ext cx="1981200" cy="923330"/>
          </a:xfrm>
        </p:spPr>
        <p:txBody>
          <a:bodyPr/>
          <a:lstStyle/>
          <a:p>
            <a:r>
              <a:rPr kumimoji="1" lang="ja-JP" altLang="en-US" sz="6000" dirty="0"/>
              <a:t>目次</a:t>
            </a:r>
          </a:p>
        </p:txBody>
      </p:sp>
      <p:sp>
        <p:nvSpPr>
          <p:cNvPr id="5" name="テキスト ボックス 4">
            <a:extLst>
              <a:ext uri="{FF2B5EF4-FFF2-40B4-BE49-F238E27FC236}">
                <a16:creationId xmlns:a16="http://schemas.microsoft.com/office/drawing/2014/main" id="{4EE9F1BA-CC7D-3F20-F458-0F6492D5C4D6}"/>
              </a:ext>
            </a:extLst>
          </p:cNvPr>
          <p:cNvSpPr txBox="1"/>
          <p:nvPr/>
        </p:nvSpPr>
        <p:spPr>
          <a:xfrm>
            <a:off x="381000" y="1981200"/>
            <a:ext cx="2514600" cy="584775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kumimoji="1" lang="ja-JP" altLang="en-US" sz="3200" b="1" dirty="0">
                <a:solidFill>
                  <a:schemeClr val="bg1"/>
                </a:solidFill>
                <a:latin typeface="+mj-ea"/>
                <a:ea typeface="+mj-ea"/>
              </a:rPr>
              <a:t>① </a:t>
            </a:r>
            <a:r>
              <a:rPr kumimoji="1" lang="ja-JP" altLang="en-US" sz="3200" b="1" u="sng" dirty="0">
                <a:solidFill>
                  <a:schemeClr val="bg1"/>
                </a:solidFill>
                <a:latin typeface="+mj-ea"/>
                <a:ea typeface="+mj-ea"/>
              </a:rPr>
              <a:t>作品概要</a:t>
            </a:r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FE09693D-262C-394F-A8A7-640967748777}"/>
              </a:ext>
            </a:extLst>
          </p:cNvPr>
          <p:cNvSpPr txBox="1"/>
          <p:nvPr/>
        </p:nvSpPr>
        <p:spPr>
          <a:xfrm>
            <a:off x="381000" y="2844225"/>
            <a:ext cx="5410200" cy="584775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kumimoji="1" lang="ja-JP" altLang="en-US" sz="3200" b="1" dirty="0">
                <a:solidFill>
                  <a:schemeClr val="bg1"/>
                </a:solidFill>
                <a:latin typeface="+mj-ea"/>
                <a:ea typeface="+mj-ea"/>
              </a:rPr>
              <a:t>② </a:t>
            </a:r>
            <a:r>
              <a:rPr kumimoji="1" lang="ja-JP" altLang="en-US" sz="3200" b="1" u="sng" dirty="0">
                <a:solidFill>
                  <a:schemeClr val="bg1"/>
                </a:solidFill>
                <a:latin typeface="+mj-ea"/>
                <a:ea typeface="+mj-ea"/>
              </a:rPr>
              <a:t>コンセプト実現に向けて</a:t>
            </a:r>
          </a:p>
        </p:txBody>
      </p:sp>
      <p:sp>
        <p:nvSpPr>
          <p:cNvPr id="8" name="テキスト ボックス 7">
            <a:extLst>
              <a:ext uri="{FF2B5EF4-FFF2-40B4-BE49-F238E27FC236}">
                <a16:creationId xmlns:a16="http://schemas.microsoft.com/office/drawing/2014/main" id="{C60C6055-A983-F43C-12BA-368BCF79D180}"/>
              </a:ext>
            </a:extLst>
          </p:cNvPr>
          <p:cNvSpPr txBox="1"/>
          <p:nvPr/>
        </p:nvSpPr>
        <p:spPr>
          <a:xfrm>
            <a:off x="381000" y="3707250"/>
            <a:ext cx="1752600" cy="584775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kumimoji="1" lang="ja-JP" altLang="en-US" sz="3200" b="1" dirty="0">
                <a:solidFill>
                  <a:schemeClr val="bg1"/>
                </a:solidFill>
                <a:latin typeface="+mj-ea"/>
                <a:ea typeface="+mj-ea"/>
              </a:rPr>
              <a:t>③ </a:t>
            </a:r>
            <a:r>
              <a:rPr kumimoji="1" lang="ja-JP" altLang="en-US" sz="3200" b="1" u="sng" dirty="0">
                <a:solidFill>
                  <a:schemeClr val="bg1"/>
                </a:solidFill>
                <a:latin typeface="+mj-ea"/>
                <a:ea typeface="+mj-ea"/>
              </a:rPr>
              <a:t>今後</a:t>
            </a:r>
          </a:p>
        </p:txBody>
      </p:sp>
    </p:spTree>
    <p:extLst>
      <p:ext uri="{BB962C8B-B14F-4D97-AF65-F5344CB8AC3E}">
        <p14:creationId xmlns:p14="http://schemas.microsoft.com/office/powerpoint/2010/main" val="65191520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265D6B6-954C-4D82-7E7B-002BE8F8D03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B3081D0E-FD59-D61C-C70D-E4F752D747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1169" y="390832"/>
            <a:ext cx="3134032" cy="923330"/>
          </a:xfrm>
        </p:spPr>
        <p:txBody>
          <a:bodyPr/>
          <a:lstStyle/>
          <a:p>
            <a:r>
              <a:rPr kumimoji="1" lang="ja-JP" altLang="en-US" sz="6000" dirty="0"/>
              <a:t>作品概要</a:t>
            </a:r>
          </a:p>
        </p:txBody>
      </p:sp>
      <p:sp>
        <p:nvSpPr>
          <p:cNvPr id="5" name="テキスト ボックス 4">
            <a:extLst>
              <a:ext uri="{FF2B5EF4-FFF2-40B4-BE49-F238E27FC236}">
                <a16:creationId xmlns:a16="http://schemas.microsoft.com/office/drawing/2014/main" id="{35E731EC-97BD-6702-40FB-F449B406C8C4}"/>
              </a:ext>
            </a:extLst>
          </p:cNvPr>
          <p:cNvSpPr txBox="1"/>
          <p:nvPr/>
        </p:nvSpPr>
        <p:spPr>
          <a:xfrm>
            <a:off x="363795" y="1910588"/>
            <a:ext cx="11053916" cy="523220"/>
          </a:xfrm>
          <a:prstGeom prst="rect">
            <a:avLst/>
          </a:prstGeom>
          <a:noFill/>
          <a:ln w="12700">
            <a:noFill/>
          </a:ln>
        </p:spPr>
        <p:txBody>
          <a:bodyPr wrap="square" rtlCol="0">
            <a:spAutoFit/>
          </a:bodyPr>
          <a:lstStyle/>
          <a:p>
            <a:pPr algn="l"/>
            <a:r>
              <a:rPr kumimoji="1" lang="ja-JP" altLang="en-US" sz="2800" b="1" u="sng" dirty="0">
                <a:solidFill>
                  <a:schemeClr val="bg1"/>
                </a:solidFill>
              </a:rPr>
              <a:t>作品名</a:t>
            </a:r>
            <a:r>
              <a:rPr kumimoji="1" lang="ja-JP" altLang="en-US" sz="2800" b="1" dirty="0">
                <a:solidFill>
                  <a:schemeClr val="bg1"/>
                </a:solidFill>
              </a:rPr>
              <a:t>　</a:t>
            </a:r>
            <a:r>
              <a:rPr kumimoji="1" lang="ja-JP" altLang="en-US" sz="2800" dirty="0">
                <a:solidFill>
                  <a:schemeClr val="bg1"/>
                </a:solidFill>
              </a:rPr>
              <a:t> </a:t>
            </a:r>
            <a:r>
              <a:rPr kumimoji="1" lang="en-US" altLang="ja-JP" sz="2800" dirty="0">
                <a:solidFill>
                  <a:schemeClr val="bg1"/>
                </a:solidFill>
              </a:rPr>
              <a:t>: </a:t>
            </a:r>
            <a:r>
              <a:rPr kumimoji="1" lang="ja-JP" altLang="ja-JP" sz="2800" dirty="0">
                <a:solidFill>
                  <a:schemeClr val="bg1"/>
                </a:solidFill>
              </a:rPr>
              <a:t>他のプラットフォーム対応を前提とした</a:t>
            </a:r>
            <a:r>
              <a:rPr kumimoji="1" lang="ja-JP" altLang="en-US" sz="2800" dirty="0">
                <a:solidFill>
                  <a:schemeClr val="bg1"/>
                </a:solidFill>
              </a:rPr>
              <a:t>フレームワーク</a:t>
            </a:r>
          </a:p>
        </p:txBody>
      </p:sp>
      <p:sp>
        <p:nvSpPr>
          <p:cNvPr id="11" name="テキスト ボックス 10">
            <a:extLst>
              <a:ext uri="{FF2B5EF4-FFF2-40B4-BE49-F238E27FC236}">
                <a16:creationId xmlns:a16="http://schemas.microsoft.com/office/drawing/2014/main" id="{0ED591FF-3C66-76C9-7DB1-C9FD342DC09F}"/>
              </a:ext>
            </a:extLst>
          </p:cNvPr>
          <p:cNvSpPr txBox="1"/>
          <p:nvPr/>
        </p:nvSpPr>
        <p:spPr>
          <a:xfrm>
            <a:off x="371169" y="3755760"/>
            <a:ext cx="4734232" cy="523220"/>
          </a:xfrm>
          <a:prstGeom prst="rect">
            <a:avLst/>
          </a:prstGeom>
          <a:noFill/>
          <a:ln w="12700">
            <a:noFill/>
          </a:ln>
        </p:spPr>
        <p:txBody>
          <a:bodyPr wrap="square" rtlCol="0">
            <a:spAutoFit/>
          </a:bodyPr>
          <a:lstStyle/>
          <a:p>
            <a:pPr algn="l"/>
            <a:r>
              <a:rPr kumimoji="1" lang="ja-JP" altLang="en-US" sz="2800" b="1" u="sng" dirty="0">
                <a:solidFill>
                  <a:schemeClr val="bg1"/>
                </a:solidFill>
              </a:rPr>
              <a:t>制作期間</a:t>
            </a:r>
            <a:r>
              <a:rPr kumimoji="1" lang="ja-JP" altLang="en-US" sz="2800" b="1" dirty="0">
                <a:solidFill>
                  <a:schemeClr val="bg1"/>
                </a:solidFill>
              </a:rPr>
              <a:t> </a:t>
            </a:r>
            <a:r>
              <a:rPr kumimoji="1" lang="en-US" altLang="ja-JP" sz="2800" dirty="0">
                <a:solidFill>
                  <a:schemeClr val="bg1"/>
                </a:solidFill>
              </a:rPr>
              <a:t>: </a:t>
            </a:r>
            <a:r>
              <a:rPr kumimoji="1" lang="ja-JP" altLang="en-US" sz="2800" dirty="0">
                <a:solidFill>
                  <a:schemeClr val="bg1"/>
                </a:solidFill>
              </a:rPr>
              <a:t>約３～４か月</a:t>
            </a:r>
          </a:p>
        </p:txBody>
      </p:sp>
      <p:sp>
        <p:nvSpPr>
          <p:cNvPr id="12" name="テキスト ボックス 11">
            <a:extLst>
              <a:ext uri="{FF2B5EF4-FFF2-40B4-BE49-F238E27FC236}">
                <a16:creationId xmlns:a16="http://schemas.microsoft.com/office/drawing/2014/main" id="{4C3ED28E-B2D5-C64C-E143-47076CA1F52A}"/>
              </a:ext>
            </a:extLst>
          </p:cNvPr>
          <p:cNvSpPr txBox="1"/>
          <p:nvPr/>
        </p:nvSpPr>
        <p:spPr>
          <a:xfrm>
            <a:off x="371169" y="2792564"/>
            <a:ext cx="5877232" cy="523220"/>
          </a:xfrm>
          <a:prstGeom prst="rect">
            <a:avLst/>
          </a:prstGeom>
          <a:noFill/>
          <a:ln w="12700">
            <a:noFill/>
          </a:ln>
        </p:spPr>
        <p:txBody>
          <a:bodyPr wrap="square" rtlCol="0">
            <a:spAutoFit/>
          </a:bodyPr>
          <a:lstStyle/>
          <a:p>
            <a:pPr algn="l"/>
            <a:r>
              <a:rPr kumimoji="1" lang="ja-JP" altLang="en-US" sz="2800" b="1" u="sng" dirty="0">
                <a:solidFill>
                  <a:schemeClr val="bg1"/>
                </a:solidFill>
              </a:rPr>
              <a:t>開発環境</a:t>
            </a:r>
            <a:r>
              <a:rPr kumimoji="1" lang="ja-JP" altLang="en-US" sz="2800" b="1" dirty="0">
                <a:solidFill>
                  <a:schemeClr val="bg1"/>
                </a:solidFill>
              </a:rPr>
              <a:t> </a:t>
            </a:r>
            <a:r>
              <a:rPr kumimoji="1" lang="en-US" altLang="ja-JP" sz="2800" dirty="0">
                <a:solidFill>
                  <a:schemeClr val="bg1"/>
                </a:solidFill>
              </a:rPr>
              <a:t>: C++20 </a:t>
            </a:r>
            <a:r>
              <a:rPr kumimoji="1" lang="ja-JP" altLang="en-US" sz="2800" dirty="0">
                <a:solidFill>
                  <a:schemeClr val="bg1"/>
                </a:solidFill>
              </a:rPr>
              <a:t>・ </a:t>
            </a:r>
            <a:r>
              <a:rPr kumimoji="1" lang="en-US" altLang="ja-JP" sz="2800" dirty="0">
                <a:solidFill>
                  <a:schemeClr val="bg1"/>
                </a:solidFill>
              </a:rPr>
              <a:t>DirectX11</a:t>
            </a:r>
            <a:endParaRPr kumimoji="1" lang="ja-JP" altLang="en-US" sz="2800" dirty="0">
              <a:solidFill>
                <a:schemeClr val="bg1"/>
              </a:solidFill>
            </a:endParaRPr>
          </a:p>
        </p:txBody>
      </p:sp>
      <p:sp>
        <p:nvSpPr>
          <p:cNvPr id="13" name="テキスト ボックス 12">
            <a:extLst>
              <a:ext uri="{FF2B5EF4-FFF2-40B4-BE49-F238E27FC236}">
                <a16:creationId xmlns:a16="http://schemas.microsoft.com/office/drawing/2014/main" id="{485EB103-E022-71F1-C4DA-50FA9BB056C9}"/>
              </a:ext>
            </a:extLst>
          </p:cNvPr>
          <p:cNvSpPr txBox="1"/>
          <p:nvPr/>
        </p:nvSpPr>
        <p:spPr>
          <a:xfrm>
            <a:off x="373626" y="4640277"/>
            <a:ext cx="4277032" cy="523220"/>
          </a:xfrm>
          <a:prstGeom prst="rect">
            <a:avLst/>
          </a:prstGeom>
          <a:noFill/>
          <a:ln w="12700">
            <a:noFill/>
          </a:ln>
        </p:spPr>
        <p:txBody>
          <a:bodyPr wrap="square" rtlCol="0">
            <a:spAutoFit/>
          </a:bodyPr>
          <a:lstStyle/>
          <a:p>
            <a:pPr algn="l"/>
            <a:r>
              <a:rPr kumimoji="1" lang="ja-JP" altLang="en-US" sz="2800" b="1" u="sng" dirty="0">
                <a:solidFill>
                  <a:schemeClr val="bg1"/>
                </a:solidFill>
              </a:rPr>
              <a:t>使用したライブラリー</a:t>
            </a:r>
          </a:p>
        </p:txBody>
      </p:sp>
      <p:sp>
        <p:nvSpPr>
          <p:cNvPr id="15" name="テキスト ボックス 14">
            <a:extLst>
              <a:ext uri="{FF2B5EF4-FFF2-40B4-BE49-F238E27FC236}">
                <a16:creationId xmlns:a16="http://schemas.microsoft.com/office/drawing/2014/main" id="{E29686F3-4DCA-0446-F882-162AAF7222AC}"/>
              </a:ext>
            </a:extLst>
          </p:cNvPr>
          <p:cNvSpPr txBox="1"/>
          <p:nvPr/>
        </p:nvSpPr>
        <p:spPr>
          <a:xfrm>
            <a:off x="363794" y="5239635"/>
            <a:ext cx="2531806" cy="1015663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kumimoji="1" lang="ja-JP" altLang="en-US" sz="2000" dirty="0">
                <a:solidFill>
                  <a:schemeClr val="bg1"/>
                </a:solidFill>
              </a:rPr>
              <a:t>・ </a:t>
            </a:r>
            <a:r>
              <a:rPr kumimoji="1" lang="en-US" altLang="ja-JP" sz="2000" dirty="0" err="1">
                <a:solidFill>
                  <a:schemeClr val="bg1"/>
                </a:solidFill>
              </a:rPr>
              <a:t>assimp</a:t>
            </a:r>
            <a:br>
              <a:rPr kumimoji="1" lang="en-US" altLang="ja-JP" sz="2000" dirty="0">
                <a:solidFill>
                  <a:schemeClr val="bg1"/>
                </a:solidFill>
              </a:rPr>
            </a:br>
            <a:r>
              <a:rPr kumimoji="1" lang="ja-JP" altLang="en-US" sz="2000" dirty="0">
                <a:solidFill>
                  <a:schemeClr val="bg1"/>
                </a:solidFill>
              </a:rPr>
              <a:t>・ </a:t>
            </a:r>
            <a:r>
              <a:rPr kumimoji="1" lang="en-US" altLang="ja-JP" sz="2000" dirty="0">
                <a:solidFill>
                  <a:schemeClr val="bg1"/>
                </a:solidFill>
              </a:rPr>
              <a:t>DirectX Tex</a:t>
            </a:r>
          </a:p>
          <a:p>
            <a:r>
              <a:rPr kumimoji="1" lang="ja-JP" altLang="en-US" sz="2000" dirty="0">
                <a:solidFill>
                  <a:schemeClr val="bg1"/>
                </a:solidFill>
              </a:rPr>
              <a:t>・ </a:t>
            </a:r>
            <a:r>
              <a:rPr kumimoji="1" lang="en-US" altLang="ja-JP" sz="2000" dirty="0" err="1">
                <a:solidFill>
                  <a:schemeClr val="bg1"/>
                </a:solidFill>
              </a:rPr>
              <a:t>imgui</a:t>
            </a:r>
            <a:endParaRPr kumimoji="1" lang="ja-JP" altLang="en-US" sz="20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93134267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55A1B2D-7334-4B27-5A11-5C018C382F7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438A2789-DDC9-EA5E-D3D6-9256DF56098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1168" y="390832"/>
            <a:ext cx="7287259" cy="923330"/>
          </a:xfrm>
        </p:spPr>
        <p:txBody>
          <a:bodyPr/>
          <a:lstStyle/>
          <a:p>
            <a:r>
              <a:rPr kumimoji="1" lang="ja-JP" altLang="en-US" sz="6000" dirty="0"/>
              <a:t>作品概要</a:t>
            </a:r>
          </a:p>
        </p:txBody>
      </p:sp>
      <p:sp>
        <p:nvSpPr>
          <p:cNvPr id="5" name="テキスト ボックス 4">
            <a:extLst>
              <a:ext uri="{FF2B5EF4-FFF2-40B4-BE49-F238E27FC236}">
                <a16:creationId xmlns:a16="http://schemas.microsoft.com/office/drawing/2014/main" id="{9566F244-B60D-B801-2968-736AB6FA8A3F}"/>
              </a:ext>
            </a:extLst>
          </p:cNvPr>
          <p:cNvSpPr txBox="1"/>
          <p:nvPr/>
        </p:nvSpPr>
        <p:spPr>
          <a:xfrm>
            <a:off x="371168" y="2187313"/>
            <a:ext cx="10754032" cy="1569660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ja-JP" altLang="en-US" sz="2400" dirty="0">
                <a:solidFill>
                  <a:schemeClr val="bg1"/>
                </a:solidFill>
              </a:rPr>
              <a:t>ゲーム本体だけでなく、開発現場においてもデザイナーをはじめとした多職種が</a:t>
            </a:r>
            <a:r>
              <a:rPr lang="en-US" altLang="ja-JP" sz="2400" dirty="0">
                <a:solidFill>
                  <a:schemeClr val="bg1"/>
                </a:solidFill>
              </a:rPr>
              <a:t>Mac</a:t>
            </a:r>
            <a:r>
              <a:rPr lang="ja-JP" altLang="en-US" sz="2400" dirty="0">
                <a:solidFill>
                  <a:schemeClr val="bg1"/>
                </a:solidFill>
              </a:rPr>
              <a:t>など多様な環境を利用することが一般的になっている。</a:t>
            </a:r>
            <a:br>
              <a:rPr lang="en-US" altLang="ja-JP" sz="2400" dirty="0">
                <a:solidFill>
                  <a:schemeClr val="bg1"/>
                </a:solidFill>
              </a:rPr>
            </a:br>
            <a:r>
              <a:rPr lang="ja-JP" altLang="en-US" sz="2400" dirty="0">
                <a:solidFill>
                  <a:schemeClr val="bg1"/>
                </a:solidFill>
              </a:rPr>
              <a:t>このような、</a:t>
            </a:r>
            <a:r>
              <a:rPr lang="ja-JP" altLang="en-US" sz="2400" u="sng" dirty="0">
                <a:solidFill>
                  <a:srgbClr val="FF0000"/>
                </a:solidFill>
              </a:rPr>
              <a:t>開発環境の多様化に対応することが、円滑なゲーム開発を行う上で</a:t>
            </a:r>
            <a:r>
              <a:rPr lang="ja-JP" altLang="en-US" sz="2400" b="1" u="sng" dirty="0">
                <a:ln>
                  <a:solidFill>
                    <a:srgbClr val="C00000"/>
                  </a:solidFill>
                </a:ln>
                <a:solidFill>
                  <a:srgbClr val="FF0000"/>
                </a:solidFill>
              </a:rPr>
              <a:t>重要</a:t>
            </a:r>
            <a:r>
              <a:rPr lang="ja-JP" altLang="en-US" sz="2400" dirty="0">
                <a:solidFill>
                  <a:schemeClr val="bg1"/>
                </a:solidFill>
              </a:rPr>
              <a:t>だと考えました。</a:t>
            </a:r>
            <a:endParaRPr kumimoji="1" lang="en-US" altLang="ja-JP" sz="2400" dirty="0">
              <a:solidFill>
                <a:schemeClr val="bg1"/>
              </a:solidFill>
            </a:endParaRPr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BF6019FD-93D9-34F8-F4FD-5F32F857CF05}"/>
              </a:ext>
            </a:extLst>
          </p:cNvPr>
          <p:cNvSpPr txBox="1"/>
          <p:nvPr/>
        </p:nvSpPr>
        <p:spPr>
          <a:xfrm>
            <a:off x="371168" y="1562972"/>
            <a:ext cx="11439832" cy="523220"/>
          </a:xfrm>
          <a:prstGeom prst="rect">
            <a:avLst/>
          </a:prstGeom>
          <a:noFill/>
          <a:ln w="12700">
            <a:noFill/>
          </a:ln>
        </p:spPr>
        <p:txBody>
          <a:bodyPr wrap="square" rtlCol="0">
            <a:spAutoFit/>
          </a:bodyPr>
          <a:lstStyle/>
          <a:p>
            <a:pPr algn="l"/>
            <a:r>
              <a:rPr kumimoji="1" lang="ja-JP" altLang="en-US" sz="2800" b="1" dirty="0">
                <a:solidFill>
                  <a:schemeClr val="bg1"/>
                </a:solidFill>
              </a:rPr>
              <a:t>作品名 </a:t>
            </a:r>
            <a:r>
              <a:rPr kumimoji="1" lang="en-US" altLang="ja-JP" sz="2800" b="1" dirty="0">
                <a:solidFill>
                  <a:schemeClr val="bg1"/>
                </a:solidFill>
              </a:rPr>
              <a:t>: </a:t>
            </a:r>
            <a:r>
              <a:rPr kumimoji="1" lang="ja-JP" altLang="ja-JP" sz="2800" b="1" dirty="0">
                <a:solidFill>
                  <a:schemeClr val="bg1"/>
                </a:solidFill>
              </a:rPr>
              <a:t>他のプラットフォーム対応を前提とした</a:t>
            </a:r>
            <a:r>
              <a:rPr kumimoji="1" lang="ja-JP" altLang="en-US" sz="2800" b="1" dirty="0">
                <a:solidFill>
                  <a:schemeClr val="bg1"/>
                </a:solidFill>
              </a:rPr>
              <a:t>フレームワーク</a:t>
            </a:r>
          </a:p>
        </p:txBody>
      </p:sp>
      <p:sp>
        <p:nvSpPr>
          <p:cNvPr id="11" name="テキスト ボックス 10">
            <a:extLst>
              <a:ext uri="{FF2B5EF4-FFF2-40B4-BE49-F238E27FC236}">
                <a16:creationId xmlns:a16="http://schemas.microsoft.com/office/drawing/2014/main" id="{51D7AAF5-A2A1-C3D5-B707-264CF4610733}"/>
              </a:ext>
            </a:extLst>
          </p:cNvPr>
          <p:cNvSpPr txBox="1"/>
          <p:nvPr/>
        </p:nvSpPr>
        <p:spPr>
          <a:xfrm>
            <a:off x="371168" y="4099037"/>
            <a:ext cx="4810432" cy="584775"/>
          </a:xfrm>
          <a:prstGeom prst="rect">
            <a:avLst/>
          </a:prstGeom>
          <a:noFill/>
          <a:ln w="12700">
            <a:noFill/>
          </a:ln>
        </p:spPr>
        <p:txBody>
          <a:bodyPr wrap="square" rtlCol="0">
            <a:spAutoFit/>
          </a:bodyPr>
          <a:lstStyle/>
          <a:p>
            <a:pPr algn="l"/>
            <a:r>
              <a:rPr kumimoji="1" lang="ja-JP" altLang="en-US" sz="3200" b="1" dirty="0">
                <a:solidFill>
                  <a:schemeClr val="bg1"/>
                </a:solidFill>
              </a:rPr>
              <a:t>コンセプトに必要なこと</a:t>
            </a:r>
          </a:p>
        </p:txBody>
      </p:sp>
      <p:sp>
        <p:nvSpPr>
          <p:cNvPr id="12" name="テキスト ボックス 11">
            <a:extLst>
              <a:ext uri="{FF2B5EF4-FFF2-40B4-BE49-F238E27FC236}">
                <a16:creationId xmlns:a16="http://schemas.microsoft.com/office/drawing/2014/main" id="{B93B68A5-EBB3-BDF5-7243-C1311556DFDD}"/>
              </a:ext>
            </a:extLst>
          </p:cNvPr>
          <p:cNvSpPr txBox="1"/>
          <p:nvPr/>
        </p:nvSpPr>
        <p:spPr>
          <a:xfrm>
            <a:off x="371168" y="4663492"/>
            <a:ext cx="5877232" cy="1569660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kumimoji="1" lang="ja-JP" altLang="en-US" sz="2400" dirty="0">
                <a:solidFill>
                  <a:schemeClr val="bg1"/>
                </a:solidFill>
              </a:rPr>
              <a:t>・ </a:t>
            </a:r>
            <a:r>
              <a:rPr kumimoji="1" lang="ja-JP" altLang="en-US" sz="2400" b="1" u="sng" dirty="0">
                <a:solidFill>
                  <a:schemeClr val="bg1"/>
                </a:solidFill>
              </a:rPr>
              <a:t>データ構造の統一化</a:t>
            </a:r>
            <a:endParaRPr kumimoji="1" lang="en-US" altLang="ja-JP" sz="2400" b="1" u="sng" dirty="0">
              <a:solidFill>
                <a:schemeClr val="bg1"/>
              </a:solidFill>
            </a:endParaRPr>
          </a:p>
          <a:p>
            <a:r>
              <a:rPr kumimoji="1" lang="ja-JP" altLang="en-US" sz="2400" dirty="0">
                <a:solidFill>
                  <a:schemeClr val="bg1"/>
                </a:solidFill>
              </a:rPr>
              <a:t>・ </a:t>
            </a:r>
            <a:r>
              <a:rPr kumimoji="1" lang="ja-JP" altLang="en-US" sz="2400" b="1" u="sng" dirty="0">
                <a:solidFill>
                  <a:schemeClr val="bg1"/>
                </a:solidFill>
              </a:rPr>
              <a:t>ゲーム層とプラットフォーム層の分離</a:t>
            </a:r>
            <a:endParaRPr kumimoji="1" lang="en-US" altLang="ja-JP" sz="2400" b="1" u="sng" dirty="0">
              <a:solidFill>
                <a:schemeClr val="bg1"/>
              </a:solidFill>
            </a:endParaRPr>
          </a:p>
          <a:p>
            <a:r>
              <a:rPr kumimoji="1" lang="ja-JP" altLang="en-US" sz="2400" dirty="0">
                <a:solidFill>
                  <a:schemeClr val="bg1"/>
                </a:solidFill>
              </a:rPr>
              <a:t>・</a:t>
            </a:r>
            <a:r>
              <a:rPr kumimoji="1" lang="ja-JP" altLang="en-US" sz="2400" b="1" u="sng" dirty="0">
                <a:solidFill>
                  <a:schemeClr val="bg1"/>
                </a:solidFill>
              </a:rPr>
              <a:t> 責任の明確化</a:t>
            </a:r>
            <a:endParaRPr kumimoji="1" lang="en-US" altLang="ja-JP" sz="2400" b="1" u="sng" dirty="0">
              <a:solidFill>
                <a:schemeClr val="bg1"/>
              </a:solidFill>
            </a:endParaRPr>
          </a:p>
          <a:p>
            <a:r>
              <a:rPr kumimoji="1" lang="ja-JP" altLang="en-US" sz="2400" dirty="0">
                <a:solidFill>
                  <a:schemeClr val="bg1"/>
                </a:solidFill>
              </a:rPr>
              <a:t>・ </a:t>
            </a:r>
            <a:r>
              <a:rPr kumimoji="1" lang="ja-JP" altLang="en-US" sz="2400" b="1" u="sng" dirty="0">
                <a:solidFill>
                  <a:schemeClr val="bg1"/>
                </a:solidFill>
              </a:rPr>
              <a:t>インターフェイス </a:t>
            </a:r>
            <a:r>
              <a:rPr kumimoji="1" lang="en-US" altLang="ja-JP" sz="2400" b="1" u="sng" dirty="0">
                <a:solidFill>
                  <a:schemeClr val="bg1"/>
                </a:solidFill>
              </a:rPr>
              <a:t>(</a:t>
            </a:r>
            <a:r>
              <a:rPr kumimoji="1" lang="ja-JP" altLang="en-US" sz="2400" b="1" u="sng" dirty="0">
                <a:solidFill>
                  <a:schemeClr val="bg1"/>
                </a:solidFill>
              </a:rPr>
              <a:t>仲介役</a:t>
            </a:r>
            <a:r>
              <a:rPr kumimoji="1" lang="en-US" altLang="ja-JP" sz="2400" b="1" u="sng" dirty="0">
                <a:solidFill>
                  <a:schemeClr val="bg1"/>
                </a:solidFill>
              </a:rPr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133940100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9AD54F2-5412-F8A6-C31D-E1DAF632D89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2D25D28A-7AC9-B615-0884-AA4D0120BE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1168" y="390833"/>
            <a:ext cx="7706032" cy="923330"/>
          </a:xfrm>
        </p:spPr>
        <p:txBody>
          <a:bodyPr/>
          <a:lstStyle/>
          <a:p>
            <a:r>
              <a:rPr kumimoji="1" lang="ja-JP" altLang="en-US" sz="6000" dirty="0"/>
              <a:t>コンセプト実現に向けて</a:t>
            </a:r>
          </a:p>
        </p:txBody>
      </p:sp>
      <p:sp>
        <p:nvSpPr>
          <p:cNvPr id="7" name="テキスト ボックス 6">
            <a:extLst>
              <a:ext uri="{FF2B5EF4-FFF2-40B4-BE49-F238E27FC236}">
                <a16:creationId xmlns:a16="http://schemas.microsoft.com/office/drawing/2014/main" id="{E8803B9C-B76A-6051-F6AD-89F91A570D24}"/>
              </a:ext>
            </a:extLst>
          </p:cNvPr>
          <p:cNvSpPr txBox="1"/>
          <p:nvPr/>
        </p:nvSpPr>
        <p:spPr>
          <a:xfrm>
            <a:off x="371168" y="1670339"/>
            <a:ext cx="4048432" cy="584775"/>
          </a:xfrm>
          <a:prstGeom prst="rect">
            <a:avLst/>
          </a:prstGeom>
          <a:noFill/>
          <a:ln w="19050">
            <a:solidFill>
              <a:schemeClr val="bg1"/>
            </a:solidFill>
          </a:ln>
        </p:spPr>
        <p:txBody>
          <a:bodyPr wrap="square" rtlCol="0">
            <a:spAutoFit/>
          </a:bodyPr>
          <a:lstStyle/>
          <a:p>
            <a:pPr algn="l"/>
            <a:r>
              <a:rPr kumimoji="1" lang="ja-JP" altLang="en-US" sz="3200" b="1" dirty="0">
                <a:solidFill>
                  <a:schemeClr val="bg1"/>
                </a:solidFill>
              </a:rPr>
              <a:t>データ構造の統一化</a:t>
            </a:r>
          </a:p>
        </p:txBody>
      </p:sp>
      <p:sp>
        <p:nvSpPr>
          <p:cNvPr id="9" name="テキスト ボックス 8">
            <a:extLst>
              <a:ext uri="{FF2B5EF4-FFF2-40B4-BE49-F238E27FC236}">
                <a16:creationId xmlns:a16="http://schemas.microsoft.com/office/drawing/2014/main" id="{11A88100-0725-4EDC-2BE3-779C7D19AAC8}"/>
              </a:ext>
            </a:extLst>
          </p:cNvPr>
          <p:cNvSpPr txBox="1"/>
          <p:nvPr/>
        </p:nvSpPr>
        <p:spPr>
          <a:xfrm>
            <a:off x="371168" y="2255114"/>
            <a:ext cx="10754032" cy="2593980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ja-JP" sz="2800" b="1" i="0" strike="noStrike" cap="none" normalizeH="0" baseline="0" dirty="0">
                <a:ln>
                  <a:noFill/>
                </a:ln>
                <a:solidFill>
                  <a:srgbClr val="FF0000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ja-JP" altLang="ja-JP" sz="2800" b="1" i="0" u="sng" strike="noStrike" cap="none" normalizeH="0" baseline="0" dirty="0">
                <a:ln>
                  <a:noFill/>
                </a:ln>
                <a:solidFill>
                  <a:srgbClr val="FF0000"/>
                </a:solidFill>
                <a:effectLst/>
                <a:latin typeface="Arial" panose="020B0604020202020204" pitchFamily="34" charset="0"/>
              </a:rPr>
              <a:t>数学・文字列ライブラリを自作し差異を吸収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ja-JP" sz="2800" b="1" i="0" strike="noStrike" cap="none" normalizeH="0" baseline="0" dirty="0">
                <a:ln>
                  <a:noFill/>
                </a:ln>
                <a:solidFill>
                  <a:srgbClr val="FF0000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ja-JP" altLang="ja-JP" sz="2800" b="1" i="0" u="sng" strike="noStrike" cap="none" normalizeH="0" baseline="0" dirty="0">
                <a:ln>
                  <a:noFill/>
                </a:ln>
                <a:solidFill>
                  <a:srgbClr val="FF0000"/>
                </a:solidFill>
                <a:effectLst/>
                <a:latin typeface="Arial" panose="020B0604020202020204" pitchFamily="34" charset="0"/>
              </a:rPr>
              <a:t>数学処理は</a:t>
            </a:r>
            <a:r>
              <a:rPr kumimoji="0" lang="ja-JP" altLang="en-US" sz="2800" b="1" i="0" u="sng" strike="noStrike" cap="none" normalizeH="0" baseline="0" dirty="0">
                <a:ln>
                  <a:noFill/>
                </a:ln>
                <a:solidFill>
                  <a:srgbClr val="FF0000"/>
                </a:solidFill>
                <a:effectLst/>
                <a:latin typeface="Arial" panose="020B0604020202020204" pitchFamily="34" charset="0"/>
              </a:rPr>
              <a:t>計算関数内を</a:t>
            </a:r>
            <a:r>
              <a:rPr kumimoji="0" lang="en-US" altLang="ja-JP" sz="2800" b="1" i="0" u="sng" strike="noStrike" cap="none" normalizeH="0" baseline="0" dirty="0">
                <a:ln>
                  <a:noFill/>
                </a:ln>
                <a:solidFill>
                  <a:srgbClr val="FF0000"/>
                </a:solidFill>
                <a:effectLst/>
                <a:latin typeface="Arial" panose="020B0604020202020204" pitchFamily="34" charset="0"/>
              </a:rPr>
              <a:t>API</a:t>
            </a:r>
            <a:r>
              <a:rPr kumimoji="0" lang="ja-JP" altLang="en-US" sz="2800" b="1" i="0" u="sng" strike="noStrike" cap="none" normalizeH="0" baseline="0" dirty="0">
                <a:ln>
                  <a:noFill/>
                </a:ln>
                <a:solidFill>
                  <a:srgbClr val="FF0000"/>
                </a:solidFill>
                <a:effectLst/>
                <a:latin typeface="Arial" panose="020B0604020202020204" pitchFamily="34" charset="0"/>
              </a:rPr>
              <a:t>依存のものを使用して最適化</a:t>
            </a:r>
            <a:endParaRPr kumimoji="0" lang="ja-JP" altLang="ja-JP" sz="2800" b="1" i="0" u="sng" strike="noStrike" cap="none" normalizeH="0" baseline="0" dirty="0">
              <a:ln>
                <a:noFill/>
              </a:ln>
              <a:solidFill>
                <a:srgbClr val="FF0000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ja-JP" sz="2800" b="1" i="0" strike="noStrike" cap="none" normalizeH="0" baseline="0" dirty="0">
                <a:ln>
                  <a:noFill/>
                </a:ln>
                <a:solidFill>
                  <a:srgbClr val="FF0000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ja-JP" altLang="ja-JP" sz="2800" b="1" i="0" u="sng" strike="noStrike" cap="none" normalizeH="0" baseline="0" dirty="0">
                <a:ln>
                  <a:noFill/>
                </a:ln>
                <a:solidFill>
                  <a:srgbClr val="FF0000"/>
                </a:solidFill>
                <a:effectLst/>
                <a:latin typeface="Arial" panose="020B0604020202020204" pitchFamily="34" charset="0"/>
              </a:rPr>
              <a:t>文字列は UTF-8 に統一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ja-JP" sz="2800" b="1" strike="noStrike" cap="none" normalizeH="0" baseline="0" dirty="0">
                <a:ln>
                  <a:noFill/>
                </a:ln>
                <a:solidFill>
                  <a:srgbClr val="FF0000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ja-JP" altLang="ja-JP" sz="2800" b="1" i="0" u="sng" strike="noStrike" cap="none" normalizeH="0" baseline="0" dirty="0">
                <a:ln>
                  <a:noFill/>
                </a:ln>
                <a:solidFill>
                  <a:srgbClr val="FF0000"/>
                </a:solidFill>
                <a:effectLst/>
                <a:latin typeface="Arial" panose="020B0604020202020204" pitchFamily="34" charset="0"/>
              </a:rPr>
              <a:t>行列</a:t>
            </a:r>
            <a:r>
              <a:rPr kumimoji="0" lang="ja-JP" altLang="en-US" sz="2800" b="1" i="0" u="sng" strike="noStrike" cap="none" normalizeH="0" baseline="0" dirty="0">
                <a:ln>
                  <a:noFill/>
                </a:ln>
                <a:solidFill>
                  <a:srgbClr val="FF0000"/>
                </a:solidFill>
                <a:effectLst/>
                <a:latin typeface="Arial" panose="020B0604020202020204" pitchFamily="34" charset="0"/>
              </a:rPr>
              <a:t>ルールを</a:t>
            </a:r>
            <a:r>
              <a:rPr kumimoji="0" lang="ja-JP" altLang="ja-JP" sz="2800" b="1" i="0" u="sng" strike="noStrike" cap="none" normalizeH="0" baseline="0" dirty="0">
                <a:ln>
                  <a:noFill/>
                </a:ln>
                <a:solidFill>
                  <a:srgbClr val="FF0000"/>
                </a:solidFill>
                <a:effectLst/>
                <a:latin typeface="Arial" panose="020B0604020202020204" pitchFamily="34" charset="0"/>
              </a:rPr>
              <a:t>左手・列優先</a:t>
            </a:r>
            <a:r>
              <a:rPr kumimoji="0" lang="en-US" altLang="ja-JP" sz="2800" b="1" i="0" u="sng" strike="noStrike" cap="none" normalizeH="0" baseline="0" dirty="0">
                <a:ln>
                  <a:noFill/>
                </a:ln>
                <a:solidFill>
                  <a:srgbClr val="FF0000"/>
                </a:solidFill>
                <a:effectLst/>
                <a:latin typeface="Arial" panose="020B0604020202020204" pitchFamily="34" charset="0"/>
              </a:rPr>
              <a:t>(</a:t>
            </a:r>
            <a:r>
              <a:rPr kumimoji="0" lang="ja-JP" altLang="en-US" sz="2800" b="1" i="0" u="sng" strike="noStrike" cap="none" normalizeH="0" baseline="0" dirty="0">
                <a:ln>
                  <a:noFill/>
                </a:ln>
                <a:solidFill>
                  <a:srgbClr val="FF0000"/>
                </a:solidFill>
                <a:effectLst/>
                <a:latin typeface="Arial" panose="020B0604020202020204" pitchFamily="34" charset="0"/>
              </a:rPr>
              <a:t>列ベクトル</a:t>
            </a:r>
            <a:r>
              <a:rPr kumimoji="0" lang="en-US" altLang="ja-JP" sz="2800" b="1" i="0" u="sng" strike="noStrike" cap="none" normalizeH="0" baseline="0" dirty="0">
                <a:ln>
                  <a:noFill/>
                </a:ln>
                <a:solidFill>
                  <a:srgbClr val="FF0000"/>
                </a:solidFill>
                <a:effectLst/>
                <a:latin typeface="Arial" panose="020B0604020202020204" pitchFamily="34" charset="0"/>
              </a:rPr>
              <a:t>)</a:t>
            </a:r>
            <a:r>
              <a:rPr kumimoji="0" lang="ja-JP" altLang="en-US" sz="2800" b="1" i="0" u="sng" strike="noStrike" cap="none" normalizeH="0" baseline="0" dirty="0">
                <a:ln>
                  <a:noFill/>
                </a:ln>
                <a:solidFill>
                  <a:srgbClr val="FF0000"/>
                </a:solidFill>
                <a:effectLst/>
                <a:latin typeface="Arial" panose="020B0604020202020204" pitchFamily="34" charset="0"/>
              </a:rPr>
              <a:t>で決定</a:t>
            </a:r>
            <a:endParaRPr kumimoji="0" lang="ja-JP" altLang="ja-JP" sz="2800" b="1" i="0" u="sng" strike="noStrike" cap="none" normalizeH="0" baseline="0" dirty="0">
              <a:ln>
                <a:noFill/>
              </a:ln>
              <a:solidFill>
                <a:srgbClr val="FF0000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5" name="図 4" descr="テキスト&#10;&#10;AI 生成コンテンツは誤りを含む可能性があります。">
            <a:extLst>
              <a:ext uri="{FF2B5EF4-FFF2-40B4-BE49-F238E27FC236}">
                <a16:creationId xmlns:a16="http://schemas.microsoft.com/office/drawing/2014/main" id="{3E0A3369-F7C4-BA17-65EB-8625592D6D6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39632" y="142895"/>
            <a:ext cx="1981200" cy="2597573"/>
          </a:xfrm>
          <a:prstGeom prst="rect">
            <a:avLst/>
          </a:prstGeom>
        </p:spPr>
      </p:pic>
      <p:pic>
        <p:nvPicPr>
          <p:cNvPr id="8" name="図 7" descr="テキスト&#10;&#10;AI 生成コンテンツは誤りを含む可能性があります。">
            <a:extLst>
              <a:ext uri="{FF2B5EF4-FFF2-40B4-BE49-F238E27FC236}">
                <a16:creationId xmlns:a16="http://schemas.microsoft.com/office/drawing/2014/main" id="{8CCBE5D2-99AD-D425-DBE5-74D9A763266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64609" y="4869414"/>
            <a:ext cx="2319184" cy="1926797"/>
          </a:xfrm>
          <a:prstGeom prst="rect">
            <a:avLst/>
          </a:prstGeom>
        </p:spPr>
      </p:pic>
      <p:pic>
        <p:nvPicPr>
          <p:cNvPr id="11" name="図 10" descr="テキスト&#10;&#10;AI 生成コンテンツは誤りを含む可能性があります。">
            <a:extLst>
              <a:ext uri="{FF2B5EF4-FFF2-40B4-BE49-F238E27FC236}">
                <a16:creationId xmlns:a16="http://schemas.microsoft.com/office/drawing/2014/main" id="{DF5F31C7-B79E-640C-B434-DB5C53CA2F9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067800" y="4379556"/>
            <a:ext cx="2819400" cy="21086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0992207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272469C-9544-3EE0-2E53-A6F33783F7E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10C8A78A-FF1F-9D2E-2968-2EF9DD7DA8B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1168" y="390833"/>
            <a:ext cx="7706032" cy="923330"/>
          </a:xfrm>
        </p:spPr>
        <p:txBody>
          <a:bodyPr/>
          <a:lstStyle/>
          <a:p>
            <a:r>
              <a:rPr kumimoji="1" lang="ja-JP" altLang="en-US" sz="6000" dirty="0"/>
              <a:t>コンセプト実現に向けて</a:t>
            </a:r>
          </a:p>
        </p:txBody>
      </p:sp>
      <p:sp>
        <p:nvSpPr>
          <p:cNvPr id="7" name="テキスト ボックス 6">
            <a:extLst>
              <a:ext uri="{FF2B5EF4-FFF2-40B4-BE49-F238E27FC236}">
                <a16:creationId xmlns:a16="http://schemas.microsoft.com/office/drawing/2014/main" id="{1AE956C6-E1AE-1739-4416-F70FE41DE4BB}"/>
              </a:ext>
            </a:extLst>
          </p:cNvPr>
          <p:cNvSpPr txBox="1"/>
          <p:nvPr/>
        </p:nvSpPr>
        <p:spPr>
          <a:xfrm>
            <a:off x="371168" y="1670339"/>
            <a:ext cx="5191432" cy="584775"/>
          </a:xfrm>
          <a:prstGeom prst="rect">
            <a:avLst/>
          </a:prstGeom>
          <a:noFill/>
          <a:ln w="19050">
            <a:solidFill>
              <a:schemeClr val="bg1"/>
            </a:solidFill>
          </a:ln>
        </p:spPr>
        <p:txBody>
          <a:bodyPr wrap="square" rtlCol="0">
            <a:spAutoFit/>
          </a:bodyPr>
          <a:lstStyle/>
          <a:p>
            <a:pPr algn="l"/>
            <a:r>
              <a:rPr kumimoji="1" lang="ja-JP" altLang="en-US" sz="3200" dirty="0">
                <a:solidFill>
                  <a:schemeClr val="bg1"/>
                </a:solidFill>
              </a:rPr>
              <a:t>リソース管理マネージャー</a:t>
            </a:r>
          </a:p>
        </p:txBody>
      </p:sp>
      <p:sp>
        <p:nvSpPr>
          <p:cNvPr id="9" name="テキスト ボックス 8">
            <a:extLst>
              <a:ext uri="{FF2B5EF4-FFF2-40B4-BE49-F238E27FC236}">
                <a16:creationId xmlns:a16="http://schemas.microsoft.com/office/drawing/2014/main" id="{F320E06A-4618-5650-EE18-BFD8D7B7EDE2}"/>
              </a:ext>
            </a:extLst>
          </p:cNvPr>
          <p:cNvSpPr txBox="1"/>
          <p:nvPr/>
        </p:nvSpPr>
        <p:spPr>
          <a:xfrm>
            <a:off x="371168" y="2255114"/>
            <a:ext cx="10754032" cy="1947649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ja-JP" sz="2800" b="1" i="0" strike="noStrike" cap="none" normalizeH="0" baseline="0" dirty="0">
                <a:ln>
                  <a:noFill/>
                </a:ln>
                <a:solidFill>
                  <a:srgbClr val="FF0000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ja-JP" altLang="ja-JP" sz="2800" b="1" i="0" u="sng" strike="noStrike" cap="none" normalizeH="0" baseline="0" dirty="0">
                <a:ln>
                  <a:noFill/>
                </a:ln>
                <a:solidFill>
                  <a:srgbClr val="FF0000"/>
                </a:solidFill>
                <a:effectLst/>
                <a:latin typeface="Arial" panose="020B0604020202020204" pitchFamily="34" charset="0"/>
              </a:rPr>
              <a:t>描画マネージャーを抽象化し、ゲーム層へ受け渡し</a:t>
            </a:r>
            <a:r>
              <a:rPr kumimoji="0" lang="ja-JP" altLang="en-US" sz="2800" b="1" i="0" u="sng" strike="noStrike" cap="none" normalizeH="0" baseline="0" dirty="0">
                <a:ln>
                  <a:noFill/>
                </a:ln>
                <a:solidFill>
                  <a:srgbClr val="FF0000"/>
                </a:solidFill>
                <a:effectLst/>
                <a:latin typeface="Arial" panose="020B0604020202020204" pitchFamily="34" charset="0"/>
              </a:rPr>
              <a:t>ている</a:t>
            </a:r>
            <a:endParaRPr kumimoji="0" lang="ja-JP" altLang="ja-JP" sz="2800" b="1" i="0" u="sng" strike="noStrike" cap="none" normalizeH="0" baseline="0" dirty="0">
              <a:ln>
                <a:noFill/>
              </a:ln>
              <a:solidFill>
                <a:srgbClr val="FF0000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ja-JP" sz="2800" b="1" i="0" strike="noStrike" cap="none" normalizeH="0" baseline="0" dirty="0">
                <a:ln>
                  <a:noFill/>
                </a:ln>
                <a:solidFill>
                  <a:srgbClr val="FF0000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ja-JP" altLang="ja-JP" sz="2800" b="1" i="0" u="sng" strike="noStrike" cap="none" normalizeH="0" baseline="0" dirty="0">
                <a:ln>
                  <a:noFill/>
                </a:ln>
                <a:solidFill>
                  <a:srgbClr val="FF0000"/>
                </a:solidFill>
                <a:effectLst/>
                <a:latin typeface="Arial" panose="020B0604020202020204" pitchFamily="34" charset="0"/>
              </a:rPr>
              <a:t>ポリモーフィズムによりAPI差異を意識せず描画</a:t>
            </a:r>
            <a:r>
              <a:rPr kumimoji="0" lang="ja-JP" altLang="en-US" sz="2800" b="1" i="0" u="sng" strike="noStrike" cap="none" normalizeH="0" baseline="0" dirty="0">
                <a:ln>
                  <a:noFill/>
                </a:ln>
                <a:solidFill>
                  <a:srgbClr val="FF0000"/>
                </a:solidFill>
                <a:effectLst/>
                <a:latin typeface="Arial" panose="020B0604020202020204" pitchFamily="34" charset="0"/>
              </a:rPr>
              <a:t>している</a:t>
            </a:r>
            <a:endParaRPr kumimoji="0" lang="ja-JP" altLang="ja-JP" sz="2800" b="1" i="0" u="sng" strike="noStrike" cap="none" normalizeH="0" baseline="0" dirty="0">
              <a:ln>
                <a:noFill/>
              </a:ln>
              <a:solidFill>
                <a:srgbClr val="FF0000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ja-JP" sz="2800" b="1" i="0" strike="noStrike" cap="none" normalizeH="0" baseline="0" dirty="0">
                <a:ln>
                  <a:noFill/>
                </a:ln>
                <a:solidFill>
                  <a:srgbClr val="FF0000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ja-JP" altLang="ja-JP" sz="2800" b="1" i="0" u="sng" strike="noStrike" cap="none" normalizeH="0" baseline="0" dirty="0">
                <a:ln>
                  <a:noFill/>
                </a:ln>
                <a:solidFill>
                  <a:srgbClr val="FF0000"/>
                </a:solidFill>
                <a:effectLst/>
                <a:latin typeface="Arial" panose="020B0604020202020204" pitchFamily="34" charset="0"/>
              </a:rPr>
              <a:t>リソースは名前管理とし、自動的に共有される設計</a:t>
            </a:r>
          </a:p>
        </p:txBody>
      </p:sp>
      <p:pic>
        <p:nvPicPr>
          <p:cNvPr id="5" name="図 4" descr="コンピューターのスクリーンショット&#10;&#10;AI 生成コンテンツは誤りを含む可能性があります。">
            <a:extLst>
              <a:ext uri="{FF2B5EF4-FFF2-40B4-BE49-F238E27FC236}">
                <a16:creationId xmlns:a16="http://schemas.microsoft.com/office/drawing/2014/main" id="{9CB8BAA8-BDBE-C9C1-5046-7FE88023617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3400" y="4343400"/>
            <a:ext cx="8305800" cy="2449382"/>
          </a:xfrm>
          <a:prstGeom prst="rect">
            <a:avLst/>
          </a:prstGeom>
        </p:spPr>
      </p:pic>
      <p:pic>
        <p:nvPicPr>
          <p:cNvPr id="6" name="図 5" descr="パソコンの画面&#10;&#10;AI 生成コンテンツは誤りを含む可能性があります。">
            <a:extLst>
              <a:ext uri="{FF2B5EF4-FFF2-40B4-BE49-F238E27FC236}">
                <a16:creationId xmlns:a16="http://schemas.microsoft.com/office/drawing/2014/main" id="{26975780-4996-340C-E00F-8464A2C9E13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008745" y="5025166"/>
            <a:ext cx="2085975" cy="10858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3458389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885C273-3BF3-11C8-794E-5A89FB38F2F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862F1C00-D7CE-F059-1BE3-177E133C5D6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1168" y="390833"/>
            <a:ext cx="7706032" cy="923330"/>
          </a:xfrm>
        </p:spPr>
        <p:txBody>
          <a:bodyPr/>
          <a:lstStyle/>
          <a:p>
            <a:r>
              <a:rPr kumimoji="1" lang="ja-JP" altLang="en-US" sz="6000" dirty="0"/>
              <a:t>コンセプト実現に向けて</a:t>
            </a:r>
          </a:p>
        </p:txBody>
      </p:sp>
      <p:sp>
        <p:nvSpPr>
          <p:cNvPr id="7" name="テキスト ボックス 6">
            <a:extLst>
              <a:ext uri="{FF2B5EF4-FFF2-40B4-BE49-F238E27FC236}">
                <a16:creationId xmlns:a16="http://schemas.microsoft.com/office/drawing/2014/main" id="{DB4BA5B1-1AA4-D293-0061-3A0D4BBDDE66}"/>
              </a:ext>
            </a:extLst>
          </p:cNvPr>
          <p:cNvSpPr txBox="1"/>
          <p:nvPr/>
        </p:nvSpPr>
        <p:spPr>
          <a:xfrm>
            <a:off x="371168" y="1670339"/>
            <a:ext cx="2295832" cy="584775"/>
          </a:xfrm>
          <a:prstGeom prst="rect">
            <a:avLst/>
          </a:prstGeom>
          <a:noFill/>
          <a:ln w="19050">
            <a:solidFill>
              <a:schemeClr val="bg1"/>
            </a:solidFill>
          </a:ln>
        </p:spPr>
        <p:txBody>
          <a:bodyPr wrap="square" rtlCol="0">
            <a:spAutoFit/>
          </a:bodyPr>
          <a:lstStyle/>
          <a:p>
            <a:pPr algn="l"/>
            <a:r>
              <a:rPr kumimoji="1" lang="ja-JP" altLang="en-US" sz="3200" dirty="0">
                <a:solidFill>
                  <a:schemeClr val="bg1"/>
                </a:solidFill>
              </a:rPr>
              <a:t>シェーダー</a:t>
            </a:r>
          </a:p>
        </p:txBody>
      </p:sp>
      <p:sp>
        <p:nvSpPr>
          <p:cNvPr id="9" name="テキスト ボックス 8">
            <a:extLst>
              <a:ext uri="{FF2B5EF4-FFF2-40B4-BE49-F238E27FC236}">
                <a16:creationId xmlns:a16="http://schemas.microsoft.com/office/drawing/2014/main" id="{E11CF534-4526-C3EB-E7FB-5C4BF067762C}"/>
              </a:ext>
            </a:extLst>
          </p:cNvPr>
          <p:cNvSpPr txBox="1"/>
          <p:nvPr/>
        </p:nvSpPr>
        <p:spPr>
          <a:xfrm>
            <a:off x="371168" y="2255114"/>
            <a:ext cx="10754032" cy="3108543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ja-JP" sz="2800" b="1" i="0" strike="noStrike" cap="none" normalizeH="0" baseline="0" dirty="0">
                <a:ln>
                  <a:noFill/>
                </a:ln>
                <a:solidFill>
                  <a:srgbClr val="FF0000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ja-JP" altLang="ja-JP" sz="2800" b="1" i="0" u="sng" strike="noStrike" cap="none" normalizeH="0" baseline="0" dirty="0">
                <a:ln>
                  <a:noFill/>
                </a:ln>
                <a:solidFill>
                  <a:srgbClr val="FF0000"/>
                </a:solidFill>
                <a:effectLst/>
                <a:latin typeface="Arial" panose="020B0604020202020204" pitchFamily="34" charset="0"/>
              </a:rPr>
              <a:t>シェーダーリフレクションにより必要な定数情報を取得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ja-JP" sz="2800" b="1" i="0" strike="noStrike" cap="none" normalizeH="0" baseline="0" dirty="0">
                <a:ln>
                  <a:noFill/>
                </a:ln>
                <a:solidFill>
                  <a:srgbClr val="FF0000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ja-JP" altLang="ja-JP" sz="2800" b="1" i="0" u="sng" strike="noStrike" cap="none" normalizeH="0" baseline="0" dirty="0">
                <a:ln>
                  <a:noFill/>
                </a:ln>
                <a:solidFill>
                  <a:srgbClr val="FF0000"/>
                </a:solidFill>
                <a:effectLst/>
                <a:latin typeface="Arial" panose="020B0604020202020204" pitchFamily="34" charset="0"/>
              </a:rPr>
              <a:t>シェーダーが自身のバインド情報を管理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ja-JP" sz="2800" b="1" i="0" strike="noStrike" cap="none" normalizeH="0" baseline="0" dirty="0">
                <a:ln>
                  <a:noFill/>
                </a:ln>
                <a:solidFill>
                  <a:srgbClr val="FF0000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ja-JP" altLang="ja-JP" sz="2800" b="1" i="0" u="sng" strike="noStrike" cap="none" normalizeH="0" baseline="0" dirty="0">
                <a:ln>
                  <a:noFill/>
                </a:ln>
                <a:solidFill>
                  <a:srgbClr val="FF0000"/>
                </a:solidFill>
                <a:effectLst/>
                <a:latin typeface="Arial" panose="020B0604020202020204" pitchFamily="34" charset="0"/>
              </a:rPr>
              <a:t>オブジェクトは</a:t>
            </a:r>
            <a:r>
              <a:rPr kumimoji="0" lang="ja-JP" altLang="en-US" sz="2800" b="1" i="0" u="sng" strike="noStrike" cap="none" normalizeH="0" baseline="0" dirty="0">
                <a:ln>
                  <a:noFill/>
                </a:ln>
                <a:solidFill>
                  <a:srgbClr val="FF0000"/>
                </a:solidFill>
                <a:effectLst/>
                <a:latin typeface="Arial" panose="020B0604020202020204" pitchFamily="34" charset="0"/>
              </a:rPr>
              <a:t>自身が</a:t>
            </a:r>
            <a:r>
              <a:rPr kumimoji="0" lang="ja-JP" altLang="ja-JP" sz="2800" b="1" i="0" u="sng" strike="noStrike" cap="none" normalizeH="0" baseline="0" dirty="0">
                <a:ln>
                  <a:noFill/>
                </a:ln>
                <a:solidFill>
                  <a:srgbClr val="FF0000"/>
                </a:solidFill>
                <a:effectLst/>
                <a:latin typeface="Arial" panose="020B0604020202020204" pitchFamily="34" charset="0"/>
              </a:rPr>
              <a:t>更新</a:t>
            </a:r>
            <a:r>
              <a:rPr lang="ja-JP" altLang="en-US" sz="2800" b="1" u="sng" dirty="0">
                <a:solidFill>
                  <a:srgbClr val="FF0000"/>
                </a:solidFill>
                <a:latin typeface="Arial" panose="020B0604020202020204" pitchFamily="34" charset="0"/>
              </a:rPr>
              <a:t>する</a:t>
            </a:r>
            <a:r>
              <a:rPr kumimoji="0" lang="ja-JP" altLang="ja-JP" sz="2800" b="1" i="0" u="sng" strike="noStrike" cap="none" normalizeH="0" baseline="0" dirty="0">
                <a:ln>
                  <a:noFill/>
                </a:ln>
                <a:solidFill>
                  <a:srgbClr val="FF0000"/>
                </a:solidFill>
                <a:effectLst/>
                <a:latin typeface="Arial" panose="020B0604020202020204" pitchFamily="34" charset="0"/>
              </a:rPr>
              <a:t>定数</a:t>
            </a:r>
            <a:r>
              <a:rPr kumimoji="0" lang="ja-JP" altLang="en-US" sz="2800" b="1" i="0" u="sng" strike="noStrike" cap="none" normalizeH="0" baseline="0" dirty="0">
                <a:ln>
                  <a:noFill/>
                </a:ln>
                <a:solidFill>
                  <a:srgbClr val="FF0000"/>
                </a:solidFill>
                <a:effectLst/>
                <a:latin typeface="Arial" panose="020B0604020202020204" pitchFamily="34" charset="0"/>
              </a:rPr>
              <a:t>名</a:t>
            </a:r>
            <a:r>
              <a:rPr kumimoji="0" lang="ja-JP" altLang="ja-JP" sz="2800" b="1" i="0" u="sng" strike="noStrike" cap="none" normalizeH="0" baseline="0" dirty="0">
                <a:ln>
                  <a:noFill/>
                </a:ln>
                <a:solidFill>
                  <a:srgbClr val="FF0000"/>
                </a:solidFill>
                <a:effectLst/>
                <a:latin typeface="Arial" panose="020B0604020202020204" pitchFamily="34" charset="0"/>
              </a:rPr>
              <a:t>のみを</a:t>
            </a:r>
            <a:r>
              <a:rPr kumimoji="0" lang="ja-JP" altLang="en-US" sz="2800" b="1" i="0" u="sng" strike="noStrike" cap="none" normalizeH="0" baseline="0" dirty="0">
                <a:ln>
                  <a:noFill/>
                </a:ln>
                <a:solidFill>
                  <a:srgbClr val="FF0000"/>
                </a:solidFill>
                <a:effectLst/>
                <a:latin typeface="Arial" panose="020B0604020202020204" pitchFamily="34" charset="0"/>
              </a:rPr>
              <a:t>知る</a:t>
            </a:r>
            <a:endParaRPr kumimoji="0" lang="en-US" altLang="ja-JP" sz="2800" b="1" i="0" u="sng" strike="noStrike" cap="none" normalizeH="0" baseline="0" dirty="0">
              <a:ln>
                <a:noFill/>
              </a:ln>
              <a:solidFill>
                <a:srgbClr val="FF0000"/>
              </a:solidFill>
              <a:effectLst/>
              <a:latin typeface="Arial" panose="020B0604020202020204" pitchFamily="34" charset="0"/>
            </a:endParaRPr>
          </a:p>
          <a:p>
            <a:pPr algn="l" rtl="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ja-JP" altLang="en-US" sz="2800" dirty="0">
                <a:solidFill>
                  <a:srgbClr val="FF0000"/>
                </a:solidFill>
              </a:rPr>
              <a:t> </a:t>
            </a:r>
            <a:r>
              <a:rPr lang="ja-JP" altLang="en-US" sz="2800" u="sng" dirty="0">
                <a:solidFill>
                  <a:srgbClr val="FF0000"/>
                </a:solidFill>
              </a:rPr>
              <a:t>同一ディレクトリ内の </a:t>
            </a:r>
            <a:r>
              <a:rPr lang="en-US" altLang="ja-JP" sz="2800" u="sng" dirty="0">
                <a:solidFill>
                  <a:srgbClr val="FF0000"/>
                </a:solidFill>
              </a:rPr>
              <a:t>.</a:t>
            </a:r>
            <a:r>
              <a:rPr lang="en-US" altLang="ja-JP" sz="2800" u="sng" dirty="0" err="1">
                <a:solidFill>
                  <a:srgbClr val="FF0000"/>
                </a:solidFill>
              </a:rPr>
              <a:t>hlsl</a:t>
            </a:r>
            <a:r>
              <a:rPr lang="ja-JP" altLang="en-US" sz="2800" u="sng" dirty="0">
                <a:solidFill>
                  <a:srgbClr val="FF0000"/>
                </a:solidFill>
              </a:rPr>
              <a:t> を監視し、</a:t>
            </a:r>
            <a:endParaRPr lang="en-US" altLang="ja-JP" sz="2800" u="sng" dirty="0">
              <a:solidFill>
                <a:srgbClr val="FF0000"/>
              </a:solidFill>
            </a:endParaRPr>
          </a:p>
          <a:p>
            <a:pPr algn="l" rt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ja-JP" sz="2800" dirty="0">
                <a:solidFill>
                  <a:srgbClr val="FF0000"/>
                </a:solidFill>
              </a:rPr>
              <a:t>   </a:t>
            </a:r>
            <a:r>
              <a:rPr lang="ja-JP" altLang="en-US" sz="2800" u="sng" dirty="0">
                <a:solidFill>
                  <a:srgbClr val="FF0000"/>
                </a:solidFill>
              </a:rPr>
              <a:t>更新時のみ再コンパイルする仕組みを実装した。</a:t>
            </a:r>
            <a:endParaRPr kumimoji="0" lang="ja-JP" altLang="ja-JP" sz="2800" b="1" i="0" u="sng" strike="noStrike" cap="none" normalizeH="0" baseline="0" dirty="0">
              <a:ln>
                <a:noFill/>
              </a:ln>
              <a:solidFill>
                <a:srgbClr val="FF0000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4" name="図 3" descr="テキスト, 手紙&#10;&#10;AI 生成コンテンツは誤りを含む可能性があります。">
            <a:extLst>
              <a:ext uri="{FF2B5EF4-FFF2-40B4-BE49-F238E27FC236}">
                <a16:creationId xmlns:a16="http://schemas.microsoft.com/office/drawing/2014/main" id="{50E91340-CF82-BEE3-EFBD-43AE761DDEA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20674" y="2514600"/>
            <a:ext cx="1609051" cy="3326129"/>
          </a:xfrm>
          <a:prstGeom prst="rect">
            <a:avLst/>
          </a:prstGeom>
        </p:spPr>
      </p:pic>
      <p:pic>
        <p:nvPicPr>
          <p:cNvPr id="6" name="図 5" descr="テキスト&#10;&#10;AI 生成コンテンツは誤りを含む可能性があります。">
            <a:extLst>
              <a:ext uri="{FF2B5EF4-FFF2-40B4-BE49-F238E27FC236}">
                <a16:creationId xmlns:a16="http://schemas.microsoft.com/office/drawing/2014/main" id="{568BF7ED-C331-5BC8-A967-5A5A20B1B26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flipV="1">
            <a:off x="2743200" y="5394137"/>
            <a:ext cx="5830415" cy="12325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3251909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C9329DF-10D4-BFA7-2DC7-28F641D539B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F43445E2-CC42-ECD3-FCF6-7EDD5DC9559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1168" y="390833"/>
            <a:ext cx="7706032" cy="923330"/>
          </a:xfrm>
        </p:spPr>
        <p:txBody>
          <a:bodyPr/>
          <a:lstStyle/>
          <a:p>
            <a:r>
              <a:rPr kumimoji="1" lang="ja-JP" altLang="en-US" sz="6000" dirty="0"/>
              <a:t>コンセプト実現に向けて</a:t>
            </a:r>
          </a:p>
        </p:txBody>
      </p:sp>
      <p:sp>
        <p:nvSpPr>
          <p:cNvPr id="7" name="テキスト ボックス 6">
            <a:extLst>
              <a:ext uri="{FF2B5EF4-FFF2-40B4-BE49-F238E27FC236}">
                <a16:creationId xmlns:a16="http://schemas.microsoft.com/office/drawing/2014/main" id="{8D34D5E0-6B66-028D-0DCD-1D888E2DD470}"/>
              </a:ext>
            </a:extLst>
          </p:cNvPr>
          <p:cNvSpPr txBox="1"/>
          <p:nvPr/>
        </p:nvSpPr>
        <p:spPr>
          <a:xfrm>
            <a:off x="371168" y="1670339"/>
            <a:ext cx="3438832" cy="584775"/>
          </a:xfrm>
          <a:prstGeom prst="rect">
            <a:avLst/>
          </a:prstGeom>
          <a:noFill/>
          <a:ln w="19050">
            <a:solidFill>
              <a:schemeClr val="bg1"/>
            </a:solidFill>
          </a:ln>
        </p:spPr>
        <p:txBody>
          <a:bodyPr wrap="square" rtlCol="0">
            <a:spAutoFit/>
          </a:bodyPr>
          <a:lstStyle/>
          <a:p>
            <a:pPr algn="l"/>
            <a:r>
              <a:rPr kumimoji="1" lang="ja-JP" altLang="en-US" sz="3200" dirty="0">
                <a:solidFill>
                  <a:schemeClr val="bg1"/>
                </a:solidFill>
              </a:rPr>
              <a:t>デバッグ時のログ</a:t>
            </a:r>
          </a:p>
        </p:txBody>
      </p:sp>
      <p:sp>
        <p:nvSpPr>
          <p:cNvPr id="9" name="テキスト ボックス 8">
            <a:extLst>
              <a:ext uri="{FF2B5EF4-FFF2-40B4-BE49-F238E27FC236}">
                <a16:creationId xmlns:a16="http://schemas.microsoft.com/office/drawing/2014/main" id="{E7C9A0F4-CB67-EF81-EDCA-8E9D4C6724DE}"/>
              </a:ext>
            </a:extLst>
          </p:cNvPr>
          <p:cNvSpPr txBox="1"/>
          <p:nvPr/>
        </p:nvSpPr>
        <p:spPr>
          <a:xfrm>
            <a:off x="371168" y="2255114"/>
            <a:ext cx="10754032" cy="1947649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ja-JP" altLang="ja-JP" sz="2800" b="1" i="0" u="sng" strike="noStrike" cap="none" normalizeH="0" baseline="0" dirty="0">
                <a:ln>
                  <a:noFill/>
                </a:ln>
                <a:solidFill>
                  <a:srgbClr val="FF0000"/>
                </a:solidFill>
                <a:effectLst/>
                <a:latin typeface="Arial" panose="020B0604020202020204" pitchFamily="34" charset="0"/>
              </a:rPr>
              <a:t>コンソール／メッセージボックス／ファイル出力に対応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ja-JP" altLang="ja-JP" sz="2800" b="1" i="0" u="sng" strike="noStrike" cap="none" normalizeH="0" baseline="0" dirty="0">
                <a:ln>
                  <a:noFill/>
                </a:ln>
                <a:solidFill>
                  <a:srgbClr val="FF0000"/>
                </a:solidFill>
                <a:effectLst/>
                <a:latin typeface="Arial" panose="020B0604020202020204" pitchFamily="34" charset="0"/>
              </a:rPr>
              <a:t>出力先は用途に応じて切り替え可能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ja-JP" altLang="ja-JP" sz="2800" b="1" i="0" u="sng" strike="noStrike" cap="none" normalizeH="0" baseline="0" dirty="0">
                <a:ln>
                  <a:noFill/>
                </a:ln>
                <a:solidFill>
                  <a:srgbClr val="FF0000"/>
                </a:solidFill>
                <a:effectLst/>
                <a:latin typeface="Arial Unicode MS"/>
              </a:rPr>
              <a:t>.cpp</a:t>
            </a:r>
            <a:r>
              <a:rPr kumimoji="0" lang="ja-JP" altLang="ja-JP" sz="2800" b="1" i="0" u="sng" strike="noStrike" cap="none" normalizeH="0" baseline="0" dirty="0">
                <a:ln>
                  <a:noFill/>
                </a:ln>
                <a:solidFill>
                  <a:srgbClr val="FF0000"/>
                </a:solidFill>
                <a:effectLst/>
              </a:rPr>
              <a:t> 差し替えによりプラットフォーム依存を吸収</a:t>
            </a:r>
            <a:endParaRPr kumimoji="0" lang="ja-JP" altLang="ja-JP" sz="2800" b="1" i="0" u="sng" strike="noStrike" cap="none" normalizeH="0" baseline="0" dirty="0">
              <a:ln>
                <a:noFill/>
              </a:ln>
              <a:solidFill>
                <a:srgbClr val="FF0000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1" name="正方形/長方形 10">
            <a:extLst>
              <a:ext uri="{FF2B5EF4-FFF2-40B4-BE49-F238E27FC236}">
                <a16:creationId xmlns:a16="http://schemas.microsoft.com/office/drawing/2014/main" id="{45771792-CFC1-A612-1DE5-D50543967F92}"/>
              </a:ext>
            </a:extLst>
          </p:cNvPr>
          <p:cNvSpPr/>
          <p:nvPr/>
        </p:nvSpPr>
        <p:spPr>
          <a:xfrm>
            <a:off x="2398337" y="4524855"/>
            <a:ext cx="2057400" cy="457200"/>
          </a:xfrm>
          <a:prstGeom prst="rect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dirty="0" err="1"/>
              <a:t>ReportMessage.h</a:t>
            </a:r>
            <a:endParaRPr kumimoji="1" lang="ja-JP" altLang="en-US" dirty="0"/>
          </a:p>
        </p:txBody>
      </p:sp>
      <p:sp>
        <p:nvSpPr>
          <p:cNvPr id="12" name="正方形/長方形 11">
            <a:extLst>
              <a:ext uri="{FF2B5EF4-FFF2-40B4-BE49-F238E27FC236}">
                <a16:creationId xmlns:a16="http://schemas.microsoft.com/office/drawing/2014/main" id="{9573E2AD-AD8B-DEC5-389B-EEF1EAAD578F}"/>
              </a:ext>
            </a:extLst>
          </p:cNvPr>
          <p:cNvSpPr/>
          <p:nvPr/>
        </p:nvSpPr>
        <p:spPr>
          <a:xfrm>
            <a:off x="1451727" y="5715000"/>
            <a:ext cx="1676400" cy="457200"/>
          </a:xfrm>
          <a:prstGeom prst="rect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dirty="0"/>
              <a:t>DX_RM.cpp</a:t>
            </a:r>
            <a:endParaRPr kumimoji="1" lang="ja-JP" altLang="en-US" dirty="0"/>
          </a:p>
        </p:txBody>
      </p:sp>
      <p:sp>
        <p:nvSpPr>
          <p:cNvPr id="13" name="正方形/長方形 12">
            <a:extLst>
              <a:ext uri="{FF2B5EF4-FFF2-40B4-BE49-F238E27FC236}">
                <a16:creationId xmlns:a16="http://schemas.microsoft.com/office/drawing/2014/main" id="{5FAE3F4B-E235-BF8D-9A42-17634D194937}"/>
              </a:ext>
            </a:extLst>
          </p:cNvPr>
          <p:cNvSpPr/>
          <p:nvPr/>
        </p:nvSpPr>
        <p:spPr>
          <a:xfrm>
            <a:off x="3581400" y="5715000"/>
            <a:ext cx="1676400" cy="457200"/>
          </a:xfrm>
          <a:prstGeom prst="rect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dirty="0"/>
              <a:t>OGL_RM.cpp</a:t>
            </a:r>
            <a:endParaRPr kumimoji="1" lang="ja-JP" altLang="en-US" dirty="0"/>
          </a:p>
        </p:txBody>
      </p:sp>
      <p:pic>
        <p:nvPicPr>
          <p:cNvPr id="15" name="図 14" descr="テキスト&#10;&#10;AI 生成コンテンツは誤りを含む可能性があります。">
            <a:extLst>
              <a:ext uri="{FF2B5EF4-FFF2-40B4-BE49-F238E27FC236}">
                <a16:creationId xmlns:a16="http://schemas.microsoft.com/office/drawing/2014/main" id="{D47A4EB1-5FF5-CEBA-88BB-B75BEF460CE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024214" y="3100824"/>
            <a:ext cx="2796618" cy="3238845"/>
          </a:xfrm>
          <a:prstGeom prst="rect">
            <a:avLst/>
          </a:prstGeom>
        </p:spPr>
      </p:pic>
      <p:cxnSp>
        <p:nvCxnSpPr>
          <p:cNvPr id="17" name="コネクタ: カギ線 16">
            <a:extLst>
              <a:ext uri="{FF2B5EF4-FFF2-40B4-BE49-F238E27FC236}">
                <a16:creationId xmlns:a16="http://schemas.microsoft.com/office/drawing/2014/main" id="{C00CA6DE-813D-7FDD-4F33-88AAAC712471}"/>
              </a:ext>
            </a:extLst>
          </p:cNvPr>
          <p:cNvCxnSpPr>
            <a:stCxn id="11" idx="2"/>
            <a:endCxn id="12" idx="0"/>
          </p:cNvCxnSpPr>
          <p:nvPr/>
        </p:nvCxnSpPr>
        <p:spPr>
          <a:xfrm rot="5400000">
            <a:off x="2492010" y="4779972"/>
            <a:ext cx="732945" cy="1137110"/>
          </a:xfrm>
          <a:prstGeom prst="bentConnector3">
            <a:avLst>
              <a:gd name="adj1" fmla="val 71464"/>
            </a:avLst>
          </a:prstGeom>
          <a:ln>
            <a:solidFill>
              <a:schemeClr val="bg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コネクタ: カギ線 17">
            <a:extLst>
              <a:ext uri="{FF2B5EF4-FFF2-40B4-BE49-F238E27FC236}">
                <a16:creationId xmlns:a16="http://schemas.microsoft.com/office/drawing/2014/main" id="{BC5D3992-D935-FCCF-1F41-663A796E8010}"/>
              </a:ext>
            </a:extLst>
          </p:cNvPr>
          <p:cNvCxnSpPr>
            <a:cxnSpLocks/>
            <a:stCxn id="11" idx="2"/>
            <a:endCxn id="13" idx="0"/>
          </p:cNvCxnSpPr>
          <p:nvPr/>
        </p:nvCxnSpPr>
        <p:spPr>
          <a:xfrm rot="16200000" flipH="1">
            <a:off x="3556846" y="4852245"/>
            <a:ext cx="732945" cy="992563"/>
          </a:xfrm>
          <a:prstGeom prst="bentConnector3">
            <a:avLst>
              <a:gd name="adj1" fmla="val 70122"/>
            </a:avLst>
          </a:prstGeom>
          <a:ln>
            <a:solidFill>
              <a:schemeClr val="bg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正方形/長方形 22">
            <a:extLst>
              <a:ext uri="{FF2B5EF4-FFF2-40B4-BE49-F238E27FC236}">
                <a16:creationId xmlns:a16="http://schemas.microsoft.com/office/drawing/2014/main" id="{49C88A72-144D-0F1C-0A4A-D35BE03E1C38}"/>
              </a:ext>
            </a:extLst>
          </p:cNvPr>
          <p:cNvSpPr/>
          <p:nvPr/>
        </p:nvSpPr>
        <p:spPr>
          <a:xfrm>
            <a:off x="3467160" y="5044163"/>
            <a:ext cx="2057280" cy="40022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kumimoji="1" lang="ja-JP" altLang="en-US" dirty="0"/>
              <a:t>ビルド時に差し替え</a:t>
            </a:r>
          </a:p>
        </p:txBody>
      </p:sp>
    </p:spTree>
    <p:extLst>
      <p:ext uri="{BB962C8B-B14F-4D97-AF65-F5344CB8AC3E}">
        <p14:creationId xmlns:p14="http://schemas.microsoft.com/office/powerpoint/2010/main" val="158948295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180B81A-2B52-A397-F013-E1D59C17A10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491EDACF-D60C-FE19-77A7-71118ED88DD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1168" y="390833"/>
            <a:ext cx="7706032" cy="923330"/>
          </a:xfrm>
        </p:spPr>
        <p:txBody>
          <a:bodyPr/>
          <a:lstStyle/>
          <a:p>
            <a:r>
              <a:rPr kumimoji="1" lang="ja-JP" altLang="en-US" sz="6000" dirty="0"/>
              <a:t>今後</a:t>
            </a:r>
          </a:p>
        </p:txBody>
      </p:sp>
      <p:sp>
        <p:nvSpPr>
          <p:cNvPr id="7" name="テキスト ボックス 6">
            <a:extLst>
              <a:ext uri="{FF2B5EF4-FFF2-40B4-BE49-F238E27FC236}">
                <a16:creationId xmlns:a16="http://schemas.microsoft.com/office/drawing/2014/main" id="{A370E018-015F-6D9B-6B02-3A8BADC61388}"/>
              </a:ext>
            </a:extLst>
          </p:cNvPr>
          <p:cNvSpPr txBox="1"/>
          <p:nvPr/>
        </p:nvSpPr>
        <p:spPr>
          <a:xfrm>
            <a:off x="371168" y="1658644"/>
            <a:ext cx="8849032" cy="584775"/>
          </a:xfrm>
          <a:prstGeom prst="rect">
            <a:avLst/>
          </a:prstGeom>
          <a:noFill/>
          <a:ln w="19050">
            <a:solidFill>
              <a:schemeClr val="bg1"/>
            </a:solidFill>
          </a:ln>
        </p:spPr>
        <p:txBody>
          <a:bodyPr wrap="square" rtlCol="0">
            <a:spAutoFit/>
          </a:bodyPr>
          <a:lstStyle/>
          <a:p>
            <a:pPr algn="l"/>
            <a:r>
              <a:rPr kumimoji="1" lang="ja-JP" altLang="en-US" sz="3200" dirty="0">
                <a:solidFill>
                  <a:schemeClr val="bg1"/>
                </a:solidFill>
              </a:rPr>
              <a:t>キャッシュミス </a:t>
            </a:r>
            <a:r>
              <a:rPr kumimoji="1" lang="en-US" altLang="ja-JP" sz="3200" dirty="0">
                <a:solidFill>
                  <a:schemeClr val="bg1"/>
                </a:solidFill>
              </a:rPr>
              <a:t>: </a:t>
            </a:r>
            <a:r>
              <a:rPr kumimoji="1" lang="ja-JP" altLang="en-US" sz="3200" dirty="0">
                <a:solidFill>
                  <a:schemeClr val="bg1"/>
                </a:solidFill>
              </a:rPr>
              <a:t>描画マネージャーの単一責任</a:t>
            </a:r>
          </a:p>
        </p:txBody>
      </p:sp>
      <p:sp>
        <p:nvSpPr>
          <p:cNvPr id="9" name="テキスト ボックス 8">
            <a:extLst>
              <a:ext uri="{FF2B5EF4-FFF2-40B4-BE49-F238E27FC236}">
                <a16:creationId xmlns:a16="http://schemas.microsoft.com/office/drawing/2014/main" id="{64096C8E-2385-53F6-9578-C01DDB0C8B8C}"/>
              </a:ext>
            </a:extLst>
          </p:cNvPr>
          <p:cNvSpPr txBox="1"/>
          <p:nvPr/>
        </p:nvSpPr>
        <p:spPr>
          <a:xfrm>
            <a:off x="371168" y="2243419"/>
            <a:ext cx="11820832" cy="1815882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ja-JP" sz="28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ja-JP" sz="2800" b="0" i="0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Vtable</a:t>
            </a:r>
            <a:r>
              <a:rPr kumimoji="0" lang="ja-JP" altLang="en-US" sz="28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参照</a:t>
            </a:r>
            <a:r>
              <a:rPr kumimoji="0" lang="ja-JP" altLang="ja-JP" sz="28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で</a:t>
            </a:r>
            <a:r>
              <a:rPr kumimoji="0" lang="ja-JP" altLang="en-US" sz="28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メモリ使用量が増えると</a:t>
            </a:r>
            <a:r>
              <a:rPr kumimoji="0" lang="ja-JP" altLang="ja-JP" sz="28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キャッシュミスが</a:t>
            </a:r>
            <a:r>
              <a:rPr lang="ja-JP" altLang="en-US" sz="2800" dirty="0">
                <a:solidFill>
                  <a:schemeClr val="bg1"/>
                </a:solidFill>
                <a:latin typeface="Arial" panose="020B0604020202020204" pitchFamily="34" charset="0"/>
              </a:rPr>
              <a:t>多く</a:t>
            </a:r>
            <a:r>
              <a:rPr kumimoji="0" lang="ja-JP" altLang="ja-JP" sz="28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発生</a:t>
            </a:r>
            <a:r>
              <a:rPr kumimoji="0" lang="ja-JP" altLang="en-US" sz="28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しそう</a:t>
            </a:r>
            <a:endParaRPr kumimoji="0" lang="ja-JP" altLang="ja-JP" sz="2800" b="0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ja-JP" sz="28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ja-JP" altLang="ja-JP" sz="28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複数テクスチャをまとめ</a:t>
            </a:r>
            <a:r>
              <a:rPr kumimoji="0" lang="ja-JP" altLang="en-US" sz="28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て</a:t>
            </a:r>
            <a:r>
              <a:rPr kumimoji="0" lang="ja-JP" altLang="ja-JP" sz="28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GPU転送が</a:t>
            </a:r>
            <a:r>
              <a:rPr kumimoji="0" lang="ja-JP" altLang="en-US" sz="28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行えない</a:t>
            </a:r>
            <a:endParaRPr kumimoji="0" lang="ja-JP" altLang="ja-JP" sz="2800" b="0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ja-JP" sz="28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ja-JP" altLang="ja-JP" sz="28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作成と描画を兼任しており単一責任になっていない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lang="ja-JP" altLang="en-US" sz="2800" b="1" dirty="0">
                <a:solidFill>
                  <a:schemeClr val="tx1"/>
                </a:solidFill>
                <a:latin typeface="Arial" panose="020B0604020202020204" pitchFamily="34" charset="0"/>
              </a:rPr>
              <a:t>   </a:t>
            </a:r>
            <a:r>
              <a:rPr kumimoji="0" lang="ja-JP" altLang="ja-JP" sz="2800" b="1" i="0" u="none" strike="noStrike" cap="none" normalizeH="0" baseline="0" dirty="0">
                <a:ln>
                  <a:noFill/>
                </a:ln>
                <a:solidFill>
                  <a:srgbClr val="FF0000"/>
                </a:solidFill>
                <a:effectLst/>
                <a:latin typeface="Arial" panose="020B0604020202020204" pitchFamily="34" charset="0"/>
              </a:rPr>
              <a:t>→</a:t>
            </a:r>
            <a:r>
              <a:rPr kumimoji="0" lang="ja-JP" altLang="ja-JP" sz="2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ja-JP" altLang="ja-JP" sz="2800" b="1" i="0" u="sng" strike="noStrike" cap="none" normalizeH="0" baseline="0" dirty="0">
                <a:ln>
                  <a:noFill/>
                </a:ln>
                <a:solidFill>
                  <a:srgbClr val="FF0000"/>
                </a:solidFill>
                <a:effectLst/>
                <a:latin typeface="Arial" panose="020B0604020202020204" pitchFamily="34" charset="0"/>
              </a:rPr>
              <a:t>描画コマンドリスト方式で解決予定</a:t>
            </a:r>
            <a:endParaRPr kumimoji="0" lang="ja-JP" altLang="ja-JP" sz="2800" b="0" i="0" u="sng" strike="noStrike" cap="none" normalizeH="0" baseline="0" dirty="0">
              <a:ln>
                <a:noFill/>
              </a:ln>
              <a:solidFill>
                <a:srgbClr val="FF0000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3" name="テキスト ボックス 2">
            <a:extLst>
              <a:ext uri="{FF2B5EF4-FFF2-40B4-BE49-F238E27FC236}">
                <a16:creationId xmlns:a16="http://schemas.microsoft.com/office/drawing/2014/main" id="{D5E8B5C8-1559-F56D-8159-A0FBF5C99E58}"/>
              </a:ext>
            </a:extLst>
          </p:cNvPr>
          <p:cNvSpPr txBox="1"/>
          <p:nvPr/>
        </p:nvSpPr>
        <p:spPr>
          <a:xfrm>
            <a:off x="371168" y="4629971"/>
            <a:ext cx="1973826" cy="584775"/>
          </a:xfrm>
          <a:prstGeom prst="rect">
            <a:avLst/>
          </a:prstGeom>
          <a:noFill/>
          <a:ln w="19050">
            <a:solidFill>
              <a:schemeClr val="bg1"/>
            </a:solidFill>
          </a:ln>
        </p:spPr>
        <p:txBody>
          <a:bodyPr wrap="square" rtlCol="0">
            <a:spAutoFit/>
          </a:bodyPr>
          <a:lstStyle/>
          <a:p>
            <a:pPr algn="l"/>
            <a:r>
              <a:rPr kumimoji="1" lang="ja-JP" altLang="en-US" sz="3200" dirty="0">
                <a:solidFill>
                  <a:schemeClr val="bg1"/>
                </a:solidFill>
              </a:rPr>
              <a:t>入力情報</a:t>
            </a:r>
          </a:p>
        </p:txBody>
      </p:sp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96FBA82A-5A07-D216-661B-1270A38C75D8}"/>
              </a:ext>
            </a:extLst>
          </p:cNvPr>
          <p:cNvSpPr txBox="1"/>
          <p:nvPr/>
        </p:nvSpPr>
        <p:spPr>
          <a:xfrm>
            <a:off x="371168" y="5199356"/>
            <a:ext cx="11135032" cy="954107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ja-JP" altLang="en-US" sz="28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 マウスとキーボードの入力しか今のままでは取れず、拡張性が低い</a:t>
            </a:r>
            <a:endParaRPr kumimoji="0" lang="en-US" altLang="ja-JP" sz="2800" b="0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lang="ja-JP" altLang="en-US" sz="2800" dirty="0">
                <a:solidFill>
                  <a:schemeClr val="bg1"/>
                </a:solidFill>
                <a:latin typeface="Arial" panose="020B0604020202020204" pitchFamily="34" charset="0"/>
              </a:rPr>
              <a:t>　</a:t>
            </a:r>
            <a:r>
              <a:rPr lang="ja-JP" altLang="en-US" sz="2800" dirty="0">
                <a:solidFill>
                  <a:srgbClr val="FF0000"/>
                </a:solidFill>
                <a:latin typeface="Arial" panose="020B0604020202020204" pitchFamily="34" charset="0"/>
              </a:rPr>
              <a:t>→ </a:t>
            </a:r>
            <a:r>
              <a:rPr kumimoji="0" lang="ja-JP" altLang="ja-JP" sz="2800" b="0" i="0" u="sng" strike="noStrike" cap="none" normalizeH="0" baseline="0" dirty="0">
                <a:ln>
                  <a:noFill/>
                </a:ln>
                <a:solidFill>
                  <a:srgbClr val="FF0000"/>
                </a:solidFill>
                <a:effectLst/>
                <a:latin typeface="Arial" panose="020B0604020202020204" pitchFamily="34" charset="0"/>
              </a:rPr>
              <a:t>プラットフォーム層で入力をアクション</a:t>
            </a:r>
            <a:r>
              <a:rPr kumimoji="0" lang="en-US" altLang="ja-JP" sz="2800" b="0" i="0" u="sng" strike="noStrike" cap="none" normalizeH="0" baseline="0" dirty="0">
                <a:ln>
                  <a:noFill/>
                </a:ln>
                <a:solidFill>
                  <a:srgbClr val="FF0000"/>
                </a:solidFill>
                <a:effectLst/>
                <a:latin typeface="Arial" panose="020B0604020202020204" pitchFamily="34" charset="0"/>
              </a:rPr>
              <a:t>(</a:t>
            </a:r>
            <a:r>
              <a:rPr kumimoji="0" lang="ja-JP" altLang="ja-JP" sz="2800" b="0" i="0" u="sng" strike="noStrike" cap="none" normalizeH="0" baseline="0" dirty="0">
                <a:ln>
                  <a:noFill/>
                </a:ln>
                <a:solidFill>
                  <a:srgbClr val="FF0000"/>
                </a:solidFill>
                <a:effectLst/>
                <a:latin typeface="Arial" panose="020B0604020202020204" pitchFamily="34" charset="0"/>
              </a:rPr>
              <a:t>意図</a:t>
            </a:r>
            <a:r>
              <a:rPr kumimoji="0" lang="en-US" altLang="ja-JP" sz="2800" b="0" i="0" u="sng" strike="noStrike" cap="none" normalizeH="0" baseline="0" dirty="0">
                <a:ln>
                  <a:noFill/>
                </a:ln>
                <a:solidFill>
                  <a:srgbClr val="FF0000"/>
                </a:solidFill>
                <a:effectLst/>
                <a:latin typeface="Arial" panose="020B0604020202020204" pitchFamily="34" charset="0"/>
              </a:rPr>
              <a:t>)</a:t>
            </a:r>
            <a:r>
              <a:rPr kumimoji="0" lang="ja-JP" altLang="ja-JP" sz="2800" b="0" i="0" u="sng" strike="noStrike" cap="none" normalizeH="0" baseline="0" dirty="0">
                <a:ln>
                  <a:noFill/>
                </a:ln>
                <a:solidFill>
                  <a:srgbClr val="FF0000"/>
                </a:solidFill>
                <a:effectLst/>
                <a:latin typeface="Arial" panose="020B0604020202020204" pitchFamily="34" charset="0"/>
              </a:rPr>
              <a:t>へ変換</a:t>
            </a:r>
            <a:endParaRPr kumimoji="0" lang="en-US" altLang="ja-JP" sz="2800" b="0" i="0" u="sng" strike="noStrike" cap="none" normalizeH="0" baseline="0" dirty="0">
              <a:ln>
                <a:noFill/>
              </a:ln>
              <a:solidFill>
                <a:srgbClr val="FF0000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4288408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游ゴシック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2031</TotalTime>
  <Words>449</Words>
  <Application>Microsoft Office PowerPoint</Application>
  <PresentationFormat>ワイド画面</PresentationFormat>
  <Paragraphs>58</Paragraphs>
  <Slides>9</Slides>
  <Notes>1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4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9</vt:i4>
      </vt:variant>
    </vt:vector>
  </HeadingPairs>
  <TitlesOfParts>
    <vt:vector size="14" baseType="lpstr">
      <vt:lpstr>Arial Unicode MS</vt:lpstr>
      <vt:lpstr>MS Gothic</vt:lpstr>
      <vt:lpstr>游ゴシック</vt:lpstr>
      <vt:lpstr>Arial</vt:lpstr>
      <vt:lpstr>Office Theme</vt:lpstr>
      <vt:lpstr>就職作品概要資料</vt:lpstr>
      <vt:lpstr>目次</vt:lpstr>
      <vt:lpstr>作品概要</vt:lpstr>
      <vt:lpstr>作品概要</vt:lpstr>
      <vt:lpstr>コンセプト実現に向けて</vt:lpstr>
      <vt:lpstr>コンセプト実現に向けて</vt:lpstr>
      <vt:lpstr>コンセプト実現に向けて</vt:lpstr>
      <vt:lpstr>コンセプト実現に向けて</vt:lpstr>
      <vt:lpstr>今後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OHAT13B52932 松田健志</dc:creator>
  <cp:lastModifiedBy>OHAT13B52932 松田健志</cp:lastModifiedBy>
  <cp:revision>530</cp:revision>
  <dcterms:created xsi:type="dcterms:W3CDTF">2025-12-13T00:48:35Z</dcterms:created>
  <dcterms:modified xsi:type="dcterms:W3CDTF">2026-02-17T00:00:22Z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2025-10-11T00:00:00Z</vt:filetime>
  </property>
  <property fmtid="{D5CDD505-2E9C-101B-9397-08002B2CF9AE}" pid="3" name="Creator">
    <vt:lpwstr>Microsoft® PowerPoint® for Microsoft 365</vt:lpwstr>
  </property>
  <property fmtid="{D5CDD505-2E9C-101B-9397-08002B2CF9AE}" pid="4" name="LastSaved">
    <vt:filetime>2025-12-13T00:00:00Z</vt:filetime>
  </property>
  <property fmtid="{D5CDD505-2E9C-101B-9397-08002B2CF9AE}" pid="5" name="Producer">
    <vt:lpwstr>Microsoft® PowerPoint® for Microsoft 365</vt:lpwstr>
  </property>
</Properties>
</file>