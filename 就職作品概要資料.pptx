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2" r:id="rId6"/>
    <p:sldId id="264" r:id="rId7"/>
    <p:sldId id="267" r:id="rId8"/>
    <p:sldId id="265" r:id="rId9"/>
    <p:sldId id="268" r:id="rId10"/>
    <p:sldId id="269" r:id="rId11"/>
    <p:sldId id="266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4CC07-7CCF-4856-941D-F16981C68265}" type="datetimeFigureOut">
              <a:rPr kumimoji="1" lang="ja-JP" altLang="en-US" smtClean="0"/>
              <a:t>2026/2/17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6A4E-7012-4A9C-843C-6443E265FB9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608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6A4E-7012-4A9C-843C-6443E265FB9C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496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355" y="1905000"/>
            <a:ext cx="651129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就職作品概要資料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914650" y="5791200"/>
            <a:ext cx="63627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ゲーム４年制学科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1752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  <a:latin typeface="+mj-ea"/>
                <a:ea typeface="+mj-ea"/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  <a:latin typeface="+mj-ea"/>
                <a:ea typeface="+mj-ea"/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3134032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63795" y="1910588"/>
            <a:ext cx="11053916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作品名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　</a:t>
            </a:r>
            <a:r>
              <a:rPr kumimoji="1" lang="ja-JP" altLang="en-US" sz="2800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ja-JP" sz="2800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9" y="3755760"/>
            <a:ext cx="4734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制作期間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</a:t>
            </a:r>
            <a:r>
              <a:rPr kumimoji="1" lang="ja-JP" altLang="en-US" sz="28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9" y="2792564"/>
            <a:ext cx="58772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開発環境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 </a:t>
            </a:r>
            <a:r>
              <a:rPr kumimoji="1" lang="en-US" altLang="ja-JP" sz="2800" dirty="0">
                <a:solidFill>
                  <a:schemeClr val="bg1"/>
                </a:solidFill>
              </a:rPr>
              <a:t>: C++20 </a:t>
            </a:r>
            <a:r>
              <a:rPr kumimoji="1" lang="ja-JP" altLang="en-US" sz="2800" dirty="0">
                <a:solidFill>
                  <a:schemeClr val="bg1"/>
                </a:solidFill>
              </a:rPr>
              <a:t>・ </a:t>
            </a:r>
            <a:r>
              <a:rPr kumimoji="1" lang="en-US" altLang="ja-JP" sz="2800" dirty="0">
                <a:solidFill>
                  <a:schemeClr val="bg1"/>
                </a:solidFill>
              </a:rPr>
              <a:t>DirectX11</a:t>
            </a: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3626" y="4640277"/>
            <a:ext cx="42770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u="sng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63794" y="5239635"/>
            <a:ext cx="2531806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・ </a:t>
            </a:r>
            <a:r>
              <a:rPr kumimoji="1" lang="en-US" altLang="ja-JP" sz="2000" dirty="0" err="1">
                <a:solidFill>
                  <a:schemeClr val="bg1"/>
                </a:solidFill>
              </a:rPr>
              <a:t>imgui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66F244-B60D-B801-2968-736AB6FA8A3F}"/>
              </a:ext>
            </a:extLst>
          </p:cNvPr>
          <p:cNvSpPr txBox="1"/>
          <p:nvPr/>
        </p:nvSpPr>
        <p:spPr>
          <a:xfrm>
            <a:off x="371168" y="2187313"/>
            <a:ext cx="107540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ゲーム本体だけでなく、開発現場においてもデザイナーをはじめとした多職種が</a:t>
            </a:r>
            <a:r>
              <a:rPr lang="en-US" altLang="ja-JP" sz="2400" dirty="0">
                <a:solidFill>
                  <a:schemeClr val="bg1"/>
                </a:solidFill>
              </a:rPr>
              <a:t>Mac</a:t>
            </a:r>
            <a:r>
              <a:rPr lang="ja-JP" altLang="en-US" sz="2400" dirty="0">
                <a:solidFill>
                  <a:schemeClr val="bg1"/>
                </a:solidFill>
              </a:rPr>
              <a:t>など多様な環境を利用することが一般的になっている。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このような、</a:t>
            </a:r>
            <a:r>
              <a:rPr lang="ja-JP" altLang="en-US" sz="2400" u="sng" dirty="0">
                <a:solidFill>
                  <a:srgbClr val="FF0000"/>
                </a:solidFill>
              </a:rPr>
              <a:t>開発環境の多様化に対応することが、円滑なゲーム開発を行う上で</a:t>
            </a:r>
            <a:r>
              <a:rPr lang="ja-JP" altLang="en-US" sz="2400" b="1" u="sng" dirty="0">
                <a:ln>
                  <a:solidFill>
                    <a:srgbClr val="C00000"/>
                  </a:solidFill>
                </a:ln>
                <a:solidFill>
                  <a:srgbClr val="FF0000"/>
                </a:solidFill>
              </a:rPr>
              <a:t>重要</a:t>
            </a:r>
            <a:r>
              <a:rPr lang="ja-JP" altLang="en-US" sz="2400" dirty="0">
                <a:solidFill>
                  <a:schemeClr val="bg1"/>
                </a:solidFill>
              </a:rPr>
              <a:t>だと考えました。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6019FD-93D9-34F8-F4FD-5F32F857CF05}"/>
              </a:ext>
            </a:extLst>
          </p:cNvPr>
          <p:cNvSpPr txBox="1"/>
          <p:nvPr/>
        </p:nvSpPr>
        <p:spPr>
          <a:xfrm>
            <a:off x="371168" y="1562972"/>
            <a:ext cx="11439832" cy="523220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800" b="1" dirty="0">
                <a:solidFill>
                  <a:schemeClr val="bg1"/>
                </a:solidFill>
              </a:rPr>
              <a:t>作品名 </a:t>
            </a:r>
            <a:r>
              <a:rPr kumimoji="1" lang="en-US" altLang="ja-JP" sz="2800" b="1" dirty="0">
                <a:solidFill>
                  <a:schemeClr val="bg1"/>
                </a:solidFill>
              </a:rPr>
              <a:t>: </a:t>
            </a:r>
            <a:r>
              <a:rPr kumimoji="1" lang="ja-JP" altLang="ja-JP" sz="2800" b="1" dirty="0">
                <a:solidFill>
                  <a:schemeClr val="bg1"/>
                </a:solidFill>
              </a:rPr>
              <a:t>他のプラットフォーム対応を前提とした</a:t>
            </a:r>
            <a:r>
              <a:rPr kumimoji="1" lang="ja-JP" altLang="en-US" sz="2800" b="1" dirty="0">
                <a:solidFill>
                  <a:schemeClr val="bg1"/>
                </a:solidFill>
              </a:rPr>
              <a:t>フレームワーク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D7AAF5-A2A1-C3D5-B707-264CF4610733}"/>
              </a:ext>
            </a:extLst>
          </p:cNvPr>
          <p:cNvSpPr txBox="1"/>
          <p:nvPr/>
        </p:nvSpPr>
        <p:spPr>
          <a:xfrm>
            <a:off x="371168" y="4099037"/>
            <a:ext cx="4810432" cy="58477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コンセプトに必要なこと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93B68A5-EBB3-BDF5-7243-C1311556DFDD}"/>
              </a:ext>
            </a:extLst>
          </p:cNvPr>
          <p:cNvSpPr txBox="1"/>
          <p:nvPr/>
        </p:nvSpPr>
        <p:spPr>
          <a:xfrm>
            <a:off x="371168" y="4663492"/>
            <a:ext cx="5877232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データ構造の統一化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ゲーム層とプラットフォーム層の分離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 責任の明確化</a:t>
            </a:r>
            <a:endParaRPr kumimoji="1" lang="en-US" altLang="ja-JP" sz="2400" b="1" u="sng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インターフェイス 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(</a:t>
            </a:r>
            <a:r>
              <a:rPr kumimoji="1" lang="ja-JP" altLang="en-US" sz="2400" b="1" u="sng" dirty="0">
                <a:solidFill>
                  <a:schemeClr val="bg1"/>
                </a:solidFill>
              </a:rPr>
              <a:t>仲介役</a:t>
            </a:r>
            <a:r>
              <a:rPr kumimoji="1" lang="en-US" altLang="ja-JP" sz="2400" b="1" u="sng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4048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dirty="0">
                <a:solidFill>
                  <a:schemeClr val="bg1"/>
                </a:solidFill>
              </a:rPr>
              <a:t>データ構造の統一化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2593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数学・文字列ライブラリを自作し差異を吸収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数学処理は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計算関数内を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API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依存のものを使用して最適化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文字列は UTF-8 に統一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行列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ルールを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左手・列優先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列ベクトル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で決定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E0A3369-F7C4-BA17-65EB-8625592D6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632" y="142895"/>
            <a:ext cx="1981200" cy="2597573"/>
          </a:xfrm>
          <a:prstGeom prst="rect">
            <a:avLst/>
          </a:prstGeom>
        </p:spPr>
      </p:pic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CCBE5D2-99AD-D425-DBE5-74D9A7632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09" y="4869414"/>
            <a:ext cx="2319184" cy="1926797"/>
          </a:xfrm>
          <a:prstGeom prst="rect">
            <a:avLst/>
          </a:prstGeom>
        </p:spPr>
      </p:pic>
      <p:pic>
        <p:nvPicPr>
          <p:cNvPr id="11" name="図 10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F5F31C7-B79E-640C-B434-DB5C53CA2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4379556"/>
            <a:ext cx="2819400" cy="210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描画マネージャーを抽象化し、ゲーム層へ受け渡し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ポリモーフィズムによりAPI差異を意識せず描画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している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リソースは名前管理とし、自動的に共有される設計</a:t>
            </a:r>
          </a:p>
        </p:txBody>
      </p:sp>
      <p:pic>
        <p:nvPicPr>
          <p:cNvPr id="5" name="図 4" descr="コンピューター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9CB8BAA8-BDBE-C9C1-5046-7FE880236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343400"/>
            <a:ext cx="8305800" cy="2449382"/>
          </a:xfrm>
          <a:prstGeom prst="rect">
            <a:avLst/>
          </a:prstGeom>
        </p:spPr>
      </p:pic>
      <p:pic>
        <p:nvPicPr>
          <p:cNvPr id="6" name="図 5" descr="パソコン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26975780-4996-340C-E00F-8464A2C9E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8745" y="5025166"/>
            <a:ext cx="20859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C273-3BF3-11C8-794E-5A89FB38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2F1C00-D7CE-F059-1BE3-177E133C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4BA5B1-1AA4-D293-0061-3A0D4BBDDE66}"/>
              </a:ext>
            </a:extLst>
          </p:cNvPr>
          <p:cNvSpPr txBox="1"/>
          <p:nvPr/>
        </p:nvSpPr>
        <p:spPr>
          <a:xfrm>
            <a:off x="371168" y="1670339"/>
            <a:ext cx="2295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シェーダー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1CF534-4526-C3EB-E7FB-5C4BF067762C}"/>
              </a:ext>
            </a:extLst>
          </p:cNvPr>
          <p:cNvSpPr txBox="1"/>
          <p:nvPr/>
        </p:nvSpPr>
        <p:spPr>
          <a:xfrm>
            <a:off x="371168" y="2255114"/>
            <a:ext cx="10754032" cy="31085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シェーダーリフレクションにより必要な定数情報を取得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シェーダーが自身のバインド情報を管理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オブジェクトは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自身が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更新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する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定数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名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のみを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知る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ja-JP" altLang="en-US" sz="2800" dirty="0">
                <a:solidFill>
                  <a:srgbClr val="FF0000"/>
                </a:solidFill>
              </a:rPr>
              <a:t> </a:t>
            </a:r>
            <a:r>
              <a:rPr lang="ja-JP" altLang="en-US" sz="2800" u="sng" dirty="0">
                <a:solidFill>
                  <a:srgbClr val="FF0000"/>
                </a:solidFill>
              </a:rPr>
              <a:t>同一ディレクトリ内の </a:t>
            </a:r>
            <a:r>
              <a:rPr lang="en-US" altLang="ja-JP" sz="2800" u="sng" dirty="0">
                <a:solidFill>
                  <a:srgbClr val="FF0000"/>
                </a:solidFill>
              </a:rPr>
              <a:t>.</a:t>
            </a:r>
            <a:r>
              <a:rPr lang="en-US" altLang="ja-JP" sz="2800" u="sng" dirty="0" err="1">
                <a:solidFill>
                  <a:srgbClr val="FF0000"/>
                </a:solidFill>
              </a:rPr>
              <a:t>hlsl</a:t>
            </a:r>
            <a:r>
              <a:rPr lang="ja-JP" altLang="en-US" sz="2800" u="sng" dirty="0">
                <a:solidFill>
                  <a:srgbClr val="FF0000"/>
                </a:solidFill>
              </a:rPr>
              <a:t> を監視し、</a:t>
            </a:r>
            <a:endParaRPr lang="en-US" altLang="ja-JP" sz="2800" u="sng" dirty="0">
              <a:solidFill>
                <a:srgbClr val="FF0000"/>
              </a:solidFill>
            </a:endParaRPr>
          </a:p>
          <a:p>
            <a:pPr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800" dirty="0">
                <a:solidFill>
                  <a:srgbClr val="FF0000"/>
                </a:solidFill>
              </a:rPr>
              <a:t>   </a:t>
            </a:r>
            <a:r>
              <a:rPr lang="ja-JP" altLang="en-US" sz="2800" u="sng" dirty="0">
                <a:solidFill>
                  <a:srgbClr val="FF0000"/>
                </a:solidFill>
              </a:rPr>
              <a:t>更新時のみ再コンパイルする仕組みを実装した。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50E91340-CF82-BEE3-EFBD-43AE761DD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0674" y="2514600"/>
            <a:ext cx="1609051" cy="3326129"/>
          </a:xfrm>
          <a:prstGeom prst="rect">
            <a:avLst/>
          </a:prstGeom>
        </p:spPr>
      </p:pic>
      <p:pic>
        <p:nvPicPr>
          <p:cNvPr id="6" name="図 5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568BF7ED-C331-5BC8-A967-5A5A20B1B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2743200" y="5394137"/>
            <a:ext cx="5830415" cy="123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19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3438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デバッグ時のログ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194764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コンソール／メッセージボックス／ファイル出力に対応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出力先は用途に応じて切り替え可能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 Unicode MS"/>
              </a:rPr>
              <a:t>.cpp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 差し替えによりプラットフォーム依存を吸収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771792-CFC1-A612-1DE5-D50543967F92}"/>
              </a:ext>
            </a:extLst>
          </p:cNvPr>
          <p:cNvSpPr/>
          <p:nvPr/>
        </p:nvSpPr>
        <p:spPr>
          <a:xfrm>
            <a:off x="2398337" y="4524855"/>
            <a:ext cx="2057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ReportMessage.h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573E2AD-AD8B-DEC5-389B-EEF1EAAD578F}"/>
              </a:ext>
            </a:extLst>
          </p:cNvPr>
          <p:cNvSpPr/>
          <p:nvPr/>
        </p:nvSpPr>
        <p:spPr>
          <a:xfrm>
            <a:off x="1451727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DX_RM.cpp</a:t>
            </a:r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FAE3F4B-E235-BF8D-9A42-17634D194937}"/>
              </a:ext>
            </a:extLst>
          </p:cNvPr>
          <p:cNvSpPr/>
          <p:nvPr/>
        </p:nvSpPr>
        <p:spPr>
          <a:xfrm>
            <a:off x="3581400" y="5715000"/>
            <a:ext cx="1676400" cy="457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OGL_RM.cpp</a:t>
            </a:r>
            <a:endParaRPr kumimoji="1" lang="ja-JP" altLang="en-US" dirty="0"/>
          </a:p>
        </p:txBody>
      </p:sp>
      <p:pic>
        <p:nvPicPr>
          <p:cNvPr id="15" name="図 1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D47A4EB1-5FF5-CEBA-88BB-B75BEF460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4214" y="3100824"/>
            <a:ext cx="2796618" cy="3238845"/>
          </a:xfrm>
          <a:prstGeom prst="rect">
            <a:avLst/>
          </a:prstGeom>
        </p:spPr>
      </p:pic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C00CA6DE-813D-7FDD-4F33-88AAAC712471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2492010" y="4779972"/>
            <a:ext cx="732945" cy="1137110"/>
          </a:xfrm>
          <a:prstGeom prst="bentConnector3">
            <a:avLst>
              <a:gd name="adj1" fmla="val 7146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C5D3992-D935-FCCF-1F41-663A796E8010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16200000" flipH="1">
            <a:off x="3556846" y="4852245"/>
            <a:ext cx="732945" cy="992563"/>
          </a:xfrm>
          <a:prstGeom prst="bentConnector3">
            <a:avLst>
              <a:gd name="adj1" fmla="val 7012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9C88A72-144D-0F1C-0A4A-D35BE03E1C38}"/>
              </a:ext>
            </a:extLst>
          </p:cNvPr>
          <p:cNvSpPr/>
          <p:nvPr/>
        </p:nvSpPr>
        <p:spPr>
          <a:xfrm>
            <a:off x="3467160" y="5044163"/>
            <a:ext cx="2057280" cy="4002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kumimoji="1" lang="ja-JP" altLang="en-US" dirty="0"/>
              <a:t>ビルド時に差し替え</a:t>
            </a: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6778F-F635-0616-B585-7716CA1C0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B26341-98AF-0E9C-4437-65316181F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1FC28-02CD-E182-1342-CF3FB1CB8771}"/>
              </a:ext>
            </a:extLst>
          </p:cNvPr>
          <p:cNvSpPr txBox="1"/>
          <p:nvPr/>
        </p:nvSpPr>
        <p:spPr>
          <a:xfrm>
            <a:off x="371168" y="1670339"/>
            <a:ext cx="16862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3200" dirty="0" err="1">
                <a:solidFill>
                  <a:schemeClr val="bg1"/>
                </a:solidFill>
              </a:rPr>
              <a:t>CMake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391546-A754-DD6D-302A-C86B444F8767}"/>
              </a:ext>
            </a:extLst>
          </p:cNvPr>
          <p:cNvSpPr txBox="1"/>
          <p:nvPr/>
        </p:nvSpPr>
        <p:spPr>
          <a:xfrm>
            <a:off x="371168" y="2255114"/>
            <a:ext cx="10754032" cy="1301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マルチプラットフォームへの対応が行いやすい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Visual</a:t>
            </a:r>
            <a:r>
              <a:rPr lang="ja-JP" altLang="en-US" sz="2800" b="1" u="sng" dirty="0">
                <a:solidFill>
                  <a:srgbClr val="FF0000"/>
                </a:solidFill>
              </a:rPr>
              <a:t> 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Studio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</a:rPr>
              <a:t>に依存しない</a:t>
            </a:r>
            <a:endParaRPr kumimoji="0" lang="ja-JP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図 3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25A12992-FB76-D612-8CDD-0BADB4BEE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5245" y="2998781"/>
            <a:ext cx="3967514" cy="357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24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5B7D-D9BF-A27C-3DFF-F3E67B75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42688C-0B15-1DF2-C15E-73345C42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2B3AA5-8889-FC69-C336-FD952CCBE9B4}"/>
              </a:ext>
            </a:extLst>
          </p:cNvPr>
          <p:cNvSpPr txBox="1"/>
          <p:nvPr/>
        </p:nvSpPr>
        <p:spPr>
          <a:xfrm>
            <a:off x="371168" y="1670339"/>
            <a:ext cx="2372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コンパイル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944BB5-297B-AAEF-858A-EA307D884FE6}"/>
              </a:ext>
            </a:extLst>
          </p:cNvPr>
          <p:cNvSpPr txBox="1"/>
          <p:nvPr/>
        </p:nvSpPr>
        <p:spPr>
          <a:xfrm>
            <a:off x="371168" y="2255114"/>
            <a:ext cx="10754032" cy="1305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Microsoft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系は</a:t>
            </a:r>
            <a:r>
              <a:rPr lang="en-US" altLang="ja-JP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Clang-CL 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を使用しています。</a:t>
            </a:r>
            <a:endParaRPr lang="en-US" altLang="ja-JP" sz="2800" b="1" u="sng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他の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OS</a:t>
            </a:r>
            <a:r>
              <a:rPr lang="ja-JP" altLang="en-US" sz="2800" b="1" u="sng" dirty="0">
                <a:solidFill>
                  <a:srgbClr val="FF0000"/>
                </a:solidFill>
                <a:latin typeface="Arial" panose="020B0604020202020204" pitchFamily="34" charset="0"/>
              </a:rPr>
              <a:t>で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en-US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Clang</a:t>
            </a:r>
            <a:r>
              <a:rPr kumimoji="0" lang="ja-JP" altLang="en-US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を基本として使用することを想定しています。</a:t>
            </a:r>
            <a:endParaRPr kumimoji="0" lang="en-US" altLang="ja-JP" sz="2800" b="1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図 4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3404B61A-4545-0E5B-7446-B6D5B6B23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3568690"/>
            <a:ext cx="6690852" cy="3289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09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58644"/>
            <a:ext cx="8849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描画マネージャーの単一責任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43419"/>
            <a:ext cx="11820832" cy="18158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ja-JP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Vtable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参照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で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メモリ使用量が増えると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キャッシュミスが</a:t>
            </a: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多く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発生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しそう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複数テクスチャをまとめ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て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GPU転送が</a:t>
            </a: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行えない</a:t>
            </a:r>
            <a:endParaRPr kumimoji="0" lang="ja-JP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作成と描画を兼任しており単一責任になっていない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b="1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→</a:t>
            </a:r>
            <a:r>
              <a:rPr kumimoji="0" lang="ja-JP" altLang="ja-JP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ja-JP" altLang="ja-JP" sz="2800" b="1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描画コマンドリスト方式で解決予定</a:t>
            </a:r>
            <a:endParaRPr kumimoji="0" lang="ja-JP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E8B5C8-1559-F56D-8159-A0FBF5C99E58}"/>
              </a:ext>
            </a:extLst>
          </p:cNvPr>
          <p:cNvSpPr txBox="1"/>
          <p:nvPr/>
        </p:nvSpPr>
        <p:spPr>
          <a:xfrm>
            <a:off x="371168" y="4629971"/>
            <a:ext cx="1973826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入力情報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FBA82A-5A07-D216-661B-1270A38C75D8}"/>
              </a:ext>
            </a:extLst>
          </p:cNvPr>
          <p:cNvSpPr txBox="1"/>
          <p:nvPr/>
        </p:nvSpPr>
        <p:spPr>
          <a:xfrm>
            <a:off x="371168" y="5199356"/>
            <a:ext cx="11135032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マウスとキーボードの入力しか今のままでは取れず、拡張性が低い</a:t>
            </a:r>
            <a:endParaRPr kumimoji="0" lang="en-US" altLang="ja-JP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　</a:t>
            </a:r>
            <a:r>
              <a:rPr lang="ja-JP" altLang="en-US" sz="2800" dirty="0">
                <a:solidFill>
                  <a:srgbClr val="FF0000"/>
                </a:solidFill>
                <a:latin typeface="Arial" panose="020B0604020202020204" pitchFamily="34" charset="0"/>
              </a:rPr>
              <a:t>→ 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プラットフォーム層で入力をアクション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意図</a:t>
            </a:r>
            <a:r>
              <a:rPr kumimoji="0" lang="en-US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ja-JP" altLang="ja-JP" sz="2800" b="0" i="0" u="sng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へ変換</a:t>
            </a:r>
            <a:endParaRPr kumimoji="0" lang="en-US" altLang="ja-JP" sz="2800" b="0" i="0" u="sng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2041</TotalTime>
  <Words>497</Words>
  <Application>Microsoft Office PowerPoint</Application>
  <PresentationFormat>ワイド画面</PresentationFormat>
  <Paragraphs>66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 Unicode MS</vt:lpstr>
      <vt:lpstr>MS Gothic</vt:lpstr>
      <vt:lpstr>游ゴシック</vt:lpstr>
      <vt:lpstr>Arial</vt:lpstr>
      <vt:lpstr>Office Theme</vt:lpstr>
      <vt:lpstr>就職作品概要資料</vt:lpstr>
      <vt:lpstr>目次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550</cp:revision>
  <dcterms:created xsi:type="dcterms:W3CDTF">2025-12-13T00:48:35Z</dcterms:created>
  <dcterms:modified xsi:type="dcterms:W3CDTF">2026-02-17T00:16:08Z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