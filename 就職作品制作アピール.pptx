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Default Extension="jpg" ContentType="image/jp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40130" y="1247597"/>
            <a:ext cx="10736580" cy="940435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u="none" sz="6000" spc="-5"/>
              <a:t>就職作品制作アピールポイント</a:t>
            </a:r>
            <a:endParaRPr sz="6000"/>
          </a:p>
        </p:txBody>
      </p:sp>
      <p:sp>
        <p:nvSpPr>
          <p:cNvPr id="3" name="object 3" descr=""/>
          <p:cNvSpPr txBox="1"/>
          <p:nvPr/>
        </p:nvSpPr>
        <p:spPr>
          <a:xfrm>
            <a:off x="9322054" y="5404603"/>
            <a:ext cx="2092960" cy="942975"/>
          </a:xfrm>
          <a:prstGeom prst="rect">
            <a:avLst/>
          </a:prstGeom>
        </p:spPr>
        <p:txBody>
          <a:bodyPr wrap="square" lIns="0" tIns="1047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825"/>
              </a:spcBef>
            </a:pPr>
            <a:r>
              <a:rPr dirty="0" sz="2400" spc="-10">
                <a:solidFill>
                  <a:srgbClr val="FFFFFF"/>
                </a:solidFill>
                <a:latin typeface="Arial MT"/>
                <a:cs typeface="Arial MT"/>
              </a:rPr>
              <a:t>AT-</a:t>
            </a:r>
            <a:r>
              <a:rPr dirty="0" sz="2400" spc="-25">
                <a:solidFill>
                  <a:srgbClr val="FFFFFF"/>
                </a:solidFill>
                <a:latin typeface="Arial MT"/>
                <a:cs typeface="Arial MT"/>
              </a:rPr>
              <a:t>13B-</a:t>
            </a:r>
            <a:r>
              <a:rPr dirty="0" sz="2400">
                <a:solidFill>
                  <a:srgbClr val="FFFFFF"/>
                </a:solidFill>
                <a:latin typeface="Arial MT"/>
                <a:cs typeface="Arial MT"/>
              </a:rPr>
              <a:t>529</a:t>
            </a:r>
            <a:r>
              <a:rPr dirty="0" sz="2400" spc="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2400" spc="-25">
                <a:solidFill>
                  <a:srgbClr val="FFFFFF"/>
                </a:solidFill>
                <a:latin typeface="Arial MT"/>
                <a:cs typeface="Arial MT"/>
              </a:rPr>
              <a:t>32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dirty="0" sz="2400" spc="-125">
                <a:solidFill>
                  <a:srgbClr val="FFFFFF"/>
                </a:solidFill>
                <a:latin typeface="MS Gothic"/>
                <a:cs typeface="MS Gothic"/>
              </a:rPr>
              <a:t>松田 健志</a:t>
            </a:r>
            <a:endParaRPr sz="2400">
              <a:latin typeface="MS Gothic"/>
              <a:cs typeface="MS Gothic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1996567" y="2818891"/>
            <a:ext cx="8426450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ゲーム基盤</a:t>
            </a:r>
            <a:r>
              <a:rPr dirty="0" sz="2400" spc="-20">
                <a:solidFill>
                  <a:srgbClr val="FFFFFF"/>
                </a:solidFill>
                <a:latin typeface="Arial MT"/>
                <a:cs typeface="Arial MT"/>
              </a:rPr>
              <a:t>(GameMain)</a:t>
            </a: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にプラットフォーム依存をなくす設計</a:t>
            </a:r>
            <a:endParaRPr sz="24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1087"/>
            <a:ext cx="5053965" cy="696595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0"/>
              <a:t>作品概要・開発目的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78739" y="908685"/>
            <a:ext cx="12077700" cy="529717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405765">
              <a:lnSpc>
                <a:spcPct val="100000"/>
              </a:lnSpc>
              <a:spcBef>
                <a:spcPts val="95"/>
              </a:spcBef>
              <a:tabLst>
                <a:tab pos="2539365" algn="l"/>
                <a:tab pos="6353175" algn="l"/>
              </a:tabLst>
            </a:pPr>
            <a:r>
              <a:rPr dirty="0" sz="2800" spc="-25">
                <a:solidFill>
                  <a:srgbClr val="FFFFFF"/>
                </a:solidFill>
                <a:latin typeface="MS Gothic"/>
                <a:cs typeface="MS Gothic"/>
              </a:rPr>
              <a:t>最終的に</a:t>
            </a:r>
            <a:r>
              <a:rPr dirty="0" sz="2800" spc="-50">
                <a:solidFill>
                  <a:srgbClr val="FFFFFF"/>
                </a:solidFill>
                <a:latin typeface="MS Gothic"/>
                <a:cs typeface="MS Gothic"/>
              </a:rPr>
              <a:t>は</a:t>
            </a:r>
            <a:r>
              <a:rPr dirty="0" sz="2800">
                <a:solidFill>
                  <a:srgbClr val="FFFFFF"/>
                </a:solidFill>
                <a:latin typeface="MS Gothic"/>
                <a:cs typeface="MS Gothic"/>
              </a:rPr>
              <a:t>	</a:t>
            </a:r>
            <a:r>
              <a:rPr dirty="0" sz="2800" spc="-25">
                <a:solidFill>
                  <a:srgbClr val="FFFFFF"/>
                </a:solidFill>
                <a:latin typeface="MS Gothic"/>
                <a:cs typeface="MS Gothic"/>
              </a:rPr>
              <a:t>３</a:t>
            </a:r>
            <a:r>
              <a:rPr dirty="0" sz="2800" spc="-25">
                <a:solidFill>
                  <a:srgbClr val="FFFFFF"/>
                </a:solidFill>
                <a:latin typeface="Arial MT"/>
                <a:cs typeface="Arial MT"/>
              </a:rPr>
              <a:t>D</a:t>
            </a: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アクション</a:t>
            </a: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ゲー</a:t>
            </a:r>
            <a:r>
              <a:rPr dirty="0" sz="2800" spc="-50">
                <a:solidFill>
                  <a:srgbClr val="FFFFFF"/>
                </a:solidFill>
                <a:latin typeface="MS Gothic"/>
                <a:cs typeface="MS Gothic"/>
              </a:rPr>
              <a:t>ム</a:t>
            </a:r>
            <a:r>
              <a:rPr dirty="0" sz="2800">
                <a:solidFill>
                  <a:srgbClr val="FFFFFF"/>
                </a:solidFill>
                <a:latin typeface="MS Gothic"/>
                <a:cs typeface="MS Gothic"/>
              </a:rPr>
              <a:t>	</a:t>
            </a: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を制作する</a:t>
            </a: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予定</a:t>
            </a: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で</a:t>
            </a: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す</a:t>
            </a:r>
            <a:r>
              <a:rPr dirty="0" sz="2800" spc="-50">
                <a:solidFill>
                  <a:srgbClr val="FFFFFF"/>
                </a:solidFill>
                <a:latin typeface="MS Gothic"/>
                <a:cs typeface="MS Gothic"/>
              </a:rPr>
              <a:t>。</a:t>
            </a:r>
            <a:endParaRPr sz="280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2545"/>
              </a:spcBef>
            </a:pPr>
            <a:r>
              <a:rPr dirty="0" sz="2700" spc="-15">
                <a:solidFill>
                  <a:srgbClr val="FFFFFF"/>
                </a:solidFill>
                <a:latin typeface="MS Gothic"/>
                <a:cs typeface="MS Gothic"/>
              </a:rPr>
              <a:t>現在は、大量のオブジェクトを描画しても重たくならない様に</a:t>
            </a:r>
            <a:endParaRPr sz="270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675"/>
              </a:spcBef>
            </a:pPr>
            <a:r>
              <a:rPr dirty="0" sz="2700" spc="-5">
                <a:solidFill>
                  <a:srgbClr val="FFFFFF"/>
                </a:solidFill>
                <a:latin typeface="MS Gothic"/>
                <a:cs typeface="MS Gothic"/>
              </a:rPr>
              <a:t>バッチ処理などを後から拡張追加しやすい描画マネージャーを制作中です。</a:t>
            </a:r>
            <a:endParaRPr sz="27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27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</a:pPr>
            <a:r>
              <a:rPr dirty="0" u="sng" sz="4400" spc="-15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開発環境</a:t>
            </a:r>
            <a:endParaRPr sz="440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095"/>
              </a:spcBef>
            </a:pPr>
            <a:r>
              <a:rPr dirty="0" sz="2800" spc="-30">
                <a:solidFill>
                  <a:srgbClr val="FFFFFF"/>
                </a:solidFill>
                <a:latin typeface="Arial MT"/>
                <a:cs typeface="Arial MT"/>
              </a:rPr>
              <a:t>C++</a:t>
            </a: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１７</a:t>
            </a:r>
            <a:r>
              <a:rPr dirty="0" sz="2800" spc="-59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dirty="0" sz="2800">
                <a:solidFill>
                  <a:srgbClr val="FFFFFF"/>
                </a:solidFill>
                <a:latin typeface="Arial MT"/>
                <a:cs typeface="Arial MT"/>
              </a:rPr>
              <a:t>/</a:t>
            </a:r>
            <a:r>
              <a:rPr dirty="0" sz="2800" spc="2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2800" spc="-10">
                <a:solidFill>
                  <a:srgbClr val="FFFFFF"/>
                </a:solidFill>
                <a:latin typeface="Arial MT"/>
                <a:cs typeface="Arial MT"/>
              </a:rPr>
              <a:t>DirectX11</a:t>
            </a:r>
            <a:endParaRPr sz="28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900"/>
              </a:spcBef>
            </a:pPr>
            <a:endParaRPr sz="28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u="sng" sz="4400" spc="-2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開発期間</a:t>
            </a:r>
            <a:endParaRPr sz="4400">
              <a:latin typeface="MS Gothic"/>
              <a:cs typeface="MS Gothic"/>
            </a:endParaRPr>
          </a:p>
          <a:p>
            <a:pPr marL="405765">
              <a:lnSpc>
                <a:spcPct val="100000"/>
              </a:lnSpc>
              <a:spcBef>
                <a:spcPts val="1245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８月から制作開始しました</a:t>
            </a:r>
            <a:endParaRPr sz="2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67535" y="2172970"/>
            <a:ext cx="8457565" cy="1631950"/>
          </a:xfrm>
          <a:prstGeom prst="rect"/>
          <a:ln w="38100">
            <a:solidFill>
              <a:srgbClr val="FFFFFF"/>
            </a:solidFill>
          </a:ln>
        </p:spPr>
        <p:txBody>
          <a:bodyPr wrap="square" lIns="0" tIns="212090" rIns="0" bIns="0" rtlCol="0" vert="horz">
            <a:spAutoFit/>
          </a:bodyPr>
          <a:lstStyle/>
          <a:p>
            <a:pPr marL="1428115" marR="1141095" indent="-281305">
              <a:lnSpc>
                <a:spcPts val="4750"/>
              </a:lnSpc>
              <a:spcBef>
                <a:spcPts val="1670"/>
              </a:spcBef>
            </a:pPr>
            <a:r>
              <a:rPr dirty="0" u="heavy" spc="-5">
                <a:uFill>
                  <a:solidFill>
                    <a:srgbClr val="FFFFFF"/>
                  </a:solidFill>
                </a:uFill>
              </a:rPr>
              <a:t>制作したいと思っている</a:t>
            </a:r>
            <a:r>
              <a:rPr dirty="0" u="heavy" spc="1100">
                <a:uFill>
                  <a:solidFill>
                    <a:srgbClr val="FFFFFF"/>
                  </a:solidFill>
                </a:uFill>
              </a:rPr>
              <a:t>          </a:t>
            </a:r>
            <a:r>
              <a:rPr dirty="0" u="heavy" spc="-5">
                <a:uFill>
                  <a:solidFill>
                    <a:srgbClr val="FFFFFF"/>
                  </a:solidFill>
                </a:uFill>
              </a:rPr>
              <a:t>アクションゲーム紹介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6659" y="331977"/>
            <a:ext cx="2819400" cy="696595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20"/>
              <a:t>ゲーム紹介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6469126" y="4911978"/>
            <a:ext cx="5200015" cy="4521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2800" spc="-25">
                <a:solidFill>
                  <a:srgbClr val="FFFFFF"/>
                </a:solidFill>
                <a:latin typeface="MS Gothic"/>
                <a:cs typeface="MS Gothic"/>
              </a:rPr>
              <a:t>敵は</a:t>
            </a:r>
            <a:r>
              <a:rPr dirty="0" sz="2800" spc="-35">
                <a:solidFill>
                  <a:srgbClr val="FFFFFF"/>
                </a:solidFill>
                <a:latin typeface="Arial MT"/>
                <a:cs typeface="Arial MT"/>
              </a:rPr>
              <a:t>1</a:t>
            </a: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種類だけを制作予定です。</a:t>
            </a:r>
            <a:endParaRPr sz="2800">
              <a:latin typeface="MS Gothic"/>
              <a:cs typeface="MS Gothic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267931" y="1379474"/>
            <a:ext cx="11796395" cy="1452880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94615" rIns="0" bIns="0" rtlCol="0" vert="horz">
            <a:spAutoFit/>
          </a:bodyPr>
          <a:lstStyle/>
          <a:p>
            <a:pPr marL="205104">
              <a:lnSpc>
                <a:spcPct val="100000"/>
              </a:lnSpc>
              <a:spcBef>
                <a:spcPts val="745"/>
              </a:spcBef>
            </a:pP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❦のゲームで一番拘りたい点</a:t>
            </a:r>
            <a:endParaRPr sz="2400">
              <a:latin typeface="MS Gothic"/>
              <a:cs typeface="MS Gothic"/>
            </a:endParaRPr>
          </a:p>
          <a:p>
            <a:pPr marL="509905">
              <a:lnSpc>
                <a:spcPct val="100000"/>
              </a:lnSpc>
              <a:spcBef>
                <a:spcPts val="420"/>
              </a:spcBef>
            </a:pPr>
            <a:r>
              <a:rPr dirty="0" u="sng" sz="2400" spc="-15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プレイヤーが巨大なお城などを目の前にして、</a:t>
            </a:r>
            <a:endParaRPr sz="2400">
              <a:latin typeface="MS Gothic"/>
              <a:cs typeface="MS Gothic"/>
            </a:endParaRPr>
          </a:p>
          <a:p>
            <a:pPr marL="814705">
              <a:lnSpc>
                <a:spcPct val="100000"/>
              </a:lnSpc>
              <a:spcBef>
                <a:spcPts val="434"/>
              </a:spcBef>
            </a:pPr>
            <a:r>
              <a:rPr dirty="0" u="sng" sz="2400" spc="-1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MS Gothic"/>
                <a:cs typeface="MS Gothic"/>
              </a:rPr>
              <a:t>今から❦の場所を探索するんだというワクワク感を味わえるゲームを作りたい。</a:t>
            </a:r>
            <a:endParaRPr sz="2400">
              <a:latin typeface="MS Gothic"/>
              <a:cs typeface="MS Gothic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267931" y="3151606"/>
            <a:ext cx="5031740" cy="3455670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125095" rIns="0" bIns="0" rtlCol="0" vert="horz">
            <a:spAutoFit/>
          </a:bodyPr>
          <a:lstStyle/>
          <a:p>
            <a:pPr marL="205104">
              <a:lnSpc>
                <a:spcPct val="100000"/>
              </a:lnSpc>
              <a:spcBef>
                <a:spcPts val="985"/>
              </a:spcBef>
            </a:pP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イメージとしては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68854" y="3622421"/>
            <a:ext cx="2887598" cy="2665476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9142" y="5697791"/>
            <a:ext cx="718464" cy="909485"/>
          </a:xfrm>
          <a:prstGeom prst="rect">
            <a:avLst/>
          </a:prstGeom>
        </p:spPr>
      </p:pic>
      <p:sp>
        <p:nvSpPr>
          <p:cNvPr id="8" name="object 8" descr=""/>
          <p:cNvSpPr txBox="1"/>
          <p:nvPr/>
        </p:nvSpPr>
        <p:spPr>
          <a:xfrm>
            <a:off x="6405498" y="3499484"/>
            <a:ext cx="4290060" cy="793115"/>
          </a:xfrm>
          <a:prstGeom prst="rect">
            <a:avLst/>
          </a:prstGeom>
        </p:spPr>
        <p:txBody>
          <a:bodyPr wrap="square" lIns="0" tIns="93980" rIns="0" bIns="0" rtlCol="0" vert="horz">
            <a:spAutoFit/>
          </a:bodyPr>
          <a:lstStyle/>
          <a:p>
            <a:pPr marL="12700" marR="5080">
              <a:lnSpc>
                <a:spcPts val="2690"/>
              </a:lnSpc>
              <a:spcBef>
                <a:spcPts val="740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探索面よりアート面に力を入れたいと思っています。</a:t>
            </a:r>
            <a:endParaRPr sz="2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67535" y="2172970"/>
            <a:ext cx="8457565" cy="1631950"/>
          </a:xfrm>
          <a:prstGeom prst="rect"/>
          <a:ln w="38100">
            <a:solidFill>
              <a:srgbClr val="FFFFFF"/>
            </a:solidFill>
          </a:ln>
        </p:spPr>
        <p:txBody>
          <a:bodyPr wrap="square" lIns="0" tIns="212090" rIns="0" bIns="0" rtlCol="0" vert="horz">
            <a:spAutoFit/>
          </a:bodyPr>
          <a:lstStyle/>
          <a:p>
            <a:pPr marL="1707514" marR="584200" indent="-1120775">
              <a:lnSpc>
                <a:spcPts val="4750"/>
              </a:lnSpc>
              <a:spcBef>
                <a:spcPts val="1670"/>
              </a:spcBef>
            </a:pPr>
            <a:r>
              <a:rPr dirty="0" u="heavy" spc="-5">
                <a:uFill>
                  <a:solidFill>
                    <a:srgbClr val="FFFFFF"/>
                  </a:solidFill>
                </a:uFill>
              </a:rPr>
              <a:t>❦のゲームを作成するうえで</a:t>
            </a:r>
            <a:r>
              <a:rPr dirty="0" u="heavy" spc="1100">
                <a:uFill>
                  <a:solidFill>
                    <a:srgbClr val="FFFFFF"/>
                  </a:solidFill>
                </a:uFill>
              </a:rPr>
              <a:t>          </a:t>
            </a:r>
            <a:r>
              <a:rPr dirty="0" u="heavy" spc="-10">
                <a:uFill>
                  <a:solidFill>
                    <a:srgbClr val="FFFFFF"/>
                  </a:solidFill>
                </a:uFill>
              </a:rPr>
              <a:t>必要になる技術選び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6659" y="437133"/>
            <a:ext cx="2263140" cy="696595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u="none" spc="-15"/>
              <a:t>技術選定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522338" y="1455204"/>
            <a:ext cx="11021060" cy="123634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41275" rIns="0" bIns="0" rtlCol="0" vert="horz">
            <a:spAutoFit/>
          </a:bodyPr>
          <a:lstStyle/>
          <a:p>
            <a:pPr marL="563880" marR="3319779" indent="-358140">
              <a:lnSpc>
                <a:spcPct val="119600"/>
              </a:lnSpc>
              <a:spcBef>
                <a:spcPts val="325"/>
              </a:spcBef>
            </a:pP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❦のゲームで一番大事だと思っている技術は、フレームレートとロードだと思っています。</a:t>
            </a:r>
            <a:endParaRPr sz="2800">
              <a:latin typeface="MS Gothic"/>
              <a:cs typeface="MS Gothic"/>
            </a:endParaRPr>
          </a:p>
        </p:txBody>
      </p:sp>
      <p:sp>
        <p:nvSpPr>
          <p:cNvPr id="4" name="object 4" descr=""/>
          <p:cNvSpPr/>
          <p:nvPr/>
        </p:nvSpPr>
        <p:spPr>
          <a:xfrm>
            <a:off x="522338" y="4166933"/>
            <a:ext cx="11021060" cy="2358390"/>
          </a:xfrm>
          <a:custGeom>
            <a:avLst/>
            <a:gdLst/>
            <a:ahLst/>
            <a:cxnLst/>
            <a:rect l="l" t="t" r="r" b="b"/>
            <a:pathLst>
              <a:path w="11021060" h="2358390">
                <a:moveTo>
                  <a:pt x="0" y="2357881"/>
                </a:moveTo>
                <a:lnTo>
                  <a:pt x="11020679" y="2357881"/>
                </a:lnTo>
                <a:lnTo>
                  <a:pt x="11020679" y="0"/>
                </a:lnTo>
                <a:lnTo>
                  <a:pt x="0" y="0"/>
                </a:lnTo>
                <a:lnTo>
                  <a:pt x="0" y="2357881"/>
                </a:lnTo>
                <a:close/>
              </a:path>
            </a:pathLst>
          </a:custGeom>
          <a:ln w="9525">
            <a:solidFill>
              <a:srgbClr val="FFFFFF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5" name="object 5" descr=""/>
          <p:cNvSpPr txBox="1"/>
          <p:nvPr/>
        </p:nvSpPr>
        <p:spPr>
          <a:xfrm>
            <a:off x="466851" y="3524250"/>
            <a:ext cx="11080115" cy="274129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25400">
              <a:lnSpc>
                <a:spcPct val="100000"/>
              </a:lnSpc>
              <a:spcBef>
                <a:spcPts val="95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フレームレートのための技術</a:t>
            </a:r>
            <a:endParaRPr sz="2800">
              <a:latin typeface="MS Gothic"/>
              <a:cs typeface="MS Gothic"/>
            </a:endParaRPr>
          </a:p>
          <a:p>
            <a:pPr marL="260985">
              <a:lnSpc>
                <a:spcPct val="100000"/>
              </a:lnSpc>
              <a:spcBef>
                <a:spcPts val="2590"/>
              </a:spcBef>
            </a:pP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コンピュートシェーダーでメッシュレット、</a:t>
            </a:r>
            <a:endParaRPr sz="2800">
              <a:latin typeface="MS Gothic"/>
              <a:cs typeface="MS Gothic"/>
            </a:endParaRPr>
          </a:p>
          <a:p>
            <a:pPr marL="260985" marR="1637030">
              <a:lnSpc>
                <a:spcPct val="119600"/>
              </a:lnSpc>
              <a:spcBef>
                <a:spcPts val="5"/>
              </a:spcBef>
            </a:pP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描画マネージャーでバッチ処理</a:t>
            </a:r>
            <a:r>
              <a:rPr dirty="0" sz="2800" spc="-10" b="1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インスタンシングの予定</a:t>
            </a:r>
            <a:r>
              <a:rPr dirty="0" sz="2800" spc="-50" b="1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フラスタムカリングを実装したいと思っています。</a:t>
            </a:r>
            <a:endParaRPr sz="2800">
              <a:latin typeface="MS Gothic"/>
              <a:cs typeface="MS Gothic"/>
            </a:endParaRPr>
          </a:p>
          <a:p>
            <a:pPr marL="260985">
              <a:lnSpc>
                <a:spcPct val="100000"/>
              </a:lnSpc>
              <a:spcBef>
                <a:spcPts val="670"/>
              </a:spcBef>
            </a:pP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もし、❦れでも重たい場合</a:t>
            </a:r>
            <a:r>
              <a:rPr dirty="0" sz="2800" spc="-30" b="1">
                <a:solidFill>
                  <a:srgbClr val="FFFFFF"/>
                </a:solidFill>
                <a:latin typeface="Arial"/>
                <a:cs typeface="Arial"/>
              </a:rPr>
              <a:t>(LOD)</a:t>
            </a:r>
            <a:r>
              <a:rPr dirty="0" sz="2800" spc="-80">
                <a:solidFill>
                  <a:srgbClr val="FFFFFF"/>
                </a:solidFill>
                <a:latin typeface="MS Gothic"/>
                <a:cs typeface="MS Gothic"/>
              </a:rPr>
              <a:t>を実装予定です。</a:t>
            </a:r>
            <a:r>
              <a:rPr dirty="0" baseline="-21825" sz="2100" spc="-15">
                <a:solidFill>
                  <a:srgbClr val="FFFFFF"/>
                </a:solidFill>
                <a:latin typeface="Arial MT"/>
                <a:cs typeface="Arial MT"/>
              </a:rPr>
              <a:t>LOD</a:t>
            </a:r>
            <a:r>
              <a:rPr dirty="0" baseline="-21825" sz="2100" spc="-30">
                <a:solidFill>
                  <a:srgbClr val="FFFFFF"/>
                </a:solidFill>
                <a:latin typeface="MS Gothic"/>
                <a:cs typeface="MS Gothic"/>
              </a:rPr>
              <a:t>の勉✲はまだできていません</a:t>
            </a:r>
            <a:endParaRPr baseline="-21825" sz="21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46659" y="437133"/>
            <a:ext cx="2263140" cy="696595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u="none" spc="-15"/>
              <a:t>技術選定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487921" y="2850133"/>
            <a:ext cx="11021060" cy="1850389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40640" rIns="0" bIns="0" rtlCol="0" vert="horz">
            <a:spAutoFit/>
          </a:bodyPr>
          <a:lstStyle/>
          <a:p>
            <a:pPr marL="205740" marR="822960">
              <a:lnSpc>
                <a:spcPct val="119700"/>
              </a:lnSpc>
              <a:spcBef>
                <a:spcPts val="320"/>
              </a:spcBef>
            </a:pP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自作モデルフォーマットを作成して、バイナリーデータで持つ</a:t>
            </a:r>
            <a:r>
              <a:rPr dirty="0" sz="2800" spc="-15">
                <a:solidFill>
                  <a:srgbClr val="FFFFFF"/>
                </a:solidFill>
                <a:latin typeface="MS Gothic"/>
                <a:cs typeface="MS Gothic"/>
              </a:rPr>
              <a:t>スレッド処理</a:t>
            </a:r>
            <a:r>
              <a:rPr dirty="0" sz="2800" spc="-10" b="1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バッファの生成とオブジェクトロードを</a:t>
            </a:r>
            <a:endParaRPr sz="2800">
              <a:latin typeface="MS Gothic"/>
              <a:cs typeface="MS Gothic"/>
            </a:endParaRPr>
          </a:p>
          <a:p>
            <a:pPr marL="5422900">
              <a:lnSpc>
                <a:spcPts val="3025"/>
              </a:lnSpc>
            </a:pPr>
            <a:r>
              <a:rPr dirty="0" sz="2800" spc="-30">
                <a:solidFill>
                  <a:srgbClr val="FFFFFF"/>
                </a:solidFill>
                <a:latin typeface="MS Gothic"/>
                <a:cs typeface="MS Gothic"/>
              </a:rPr>
              <a:t>別スレッドで行うようにしたい</a:t>
            </a:r>
            <a:r>
              <a:rPr dirty="0" sz="2800" spc="-50" b="1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sz="2800">
              <a:latin typeface="Arial"/>
              <a:cs typeface="Arial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445109" y="2207132"/>
            <a:ext cx="4291330" cy="4521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ロード最適化のための技術</a:t>
            </a:r>
            <a:endParaRPr sz="2800">
              <a:latin typeface="MS Gothic"/>
              <a:cs typeface="MS Gothic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5093970" y="2459227"/>
            <a:ext cx="2693670" cy="239395"/>
          </a:xfrm>
          <a:prstGeom prst="rect">
            <a:avLst/>
          </a:prstGeom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z="1400" spc="-20">
                <a:solidFill>
                  <a:srgbClr val="FFFFFF"/>
                </a:solidFill>
                <a:latin typeface="MS Gothic"/>
                <a:cs typeface="MS Gothic"/>
              </a:rPr>
              <a:t>❦ちらは全然勉✲できていません</a:t>
            </a:r>
            <a:endParaRPr sz="14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867535" y="2172970"/>
            <a:ext cx="8457565" cy="1631950"/>
          </a:xfrm>
          <a:prstGeom prst="rect"/>
          <a:ln w="38100">
            <a:solidFill>
              <a:srgbClr val="FFFFFF"/>
            </a:solidFill>
          </a:ln>
        </p:spPr>
        <p:txBody>
          <a:bodyPr wrap="square" lIns="0" tIns="267335" rIns="0" bIns="0" rtlCol="0" vert="horz">
            <a:spAutoFit/>
          </a:bodyPr>
          <a:lstStyle/>
          <a:p>
            <a:pPr marL="1681480" marR="151130" indent="-1529080">
              <a:lnSpc>
                <a:spcPts val="4320"/>
              </a:lnSpc>
              <a:spcBef>
                <a:spcPts val="2105"/>
              </a:spcBef>
            </a:pPr>
            <a:r>
              <a:rPr dirty="0" u="heavy" sz="4000" spc="-45">
                <a:uFill>
                  <a:solidFill>
                    <a:srgbClr val="FFFFFF"/>
                  </a:solidFill>
                </a:uFill>
              </a:rPr>
              <a:t>今制作している描画マネージャーの</a:t>
            </a:r>
            <a:r>
              <a:rPr dirty="0" u="heavy" sz="4000" spc="1000">
                <a:uFill>
                  <a:solidFill>
                    <a:srgbClr val="FFFFFF"/>
                  </a:solidFill>
                </a:uFill>
              </a:rPr>
              <a:t>            </a:t>
            </a:r>
            <a:r>
              <a:rPr dirty="0" u="heavy" sz="4000" spc="-40">
                <a:uFill>
                  <a:solidFill>
                    <a:srgbClr val="FFFFFF"/>
                  </a:solidFill>
                </a:uFill>
              </a:rPr>
              <a:t>アピールポイント紹介</a:t>
            </a:r>
            <a:endParaRPr sz="4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5"/>
              <a:t>プラットフォーム非依存設計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78739" y="2134075"/>
            <a:ext cx="9776460" cy="3949065"/>
          </a:xfrm>
          <a:prstGeom prst="rect">
            <a:avLst/>
          </a:prstGeom>
        </p:spPr>
        <p:txBody>
          <a:bodyPr wrap="square" lIns="0" tIns="29209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29"/>
              </a:spcBef>
            </a:pPr>
            <a:r>
              <a:rPr dirty="0" sz="2200" spc="-35">
                <a:solidFill>
                  <a:srgbClr val="FFFFFF"/>
                </a:solidFill>
                <a:latin typeface="MS Gothic"/>
                <a:cs typeface="MS Gothic"/>
              </a:rPr>
              <a:t>プラットフォーム固有の要素をラッパー構造体として定義する❦とで、</a:t>
            </a: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200" spc="-35">
                <a:solidFill>
                  <a:srgbClr val="FFFFFF"/>
                </a:solidFill>
                <a:latin typeface="MS Gothic"/>
                <a:cs typeface="MS Gothic"/>
              </a:rPr>
              <a:t>プラットフォームが変更されても</a:t>
            </a: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2200" spc="-20">
                <a:solidFill>
                  <a:srgbClr val="FFFFFF"/>
                </a:solidFill>
                <a:latin typeface="MS Gothic"/>
                <a:cs typeface="MS Gothic"/>
              </a:rPr>
              <a:t>ゲーム基盤</a:t>
            </a:r>
            <a:r>
              <a:rPr dirty="0" sz="2200" spc="-25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dirty="0" sz="2200" spc="-25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dirty="0" sz="2200" spc="-25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r>
              <a:rPr dirty="0" sz="2200" spc="-35">
                <a:solidFill>
                  <a:srgbClr val="FFFFFF"/>
                </a:solidFill>
                <a:latin typeface="MS Gothic"/>
                <a:cs typeface="MS Gothic"/>
              </a:rPr>
              <a:t>を改修せずに動作させる❦とを可能にしています。</a:t>
            </a:r>
            <a:endParaRPr sz="22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850"/>
              </a:spcBef>
            </a:pP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sz="2200" spc="-35">
                <a:solidFill>
                  <a:srgbClr val="FFFFFF"/>
                </a:solidFill>
                <a:latin typeface="MS Gothic"/>
                <a:cs typeface="MS Gothic"/>
              </a:rPr>
              <a:t>計算用構造体は共通のデータ形式を保持し、</a:t>
            </a: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200" spc="-35">
                <a:solidFill>
                  <a:srgbClr val="FFFFFF"/>
                </a:solidFill>
                <a:latin typeface="MS Gothic"/>
                <a:cs typeface="MS Gothic"/>
              </a:rPr>
              <a:t>処理部分をプラットフォーム依存として分離する❦とで、</a:t>
            </a:r>
            <a:endParaRPr sz="2200">
              <a:latin typeface="MS Gothic"/>
              <a:cs typeface="MS Gothic"/>
            </a:endParaRPr>
          </a:p>
          <a:p>
            <a:pPr marL="12700" marR="4448810">
              <a:lnSpc>
                <a:spcPct val="105000"/>
              </a:lnSpc>
            </a:pPr>
            <a:r>
              <a:rPr dirty="0" sz="2200" spc="-35">
                <a:solidFill>
                  <a:srgbClr val="FFFFFF"/>
                </a:solidFill>
                <a:latin typeface="MS Gothic"/>
                <a:cs typeface="MS Gothic"/>
              </a:rPr>
              <a:t>各プラットフォームに最適化された実装へ容易に切り替えられる設計としています。</a:t>
            </a:r>
            <a:endParaRPr sz="22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2490"/>
              </a:spcBef>
            </a:pPr>
            <a:endParaRPr sz="22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</a:pPr>
            <a:r>
              <a:rPr dirty="0" sz="2200" spc="-35">
                <a:solidFill>
                  <a:srgbClr val="FFFFFF"/>
                </a:solidFill>
                <a:latin typeface="MS Gothic"/>
                <a:cs typeface="MS Gothic"/>
              </a:rPr>
              <a:t>入力情報なども同じように制作予定です。</a:t>
            </a:r>
            <a:endParaRPr sz="2200">
              <a:latin typeface="MS Gothic"/>
              <a:cs typeface="MS Gothic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64930" y="3271240"/>
            <a:ext cx="2640329" cy="33850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8739" y="603884"/>
            <a:ext cx="7288530" cy="696595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5"/>
              <a:t>プラットフォーム非依存設計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196697" y="1665280"/>
            <a:ext cx="11824970" cy="3581400"/>
          </a:xfrm>
          <a:prstGeom prst="rect">
            <a:avLst/>
          </a:prstGeom>
        </p:spPr>
        <p:txBody>
          <a:bodyPr wrap="square" lIns="0" tIns="2203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735"/>
              </a:spcBef>
            </a:pP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描画マネージャーは基底クラスを抽象インターフェイスとして定義し、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635"/>
              </a:spcBef>
            </a:pPr>
            <a:r>
              <a:rPr dirty="0" sz="2400" spc="-20" b="1">
                <a:solidFill>
                  <a:srgbClr val="FFFFFF"/>
                </a:solidFill>
                <a:latin typeface="Arial"/>
                <a:cs typeface="Arial"/>
              </a:rPr>
              <a:t>GameMain</a:t>
            </a:r>
            <a:r>
              <a:rPr dirty="0" sz="2400">
                <a:solidFill>
                  <a:srgbClr val="FFFFFF"/>
                </a:solidFill>
                <a:latin typeface="MS Gothic"/>
                <a:cs typeface="MS Gothic"/>
              </a:rPr>
              <a:t>が</a:t>
            </a:r>
            <a:r>
              <a:rPr dirty="0" sz="2400" spc="-20" b="1">
                <a:solidFill>
                  <a:srgbClr val="FFFFFF"/>
                </a:solidFill>
                <a:latin typeface="Arial"/>
                <a:cs typeface="Arial"/>
              </a:rPr>
              <a:t>DirectX</a:t>
            </a: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などの具体的な実装を意識せずに動作できるようにしています。</a:t>
            </a:r>
            <a:endParaRPr sz="24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2640"/>
              </a:spcBef>
            </a:pPr>
            <a:endParaRPr sz="2400">
              <a:latin typeface="MS Gothic"/>
              <a:cs typeface="MS Gothic"/>
            </a:endParaRPr>
          </a:p>
          <a:p>
            <a:pPr marL="12700" marR="5708015">
              <a:lnSpc>
                <a:spcPct val="114999"/>
              </a:lnSpc>
            </a:pP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プラットフォームごとに描画マネージャーを</a:t>
            </a:r>
            <a:r>
              <a:rPr dirty="0" sz="2400">
                <a:solidFill>
                  <a:srgbClr val="FFFFFF"/>
                </a:solidFill>
                <a:latin typeface="MS Gothic"/>
                <a:cs typeface="MS Gothic"/>
              </a:rPr>
              <a:t>変更する仕組みにし、新しい</a:t>
            </a:r>
            <a:r>
              <a:rPr dirty="0" sz="2400" spc="-1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dirty="0" sz="2400" spc="-50">
                <a:solidFill>
                  <a:srgbClr val="FFFFFF"/>
                </a:solidFill>
                <a:latin typeface="MS Gothic"/>
                <a:cs typeface="MS Gothic"/>
              </a:rPr>
              <a:t>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追加する際も、既存のゲーム基盤を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430"/>
              </a:spcBef>
            </a:pPr>
            <a:r>
              <a:rPr dirty="0" sz="2400" spc="-5">
                <a:solidFill>
                  <a:srgbClr val="FFFFFF"/>
                </a:solidFill>
                <a:latin typeface="MS Gothic"/>
                <a:cs typeface="MS Gothic"/>
              </a:rPr>
              <a:t>改修せずに拡張できる設計になっています。</a:t>
            </a:r>
            <a:endParaRPr sz="2400">
              <a:latin typeface="MS Gothic"/>
              <a:cs typeface="MS Gothic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75473" y="2996298"/>
            <a:ext cx="4423156" cy="37150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8404225" cy="69723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5"/>
              <a:t>リソース管理とマネージャー構成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595985" y="1708149"/>
            <a:ext cx="7132955" cy="3978910"/>
          </a:xfrm>
          <a:prstGeom prst="rect">
            <a:avLst/>
          </a:prstGeom>
        </p:spPr>
        <p:txBody>
          <a:bodyPr wrap="square" lIns="0" tIns="60960" rIns="0" bIns="0" rtlCol="0" vert="horz">
            <a:spAutoFit/>
          </a:bodyPr>
          <a:lstStyle/>
          <a:p>
            <a:pPr marL="12700" marR="5080">
              <a:lnSpc>
                <a:spcPts val="3020"/>
              </a:lnSpc>
              <a:spcBef>
                <a:spcPts val="480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同じリソースを重複して作成しないように</a:t>
            </a:r>
            <a:r>
              <a:rPr dirty="0" sz="2800" spc="-50">
                <a:solidFill>
                  <a:srgbClr val="FFFFFF"/>
                </a:solidFill>
                <a:latin typeface="MS Gothic"/>
                <a:cs typeface="MS Gothic"/>
              </a:rPr>
              <a:t> </a:t>
            </a: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名前をキーにして保持する設計しています。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450"/>
              </a:spcBef>
            </a:pPr>
            <a:endParaRPr sz="2800">
              <a:latin typeface="MS Gothic"/>
              <a:cs typeface="MS Gothic"/>
            </a:endParaRPr>
          </a:p>
          <a:p>
            <a:pPr marL="12700" marR="2136140">
              <a:lnSpc>
                <a:spcPts val="3020"/>
              </a:lnSpc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リソースごとにマネージャーを作成して管理させています。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endParaRPr sz="280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一度作成したリソースを</a:t>
            </a:r>
            <a:endParaRPr sz="2800">
              <a:latin typeface="MS Gothic"/>
              <a:cs typeface="MS Gothic"/>
            </a:endParaRPr>
          </a:p>
          <a:p>
            <a:pPr marL="12700" marR="1781175">
              <a:lnSpc>
                <a:spcPts val="3020"/>
              </a:lnSpc>
              <a:spcBef>
                <a:spcPts val="215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再利用させて、不必要なメモリを取らないようにしています。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4940" y="2611498"/>
            <a:ext cx="5503672" cy="42464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42671" y="482041"/>
            <a:ext cx="3936365" cy="697230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5"/>
              <a:t>描画処理の流れ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897432" y="1355597"/>
            <a:ext cx="1517015" cy="391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1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" name="object 4" descr=""/>
          <p:cNvSpPr txBox="1"/>
          <p:nvPr/>
        </p:nvSpPr>
        <p:spPr>
          <a:xfrm>
            <a:off x="1150416" y="1719833"/>
            <a:ext cx="327660" cy="793750"/>
          </a:xfrm>
          <a:prstGeom prst="rect">
            <a:avLst/>
          </a:prstGeom>
        </p:spPr>
        <p:txBody>
          <a:bodyPr wrap="square" lIns="0" tIns="31114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244"/>
              </a:spcBef>
            </a:pPr>
            <a:r>
              <a:rPr dirty="0" sz="2400" spc="-965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dirty="0" sz="2400" spc="-5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897432" y="2504389"/>
            <a:ext cx="4629785" cy="1924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25">
                <a:solidFill>
                  <a:srgbClr val="FFFFFF"/>
                </a:solidFill>
                <a:latin typeface="Arial MT"/>
                <a:cs typeface="Arial MT"/>
              </a:rPr>
              <a:t>BaseDrawManager</a:t>
            </a:r>
            <a:r>
              <a:rPr dirty="0" sz="2400" spc="-25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dirty="0" sz="2400" spc="-10">
                <a:solidFill>
                  <a:srgbClr val="FFFFFF"/>
                </a:solidFill>
                <a:latin typeface="MS Gothic"/>
                <a:cs typeface="MS Gothic"/>
              </a:rPr>
              <a:t>抽象層</a:t>
            </a:r>
            <a:r>
              <a:rPr dirty="0" sz="2400" spc="-5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dirty="0" sz="2400" spc="-965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  <a:p>
            <a:pPr marL="265430">
              <a:lnSpc>
                <a:spcPct val="100000"/>
              </a:lnSpc>
              <a:spcBef>
                <a:spcPts val="145"/>
              </a:spcBef>
            </a:pPr>
            <a:r>
              <a:rPr dirty="0" sz="2400" spc="-50">
                <a:solidFill>
                  <a:srgbClr val="FFFFFF"/>
                </a:solidFill>
                <a:latin typeface="Arial MT"/>
                <a:cs typeface="Arial MT"/>
              </a:rPr>
              <a:t>▼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400" spc="-20">
                <a:solidFill>
                  <a:srgbClr val="FFFFFF"/>
                </a:solidFill>
                <a:latin typeface="Arial MT"/>
                <a:cs typeface="Arial MT"/>
              </a:rPr>
              <a:t>DirectX_DrawManager</a:t>
            </a:r>
            <a:r>
              <a:rPr dirty="0" sz="2400" spc="-2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dirty="0" sz="2400" spc="-10">
                <a:solidFill>
                  <a:srgbClr val="FFFFFF"/>
                </a:solidFill>
                <a:latin typeface="MS Gothic"/>
                <a:cs typeface="MS Gothic"/>
              </a:rPr>
              <a:t>実装層</a:t>
            </a:r>
            <a:r>
              <a:rPr dirty="0" sz="2400" spc="-5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265430">
              <a:lnSpc>
                <a:spcPct val="100000"/>
              </a:lnSpc>
              <a:spcBef>
                <a:spcPts val="135"/>
              </a:spcBef>
            </a:pPr>
            <a:r>
              <a:rPr dirty="0" sz="2400" spc="-965">
                <a:solidFill>
                  <a:srgbClr val="FFFFFF"/>
                </a:solidFill>
                <a:latin typeface="Arial MT"/>
                <a:cs typeface="Arial MT"/>
              </a:rPr>
              <a:t>│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1150416" y="4420870"/>
            <a:ext cx="7108190" cy="1923414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2400" spc="-515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dirty="0" sz="2400" spc="-25">
                <a:solidFill>
                  <a:srgbClr val="FFFFFF"/>
                </a:solidFill>
                <a:latin typeface="Arial MT"/>
                <a:cs typeface="Arial MT"/>
              </a:rPr>
              <a:t>ShaderManager(</a:t>
            </a:r>
            <a:r>
              <a:rPr dirty="0" sz="2400">
                <a:solidFill>
                  <a:srgbClr val="FFFFFF"/>
                </a:solidFill>
                <a:latin typeface="MS Gothic"/>
                <a:cs typeface="MS Gothic"/>
              </a:rPr>
              <a:t>リフレクション情報を取得</a:t>
            </a:r>
            <a:r>
              <a:rPr dirty="0" sz="2400" spc="-5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400" spc="-48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dirty="0" sz="2400" spc="-20">
                <a:solidFill>
                  <a:srgbClr val="FFFFFF"/>
                </a:solidFill>
                <a:latin typeface="Arial MT"/>
                <a:cs typeface="Arial MT"/>
              </a:rPr>
              <a:t>ConstantBufferManager(Shader</a:t>
            </a:r>
            <a:r>
              <a:rPr dirty="0" sz="2400">
                <a:solidFill>
                  <a:srgbClr val="FFFFFF"/>
                </a:solidFill>
                <a:latin typeface="MS Gothic"/>
                <a:cs typeface="MS Gothic"/>
              </a:rPr>
              <a:t>から名前検索</a:t>
            </a:r>
            <a:r>
              <a:rPr dirty="0" sz="2400" spc="-5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400" spc="-490">
                <a:solidFill>
                  <a:srgbClr val="FFFFFF"/>
                </a:solidFill>
                <a:latin typeface="Arial MT"/>
                <a:cs typeface="Arial MT"/>
              </a:rPr>
              <a:t>├── </a:t>
            </a:r>
            <a:r>
              <a:rPr dirty="0" sz="2400" spc="-20">
                <a:solidFill>
                  <a:srgbClr val="FFFFFF"/>
                </a:solidFill>
                <a:latin typeface="Arial MT"/>
                <a:cs typeface="Arial MT"/>
              </a:rPr>
              <a:t>VertexBufferManager</a:t>
            </a:r>
            <a:r>
              <a:rPr dirty="0" sz="2400" spc="-2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dirty="0" sz="2400" spc="-10">
                <a:solidFill>
                  <a:srgbClr val="FFFFFF"/>
                </a:solidFill>
                <a:latin typeface="MS Gothic"/>
                <a:cs typeface="MS Gothic"/>
              </a:rPr>
              <a:t>頂点シェーダ名で検索</a:t>
            </a:r>
            <a:r>
              <a:rPr dirty="0" sz="2400" spc="-5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0"/>
              </a:spcBef>
            </a:pPr>
            <a:r>
              <a:rPr dirty="0" sz="2400" spc="-535">
                <a:solidFill>
                  <a:srgbClr val="FFFFFF"/>
                </a:solidFill>
                <a:latin typeface="Arial MT"/>
                <a:cs typeface="Arial MT"/>
              </a:rPr>
              <a:t>└── </a:t>
            </a:r>
            <a:r>
              <a:rPr dirty="0" sz="2400" spc="-20">
                <a:solidFill>
                  <a:srgbClr val="FFFFFF"/>
                </a:solidFill>
                <a:latin typeface="Arial MT"/>
                <a:cs typeface="Arial MT"/>
              </a:rPr>
              <a:t>ViewManager</a:t>
            </a:r>
            <a:r>
              <a:rPr dirty="0" sz="2400" spc="-20">
                <a:solidFill>
                  <a:srgbClr val="FFFFFF"/>
                </a:solidFill>
                <a:latin typeface="MS Gothic"/>
                <a:cs typeface="MS Gothic"/>
              </a:rPr>
              <a:t>（</a:t>
            </a:r>
            <a:r>
              <a:rPr dirty="0" sz="2400">
                <a:solidFill>
                  <a:srgbClr val="FFFFFF"/>
                </a:solidFill>
                <a:latin typeface="MS Gothic"/>
                <a:cs typeface="MS Gothic"/>
              </a:rPr>
              <a:t>テクスチャ名から取得</a:t>
            </a:r>
            <a:r>
              <a:rPr dirty="0" sz="2400" spc="-50">
                <a:solidFill>
                  <a:srgbClr val="FFFFFF"/>
                </a:solidFill>
                <a:latin typeface="MS Gothic"/>
                <a:cs typeface="MS Gothic"/>
              </a:rPr>
              <a:t>）</a:t>
            </a:r>
            <a:endParaRPr sz="2400">
              <a:latin typeface="MS Gothic"/>
              <a:cs typeface="MS Gothic"/>
            </a:endParaRPr>
          </a:p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2400" spc="-720">
                <a:solidFill>
                  <a:srgbClr val="FFFFFF"/>
                </a:solidFill>
                <a:latin typeface="Arial MT"/>
                <a:cs typeface="Arial MT"/>
              </a:rPr>
              <a:t>└──</a:t>
            </a:r>
            <a:r>
              <a:rPr dirty="0" sz="2400" spc="-2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2400" spc="-10">
                <a:solidFill>
                  <a:srgbClr val="FFFFFF"/>
                </a:solidFill>
                <a:latin typeface="Arial MT"/>
                <a:cs typeface="Arial MT"/>
              </a:rPr>
              <a:t>TextureManager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4615560" y="886764"/>
            <a:ext cx="7576820" cy="64706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41275" rIns="0" bIns="0" rtlCol="0" vert="horz">
            <a:spAutoFit/>
          </a:bodyPr>
          <a:lstStyle/>
          <a:p>
            <a:pPr marL="92075">
              <a:lnSpc>
                <a:spcPct val="100000"/>
              </a:lnSpc>
              <a:spcBef>
                <a:spcPts val="325"/>
              </a:spcBef>
            </a:pPr>
            <a:r>
              <a:rPr dirty="0" sz="1800">
                <a:solidFill>
                  <a:srgbClr val="FFFFFF"/>
                </a:solidFill>
                <a:latin typeface="Arial MT"/>
                <a:cs typeface="Arial MT"/>
              </a:rPr>
              <a:t>GameMain</a:t>
            </a:r>
            <a:r>
              <a:rPr dirty="0" sz="1800" spc="-35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800" spc="-135">
                <a:solidFill>
                  <a:srgbClr val="FFFFFF"/>
                </a:solidFill>
                <a:latin typeface="MS Gothic"/>
                <a:cs typeface="MS Gothic"/>
              </a:rPr>
              <a:t>から </a:t>
            </a:r>
            <a:r>
              <a:rPr dirty="0" sz="180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dirty="0" sz="1800" spc="-2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非依存の描画命令を送信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dirty="0" sz="1800" spc="-10">
                <a:solidFill>
                  <a:srgbClr val="FFFFFF"/>
                </a:solidFill>
                <a:latin typeface="MS Gothic"/>
                <a:cs typeface="MS Gothic"/>
              </a:rPr>
              <a:t>❦の流れを共通化し、</a:t>
            </a:r>
            <a:r>
              <a:rPr dirty="0" sz="1800" spc="-10">
                <a:solidFill>
                  <a:srgbClr val="FFFFFF"/>
                </a:solidFill>
                <a:latin typeface="Arial MT"/>
                <a:cs typeface="Arial MT"/>
              </a:rPr>
              <a:t>API</a:t>
            </a:r>
            <a:r>
              <a:rPr dirty="0" sz="1800" spc="-15">
                <a:solidFill>
                  <a:srgbClr val="FFFFFF"/>
                </a:solidFill>
                <a:latin typeface="MS Gothic"/>
                <a:cs typeface="MS Gothic"/>
              </a:rPr>
              <a:t>差し替えを容易にできるように設計しました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8" name="object 8" descr=""/>
          <p:cNvSpPr txBox="1"/>
          <p:nvPr/>
        </p:nvSpPr>
        <p:spPr>
          <a:xfrm>
            <a:off x="6255511" y="2967240"/>
            <a:ext cx="5614670" cy="92392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41910" rIns="0" bIns="0" rtlCol="0" vert="horz">
            <a:spAutoFit/>
          </a:bodyPr>
          <a:lstStyle/>
          <a:p>
            <a:pPr marL="92075" marR="256540">
              <a:lnSpc>
                <a:spcPct val="100000"/>
              </a:lnSpc>
              <a:spcBef>
                <a:spcPts val="330"/>
              </a:spcBef>
            </a:pP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現在は、描画に必要な名前を引数で渡しているが、</a:t>
            </a:r>
            <a:r>
              <a:rPr dirty="0" sz="1800">
                <a:solidFill>
                  <a:srgbClr val="FFFFFF"/>
                </a:solidFill>
                <a:latin typeface="MS Gothic"/>
                <a:cs typeface="MS Gothic"/>
              </a:rPr>
              <a:t>将来的には、描画</a:t>
            </a:r>
            <a:r>
              <a:rPr dirty="0" sz="1800" spc="-10">
                <a:solidFill>
                  <a:srgbClr val="FFFFFF"/>
                </a:solidFill>
                <a:latin typeface="Arial MT"/>
                <a:cs typeface="Arial MT"/>
              </a:rPr>
              <a:t>ID</a:t>
            </a: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で描画してオブジェクトが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</a:pP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知らないようにしたいと思っています。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9" name="object 9" descr=""/>
          <p:cNvSpPr txBox="1"/>
          <p:nvPr/>
        </p:nvSpPr>
        <p:spPr>
          <a:xfrm>
            <a:off x="1553083" y="1806917"/>
            <a:ext cx="3062605" cy="65087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118745" rIns="0" bIns="0" rtlCol="0" vert="horz">
            <a:spAutoFit/>
          </a:bodyPr>
          <a:lstStyle/>
          <a:p>
            <a:pPr marL="91440" marR="219710">
              <a:lnSpc>
                <a:spcPts val="2060"/>
              </a:lnSpc>
              <a:spcBef>
                <a:spcPts val="935"/>
              </a:spcBef>
            </a:pP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シェーダー名、テクスチャ</a:t>
            </a:r>
            <a:r>
              <a:rPr dirty="0" sz="1800" spc="-10">
                <a:solidFill>
                  <a:srgbClr val="FFFFFF"/>
                </a:solidFill>
                <a:latin typeface="MS Gothic"/>
                <a:cs typeface="MS Gothic"/>
              </a:rPr>
              <a:t>名、モデル名を渡す</a:t>
            </a:r>
            <a:endParaRPr sz="1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5"/>
              <a:t>シェーダーのリフレクション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595985" y="1509724"/>
            <a:ext cx="11420475" cy="262763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シェーダーリフレクションによる自動バインド設計</a:t>
            </a:r>
            <a:endParaRPr sz="2800">
              <a:latin typeface="MS Gothic"/>
              <a:cs typeface="MS Gothic"/>
            </a:endParaRPr>
          </a:p>
          <a:p>
            <a:pPr>
              <a:lnSpc>
                <a:spcPct val="100000"/>
              </a:lnSpc>
              <a:spcBef>
                <a:spcPts val="1110"/>
              </a:spcBef>
            </a:pPr>
            <a:endParaRPr sz="2800">
              <a:latin typeface="MS Gothic"/>
              <a:cs typeface="MS Gothic"/>
            </a:endParaRPr>
          </a:p>
          <a:p>
            <a:pPr marL="12700">
              <a:lnSpc>
                <a:spcPts val="3190"/>
              </a:lnSpc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シェーダーファイルをリフレクション解析して、</a:t>
            </a:r>
            <a:endParaRPr sz="2800">
              <a:latin typeface="MS Gothic"/>
              <a:cs typeface="MS Gothic"/>
            </a:endParaRPr>
          </a:p>
          <a:p>
            <a:pPr marL="12700" marR="1091565">
              <a:lnSpc>
                <a:spcPts val="3030"/>
              </a:lnSpc>
              <a:spcBef>
                <a:spcPts val="204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各シェーダーが使用する定数バッファ名・スロット番号を自動で取得しています。❦れにより、描画時に手動でスロットを</a:t>
            </a:r>
            <a:endParaRPr sz="2800">
              <a:latin typeface="MS Gothic"/>
              <a:cs typeface="MS Gothic"/>
            </a:endParaRPr>
          </a:p>
          <a:p>
            <a:pPr marL="12700">
              <a:lnSpc>
                <a:spcPts val="2975"/>
              </a:lnSpc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設定する手間を省き、定数バッファの自動バインドを実現しています。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33850" y="4286248"/>
            <a:ext cx="8058150" cy="257174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25"/>
              <a:t>意識して開発していると❦ろ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999236" y="2033142"/>
            <a:ext cx="7133590" cy="1220470"/>
          </a:xfrm>
          <a:prstGeom prst="rect">
            <a:avLst/>
          </a:prstGeom>
        </p:spPr>
        <p:txBody>
          <a:bodyPr wrap="square" lIns="0" tIns="60960" rIns="0" bIns="0" rtlCol="0" vert="horz">
            <a:spAutoFit/>
          </a:bodyPr>
          <a:lstStyle/>
          <a:p>
            <a:pPr marL="368935" marR="360045" indent="-356870">
              <a:lnSpc>
                <a:spcPts val="3020"/>
              </a:lnSpc>
              <a:spcBef>
                <a:spcPts val="480"/>
              </a:spcBef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スレッドの勉✲を全くできていないため、オブジェクト指向を✲く意識して、</a:t>
            </a:r>
            <a:endParaRPr sz="2800">
              <a:latin typeface="MS Gothic"/>
              <a:cs typeface="MS Gothic"/>
            </a:endParaRPr>
          </a:p>
          <a:p>
            <a:pPr marL="723900">
              <a:lnSpc>
                <a:spcPts val="2985"/>
              </a:lnSpc>
            </a:pPr>
            <a:r>
              <a:rPr dirty="0" sz="2800" spc="-40">
                <a:solidFill>
                  <a:srgbClr val="FFFFFF"/>
                </a:solidFill>
                <a:latin typeface="MS Gothic"/>
                <a:cs typeface="MS Gothic"/>
              </a:rPr>
              <a:t>後から修正しやすいようにしています。</a:t>
            </a:r>
            <a:endParaRPr sz="2800">
              <a:latin typeface="MS Gothic"/>
              <a:cs typeface="MS Gothic"/>
            </a:endParaRPr>
          </a:p>
        </p:txBody>
      </p:sp>
      <p:pic>
        <p:nvPicPr>
          <p:cNvPr id="4" name="object 4" descr="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16750" y="3969829"/>
            <a:ext cx="3955161" cy="20671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53313" y="547877"/>
            <a:ext cx="4497070" cy="696595"/>
          </a:xfrm>
          <a:prstGeom prst="rect"/>
        </p:spPr>
        <p:txBody>
          <a:bodyPr wrap="square" lIns="0" tIns="133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dirty="0" spc="-15"/>
              <a:t>今後制作するもの</a:t>
            </a:r>
          </a:p>
        </p:txBody>
      </p:sp>
      <p:sp>
        <p:nvSpPr>
          <p:cNvPr id="3" name="object 3" descr="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ts val="3025"/>
              </a:lnSpc>
              <a:spcBef>
                <a:spcPts val="95"/>
              </a:spcBef>
            </a:pPr>
            <a:r>
              <a:rPr dirty="0" spc="-40"/>
              <a:t>・描画マネージャー</a:t>
            </a:r>
          </a:p>
          <a:p>
            <a:pPr marL="368935">
              <a:lnSpc>
                <a:spcPts val="3025"/>
              </a:lnSpc>
            </a:pPr>
            <a:r>
              <a:rPr dirty="0" spc="-40"/>
              <a:t>・自作フォーマアットモデル</a:t>
            </a:r>
          </a:p>
          <a:p>
            <a:pPr marL="368935">
              <a:lnSpc>
                <a:spcPct val="100000"/>
              </a:lnSpc>
              <a:spcBef>
                <a:spcPts val="335"/>
              </a:spcBef>
            </a:pPr>
            <a:r>
              <a:rPr dirty="0" spc="-40"/>
              <a:t>・モデルロードモジュール</a:t>
            </a:r>
          </a:p>
          <a:p>
            <a:pPr marL="368935">
              <a:lnSpc>
                <a:spcPct val="100000"/>
              </a:lnSpc>
              <a:spcBef>
                <a:spcPts val="325"/>
              </a:spcBef>
            </a:pPr>
            <a:r>
              <a:rPr dirty="0" spc="-40"/>
              <a:t>・モデルマネージャー</a:t>
            </a:r>
          </a:p>
          <a:p>
            <a:pPr marL="368935">
              <a:lnSpc>
                <a:spcPct val="100000"/>
              </a:lnSpc>
              <a:spcBef>
                <a:spcPts val="325"/>
              </a:spcBef>
            </a:pPr>
            <a:r>
              <a:rPr dirty="0" spc="-40"/>
              <a:t>・モデルデータクラス</a:t>
            </a:r>
          </a:p>
        </p:txBody>
      </p:sp>
      <p:sp>
        <p:nvSpPr>
          <p:cNvPr id="4" name="object 4" descr=""/>
          <p:cNvSpPr txBox="1"/>
          <p:nvPr/>
        </p:nvSpPr>
        <p:spPr>
          <a:xfrm>
            <a:off x="908405" y="4353509"/>
            <a:ext cx="6313805" cy="4521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・バッチ処理</a:t>
            </a:r>
            <a:r>
              <a:rPr dirty="0" sz="2800" spc="-10">
                <a:solidFill>
                  <a:srgbClr val="FFFFFF"/>
                </a:solidFill>
                <a:latin typeface="Arial MT"/>
                <a:cs typeface="Arial MT"/>
              </a:rPr>
              <a:t>(</a:t>
            </a:r>
            <a:r>
              <a:rPr dirty="0" sz="2800" spc="-35">
                <a:solidFill>
                  <a:srgbClr val="FFFFFF"/>
                </a:solidFill>
                <a:latin typeface="MS Gothic"/>
                <a:cs typeface="MS Gothic"/>
              </a:rPr>
              <a:t>インスタンシングの予定</a:t>
            </a:r>
            <a:r>
              <a:rPr dirty="0" sz="2800" spc="-5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3551935" y="5630455"/>
            <a:ext cx="4904105" cy="369570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42544" rIns="0" bIns="0" rtlCol="0" vert="horz">
            <a:spAutoFit/>
          </a:bodyPr>
          <a:lstStyle/>
          <a:p>
            <a:pPr marL="91440">
              <a:lnSpc>
                <a:spcPct val="100000"/>
              </a:lnSpc>
              <a:spcBef>
                <a:spcPts val="334"/>
              </a:spcBef>
            </a:pPr>
            <a:r>
              <a:rPr dirty="0" sz="1800">
                <a:solidFill>
                  <a:srgbClr val="FFFFFF"/>
                </a:solidFill>
                <a:latin typeface="MS Gothic"/>
                <a:cs typeface="MS Gothic"/>
              </a:rPr>
              <a:t>ロード読込みの開発が</a:t>
            </a:r>
            <a:r>
              <a:rPr dirty="0" sz="1800" spc="-10">
                <a:solidFill>
                  <a:srgbClr val="FFFFFF"/>
                </a:solidFill>
                <a:latin typeface="Arial MT"/>
                <a:cs typeface="Arial MT"/>
              </a:rPr>
              <a:t>1</a:t>
            </a: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つも進んでいません。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6003797" y="3198253"/>
            <a:ext cx="6054725" cy="92392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41275" rIns="0" bIns="0" rtlCol="0" vert="horz">
            <a:spAutoFit/>
          </a:bodyPr>
          <a:lstStyle/>
          <a:p>
            <a:pPr algn="just" marL="92075" marR="696595">
              <a:lnSpc>
                <a:spcPct val="100000"/>
              </a:lnSpc>
              <a:spcBef>
                <a:spcPts val="325"/>
              </a:spcBef>
            </a:pPr>
            <a:r>
              <a:rPr dirty="0" sz="1800" spc="-15">
                <a:solidFill>
                  <a:srgbClr val="FFFFFF"/>
                </a:solidFill>
                <a:latin typeface="MS Gothic"/>
                <a:cs typeface="MS Gothic"/>
              </a:rPr>
              <a:t>まだモデルのロードと、サンプラーマネージャーが</a:t>
            </a: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ないためサンプラーを共有する❦とが出来ないためそ❦を制作したいと思っています。</a:t>
            </a:r>
            <a:endParaRPr sz="1800">
              <a:latin typeface="MS Gothic"/>
              <a:cs typeface="MS Gothic"/>
            </a:endParaRPr>
          </a:p>
        </p:txBody>
      </p:sp>
      <p:sp>
        <p:nvSpPr>
          <p:cNvPr id="7" name="object 7" descr=""/>
          <p:cNvSpPr txBox="1"/>
          <p:nvPr/>
        </p:nvSpPr>
        <p:spPr>
          <a:xfrm>
            <a:off x="6003797" y="2068245"/>
            <a:ext cx="6054725" cy="647065"/>
          </a:xfrm>
          <a:prstGeom prst="rect">
            <a:avLst/>
          </a:prstGeom>
          <a:ln w="9525">
            <a:solidFill>
              <a:srgbClr val="FFFFFF"/>
            </a:solidFill>
          </a:ln>
        </p:spPr>
        <p:txBody>
          <a:bodyPr wrap="square" lIns="0" tIns="41275" rIns="0" bIns="0" rtlCol="0" vert="horz">
            <a:spAutoFit/>
          </a:bodyPr>
          <a:lstStyle/>
          <a:p>
            <a:pPr marL="92075">
              <a:lnSpc>
                <a:spcPct val="100000"/>
              </a:lnSpc>
              <a:spcBef>
                <a:spcPts val="325"/>
              </a:spcBef>
            </a:pPr>
            <a:r>
              <a:rPr dirty="0" sz="1800" spc="-20">
                <a:solidFill>
                  <a:srgbClr val="FFFFFF"/>
                </a:solidFill>
                <a:latin typeface="MS Gothic"/>
                <a:cs typeface="MS Gothic"/>
              </a:rPr>
              <a:t>バグ修正</a:t>
            </a:r>
            <a:endParaRPr sz="1800">
              <a:latin typeface="MS Gothic"/>
              <a:cs typeface="MS Gothic"/>
            </a:endParaRPr>
          </a:p>
          <a:p>
            <a:pPr marL="92075">
              <a:lnSpc>
                <a:spcPct val="100000"/>
              </a:lnSpc>
              <a:spcBef>
                <a:spcPts val="5"/>
              </a:spcBef>
            </a:pPr>
            <a:r>
              <a:rPr dirty="0" sz="1800" spc="-5">
                <a:solidFill>
                  <a:srgbClr val="FFFFFF"/>
                </a:solidFill>
                <a:latin typeface="MS Gothic"/>
                <a:cs typeface="MS Gothic"/>
              </a:rPr>
              <a:t>・テクスチャのロード時にテクスチャを取得できない</a:t>
            </a:r>
            <a:endParaRPr sz="180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dcterms:created xsi:type="dcterms:W3CDTF">2025-12-13T00:48:35Z</dcterms:created>
  <dcterms:modified xsi:type="dcterms:W3CDTF">2025-12-13T00:48:35Z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