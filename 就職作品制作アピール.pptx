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850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42671" y="482041"/>
            <a:ext cx="7287259" cy="697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53313" y="2137663"/>
            <a:ext cx="5001895" cy="21983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1905000"/>
            <a:ext cx="10736580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000" u="none" spc="-5" dirty="0"/>
              <a:t>就職作品制作アピールポイント</a:t>
            </a:r>
            <a:endParaRPr sz="6000"/>
          </a:p>
        </p:txBody>
      </p:sp>
      <p:sp>
        <p:nvSpPr>
          <p:cNvPr id="3" name="object 3"/>
          <p:cNvSpPr txBox="1"/>
          <p:nvPr/>
        </p:nvSpPr>
        <p:spPr>
          <a:xfrm>
            <a:off x="9322054" y="5404603"/>
            <a:ext cx="2092960" cy="942975"/>
          </a:xfrm>
          <a:prstGeom prst="rect">
            <a:avLst/>
          </a:prstGeom>
        </p:spPr>
        <p:txBody>
          <a:bodyPr vert="horz" wrap="square" lIns="0" tIns="1047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25"/>
              </a:spcBef>
            </a:pP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AT-</a:t>
            </a:r>
            <a:r>
              <a:rPr sz="2400" spc="-25" dirty="0">
                <a:solidFill>
                  <a:srgbClr val="FFFFFF"/>
                </a:solidFill>
                <a:latin typeface="Arial MT"/>
                <a:cs typeface="Arial MT"/>
              </a:rPr>
              <a:t>13B-</a:t>
            </a:r>
            <a:r>
              <a:rPr sz="2400" dirty="0">
                <a:solidFill>
                  <a:srgbClr val="FFFFFF"/>
                </a:solidFill>
                <a:latin typeface="Arial MT"/>
                <a:cs typeface="Arial MT"/>
              </a:rPr>
              <a:t>529</a:t>
            </a:r>
            <a:r>
              <a:rPr sz="2400" spc="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25" dirty="0">
                <a:solidFill>
                  <a:srgbClr val="FFFFFF"/>
                </a:solidFill>
                <a:latin typeface="Arial MT"/>
                <a:cs typeface="Arial MT"/>
              </a:rPr>
              <a:t>32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735"/>
              </a:spcBef>
            </a:pPr>
            <a:r>
              <a:rPr sz="2400" spc="-125" dirty="0">
                <a:solidFill>
                  <a:srgbClr val="FFFFFF"/>
                </a:solidFill>
                <a:latin typeface="MS Gothic"/>
                <a:cs typeface="MS Gothic"/>
              </a:rPr>
              <a:t>松田 健志</a:t>
            </a:r>
            <a:endParaRPr sz="2400">
              <a:latin typeface="MS Gothic"/>
              <a:cs typeface="MS Gothic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690173" y="3400603"/>
            <a:ext cx="3032633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ja-JP" altLang="en-US" sz="2400" spc="-5" dirty="0">
                <a:solidFill>
                  <a:srgbClr val="FFFFFF"/>
                </a:solidFill>
                <a:latin typeface="MS Gothic"/>
                <a:cs typeface="MS Gothic"/>
              </a:rPr>
              <a:t>無双ゲーム制作</a:t>
            </a:r>
            <a:endParaRPr lang="ja-JP" altLang="en-US" sz="2400" dirty="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61087"/>
            <a:ext cx="5053965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0" dirty="0"/>
              <a:t>作品概要・開発目的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219200"/>
            <a:ext cx="12077700" cy="493147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05765">
              <a:spcBef>
                <a:spcPts val="95"/>
              </a:spcBef>
              <a:tabLst>
                <a:tab pos="2539365" algn="l"/>
                <a:tab pos="6353175" algn="l"/>
              </a:tabLst>
            </a:pPr>
            <a:r>
              <a:rPr lang="ja-JP" altLang="en-US" sz="2800" spc="-25" dirty="0">
                <a:solidFill>
                  <a:srgbClr val="FFFFFF"/>
                </a:solidFill>
                <a:latin typeface="MS Gothic"/>
                <a:cs typeface="MS Gothic"/>
              </a:rPr>
              <a:t>大量のオブジェクトやパーティクルを描画して、</a:t>
            </a:r>
            <a:br>
              <a:rPr lang="en-US" altLang="ja-JP" sz="2800" spc="-25" dirty="0">
                <a:solidFill>
                  <a:srgbClr val="FFFFFF"/>
                </a:solidFill>
                <a:latin typeface="MS Gothic"/>
                <a:cs typeface="MS Gothic"/>
              </a:rPr>
            </a:br>
            <a:r>
              <a:rPr lang="en-US" altLang="ja-JP" sz="2800" b="1" dirty="0">
                <a:solidFill>
                  <a:schemeClr val="bg1"/>
                </a:solidFill>
              </a:rPr>
              <a:t>Vampire Survivors </a:t>
            </a:r>
            <a:r>
              <a:rPr lang="ja-JP" altLang="en-US" sz="2800" b="1" dirty="0">
                <a:solidFill>
                  <a:schemeClr val="bg1"/>
                </a:solidFill>
              </a:rPr>
              <a:t>の３</a:t>
            </a:r>
            <a:r>
              <a:rPr lang="en-US" altLang="ja-JP" sz="2800" b="1" dirty="0">
                <a:solidFill>
                  <a:schemeClr val="bg1"/>
                </a:solidFill>
              </a:rPr>
              <a:t>D</a:t>
            </a:r>
            <a:r>
              <a:rPr lang="ja-JP" altLang="en-US" sz="2800" b="1" dirty="0">
                <a:solidFill>
                  <a:schemeClr val="bg1"/>
                </a:solidFill>
              </a:rPr>
              <a:t>版のような</a:t>
            </a:r>
            <a:endParaRPr lang="en-US" altLang="ja-JP" sz="2800" b="1" dirty="0">
              <a:solidFill>
                <a:schemeClr val="bg1"/>
              </a:solidFill>
            </a:endParaRPr>
          </a:p>
          <a:p>
            <a:pPr marL="405765">
              <a:spcBef>
                <a:spcPts val="95"/>
              </a:spcBef>
              <a:tabLst>
                <a:tab pos="2539365" algn="l"/>
                <a:tab pos="6353175" algn="l"/>
              </a:tabLst>
            </a:pPr>
            <a:r>
              <a:rPr lang="ja-JP" altLang="en-US" sz="2800" b="1" dirty="0">
                <a:solidFill>
                  <a:schemeClr val="bg1"/>
                </a:solidFill>
                <a:latin typeface="MS Gothic"/>
                <a:cs typeface="MS Gothic"/>
              </a:rPr>
              <a:t>無双ゲーム制作を目指しています。</a:t>
            </a:r>
            <a:endParaRPr lang="en-US" altLang="ja-JP" sz="2800" b="1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405765">
              <a:spcBef>
                <a:spcPts val="95"/>
              </a:spcBef>
              <a:tabLst>
                <a:tab pos="2539365" algn="l"/>
                <a:tab pos="6353175" algn="l"/>
              </a:tabLst>
            </a:pPr>
            <a:endParaRPr sz="27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</a:pPr>
            <a:r>
              <a:rPr sz="4400" u="sng" spc="-1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MS Gothic"/>
                <a:cs typeface="MS Gothic"/>
              </a:rPr>
              <a:t>開発環境</a:t>
            </a:r>
            <a:endParaRPr sz="4400" dirty="0">
              <a:latin typeface="MS Gothic"/>
              <a:cs typeface="MS Gothic"/>
            </a:endParaRPr>
          </a:p>
          <a:p>
            <a:pPr marL="405765">
              <a:lnSpc>
                <a:spcPct val="100000"/>
              </a:lnSpc>
              <a:spcBef>
                <a:spcPts val="1095"/>
              </a:spcBef>
            </a:pPr>
            <a:r>
              <a:rPr sz="2800" spc="-30" dirty="0">
                <a:solidFill>
                  <a:srgbClr val="FFFFFF"/>
                </a:solidFill>
                <a:latin typeface="Arial MT"/>
                <a:cs typeface="Arial MT"/>
              </a:rPr>
              <a:t>C++</a:t>
            </a:r>
            <a:r>
              <a:rPr lang="en-US" sz="2800" spc="-30" dirty="0">
                <a:solidFill>
                  <a:srgbClr val="FFFFFF"/>
                </a:solidFill>
                <a:latin typeface="MS Gothic"/>
                <a:cs typeface="Arial MT"/>
              </a:rPr>
              <a:t>20</a:t>
            </a:r>
            <a:r>
              <a:rPr sz="2800" spc="-590" dirty="0">
                <a:solidFill>
                  <a:srgbClr val="FFFFFF"/>
                </a:solidFill>
                <a:latin typeface="MS Gothic"/>
                <a:cs typeface="MS Gothic"/>
              </a:rPr>
              <a:t> </a:t>
            </a:r>
            <a:r>
              <a:rPr sz="2800" dirty="0">
                <a:solidFill>
                  <a:srgbClr val="FFFFFF"/>
                </a:solidFill>
                <a:latin typeface="Arial MT"/>
                <a:cs typeface="Arial MT"/>
              </a:rPr>
              <a:t>/</a:t>
            </a:r>
            <a:r>
              <a:rPr sz="2800" spc="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10" dirty="0">
                <a:solidFill>
                  <a:srgbClr val="FFFFFF"/>
                </a:solidFill>
                <a:latin typeface="Arial MT"/>
                <a:cs typeface="Arial MT"/>
              </a:rPr>
              <a:t>DirectX11</a:t>
            </a:r>
            <a:endParaRPr sz="28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900"/>
              </a:spcBef>
            </a:pPr>
            <a:endParaRPr sz="28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4400" u="sng" spc="-20" dirty="0" err="1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MS Gothic"/>
                <a:cs typeface="MS Gothic"/>
              </a:rPr>
              <a:t>開発期間</a:t>
            </a:r>
            <a:endParaRPr lang="ja-JP" altLang="en-US" sz="4400" u="sng" spc="-20" dirty="0">
              <a:solidFill>
                <a:srgbClr val="FFFFFF"/>
              </a:solidFill>
              <a:uFill>
                <a:solidFill>
                  <a:srgbClr val="FFFFFF"/>
                </a:solidFill>
              </a:uFill>
              <a:latin typeface="MS Gothic"/>
              <a:cs typeface="MS Gothic"/>
            </a:endParaRPr>
          </a:p>
          <a:p>
            <a:pPr marL="405765">
              <a:lnSpc>
                <a:spcPct val="100000"/>
              </a:lnSpc>
              <a:spcBef>
                <a:spcPts val="1245"/>
              </a:spcBef>
            </a:pPr>
            <a:r>
              <a:rPr lang="ja-JP" altLang="en-US" sz="2800" spc="-40" dirty="0">
                <a:solidFill>
                  <a:srgbClr val="FFFFFF"/>
                </a:solidFill>
                <a:latin typeface="MS Gothic"/>
                <a:cs typeface="MS Gothic"/>
              </a:rPr>
              <a:t>約３～４カ月くらい</a:t>
            </a:r>
            <a:endParaRPr lang="ja-JP" altLang="en-US" sz="2800" dirty="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867535" y="2172970"/>
            <a:ext cx="8457565" cy="1631950"/>
          </a:xfrm>
          <a:prstGeom prst="rect">
            <a:avLst/>
          </a:prstGeom>
          <a:ln w="38100">
            <a:solidFill>
              <a:srgbClr val="FFFFFF"/>
            </a:solidFill>
          </a:ln>
        </p:spPr>
        <p:txBody>
          <a:bodyPr vert="horz" wrap="square" lIns="0" tIns="212090" rIns="0" bIns="0" rtlCol="0">
            <a:spAutoFit/>
          </a:bodyPr>
          <a:lstStyle/>
          <a:p>
            <a:pPr marL="1428115" marR="1141095" indent="-281305">
              <a:lnSpc>
                <a:spcPts val="4750"/>
              </a:lnSpc>
              <a:spcBef>
                <a:spcPts val="1670"/>
              </a:spcBef>
            </a:pPr>
            <a:r>
              <a:rPr u="heavy" spc="-5" dirty="0">
                <a:uFill>
                  <a:solidFill>
                    <a:srgbClr val="FFFFFF"/>
                  </a:solidFill>
                </a:uFill>
              </a:rPr>
              <a:t>制作したいと思っている</a:t>
            </a:r>
            <a:r>
              <a:rPr u="heavy" spc="1100" dirty="0">
                <a:uFill>
                  <a:solidFill>
                    <a:srgbClr val="FFFFFF"/>
                  </a:solidFill>
                </a:uFill>
              </a:rPr>
              <a:t>          </a:t>
            </a:r>
            <a:r>
              <a:rPr u="heavy" spc="-5" dirty="0">
                <a:uFill>
                  <a:solidFill>
                    <a:srgbClr val="FFFFFF"/>
                  </a:solidFill>
                </a:uFill>
              </a:rPr>
              <a:t>アクションゲーム紹介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46659" y="331977"/>
            <a:ext cx="281940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0" dirty="0"/>
              <a:t>ゲーム紹介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67931" y="1379474"/>
            <a:ext cx="11796395" cy="885499"/>
          </a:xfrm>
          <a:prstGeom prst="rect">
            <a:avLst/>
          </a:prstGeom>
          <a:ln w="9525">
            <a:solidFill>
              <a:srgbClr val="FFFFFF"/>
            </a:solidFill>
          </a:ln>
        </p:spPr>
        <p:txBody>
          <a:bodyPr vert="horz" wrap="square" lIns="0" tIns="94615" rIns="0" bIns="0" rtlCol="0">
            <a:spAutoFit/>
          </a:bodyPr>
          <a:lstStyle/>
          <a:p>
            <a:pPr marL="205104">
              <a:lnSpc>
                <a:spcPct val="100000"/>
              </a:lnSpc>
              <a:spcBef>
                <a:spcPts val="745"/>
              </a:spcBef>
            </a:pPr>
            <a:r>
              <a:rPr lang="ja-JP" altLang="en-US" sz="2400" spc="-5" dirty="0">
                <a:solidFill>
                  <a:srgbClr val="FFFFFF"/>
                </a:solidFill>
                <a:latin typeface="MS Gothic"/>
                <a:cs typeface="MS Gothic"/>
              </a:rPr>
              <a:t>この</a:t>
            </a:r>
            <a:r>
              <a:rPr sz="2400" spc="-5" dirty="0" err="1">
                <a:solidFill>
                  <a:srgbClr val="FFFFFF"/>
                </a:solidFill>
                <a:latin typeface="MS Gothic"/>
                <a:cs typeface="MS Gothic"/>
              </a:rPr>
              <a:t>ゲームで一番拘りたい点</a:t>
            </a:r>
            <a:endParaRPr sz="2400" dirty="0">
              <a:latin typeface="MS Gothic"/>
              <a:cs typeface="MS Gothic"/>
            </a:endParaRPr>
          </a:p>
          <a:p>
            <a:pPr marL="509905">
              <a:lnSpc>
                <a:spcPct val="100000"/>
              </a:lnSpc>
              <a:spcBef>
                <a:spcPts val="420"/>
              </a:spcBef>
            </a:pPr>
            <a:r>
              <a:rPr lang="ja-JP" altLang="en-US" sz="2400" spc="-1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MS Gothic"/>
                <a:cs typeface="MS Gothic"/>
              </a:rPr>
              <a:t>　　</a:t>
            </a:r>
            <a:r>
              <a:rPr lang="ja-JP" altLang="en-US" sz="2400" u="sng" spc="-1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MS Gothic"/>
                <a:cs typeface="MS Gothic"/>
              </a:rPr>
              <a:t>敵やパーティクルを大量に描画</a:t>
            </a:r>
            <a:endParaRPr sz="2400" dirty="0">
              <a:latin typeface="MS Gothic"/>
              <a:cs typeface="MS Gothic"/>
            </a:endParaRPr>
          </a:p>
        </p:txBody>
      </p:sp>
      <p:pic>
        <p:nvPicPr>
          <p:cNvPr id="1026" name="Picture 2" descr="Vampire Survivors - Google Play のアプリ">
            <a:extLst>
              <a:ext uri="{FF2B5EF4-FFF2-40B4-BE49-F238E27FC236}">
                <a16:creationId xmlns:a16="http://schemas.microsoft.com/office/drawing/2014/main" id="{6B819FD2-F057-211C-F5A8-9CDDAFCC79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" y="3787739"/>
            <a:ext cx="4882243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ONE PIECE 海賊無双4 | バンダイナムコエンターテインメント公式サイト">
            <a:extLst>
              <a:ext uri="{FF2B5EF4-FFF2-40B4-BE49-F238E27FC236}">
                <a16:creationId xmlns:a16="http://schemas.microsoft.com/office/drawing/2014/main" id="{09338CBB-AF07-ACCA-8C7E-A77020BC0B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8800" y="3956704"/>
            <a:ext cx="4572000" cy="2574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object 4">
            <a:extLst>
              <a:ext uri="{FF2B5EF4-FFF2-40B4-BE49-F238E27FC236}">
                <a16:creationId xmlns:a16="http://schemas.microsoft.com/office/drawing/2014/main" id="{36EB1FFB-DF02-E06D-1CF0-394EEDFB26AD}"/>
              </a:ext>
            </a:extLst>
          </p:cNvPr>
          <p:cNvSpPr txBox="1"/>
          <p:nvPr/>
        </p:nvSpPr>
        <p:spPr>
          <a:xfrm>
            <a:off x="267930" y="3196564"/>
            <a:ext cx="11796395" cy="464871"/>
          </a:xfrm>
          <a:prstGeom prst="rect">
            <a:avLst/>
          </a:prstGeom>
          <a:ln w="9525">
            <a:solidFill>
              <a:srgbClr val="FFFFFF"/>
            </a:solidFill>
          </a:ln>
        </p:spPr>
        <p:txBody>
          <a:bodyPr vert="horz" wrap="square" lIns="0" tIns="94615" rIns="0" bIns="0" rtlCol="0">
            <a:spAutoFit/>
          </a:bodyPr>
          <a:lstStyle/>
          <a:p>
            <a:pPr marL="205104">
              <a:lnSpc>
                <a:spcPct val="100000"/>
              </a:lnSpc>
              <a:spcBef>
                <a:spcPts val="745"/>
              </a:spcBef>
            </a:pPr>
            <a:r>
              <a:rPr lang="ja-JP" altLang="en-US" sz="2400" spc="-5" dirty="0">
                <a:solidFill>
                  <a:srgbClr val="FFFFFF"/>
                </a:solidFill>
                <a:latin typeface="MS Gothic"/>
                <a:cs typeface="MS Gothic"/>
              </a:rPr>
              <a:t>目指しているゲーム</a:t>
            </a:r>
            <a:endParaRPr sz="2400" dirty="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867535" y="2172970"/>
            <a:ext cx="8457565" cy="1445267"/>
          </a:xfrm>
          <a:prstGeom prst="rect">
            <a:avLst/>
          </a:prstGeom>
          <a:ln w="38100">
            <a:solidFill>
              <a:srgbClr val="FFFFFF"/>
            </a:solidFill>
          </a:ln>
        </p:spPr>
        <p:txBody>
          <a:bodyPr vert="horz" wrap="square" lIns="0" tIns="212090" rIns="0" bIns="0" rtlCol="0">
            <a:spAutoFit/>
          </a:bodyPr>
          <a:lstStyle/>
          <a:p>
            <a:pPr marL="1707514" marR="584200" indent="-1120775">
              <a:lnSpc>
                <a:spcPts val="4750"/>
              </a:lnSpc>
              <a:spcBef>
                <a:spcPts val="1670"/>
              </a:spcBef>
            </a:pPr>
            <a:r>
              <a:rPr lang="ja-JP" altLang="en-US" u="heavy" spc="-5" dirty="0">
                <a:uFill>
                  <a:solidFill>
                    <a:srgbClr val="FFFFFF"/>
                  </a:solidFill>
                </a:uFill>
              </a:rPr>
              <a:t>この</a:t>
            </a:r>
            <a:r>
              <a:rPr u="heavy" spc="-5" dirty="0" err="1">
                <a:uFill>
                  <a:solidFill>
                    <a:srgbClr val="FFFFFF"/>
                  </a:solidFill>
                </a:uFill>
              </a:rPr>
              <a:t>ゲームを作成するうえで</a:t>
            </a:r>
            <a:r>
              <a:rPr u="heavy" spc="1100" dirty="0">
                <a:uFill>
                  <a:solidFill>
                    <a:srgbClr val="FFFFFF"/>
                  </a:solidFill>
                </a:uFill>
              </a:rPr>
              <a:t>          </a:t>
            </a:r>
            <a:r>
              <a:rPr u="heavy" spc="-10" dirty="0">
                <a:uFill>
                  <a:solidFill>
                    <a:srgbClr val="FFFFFF"/>
                  </a:solidFill>
                </a:uFill>
              </a:rPr>
              <a:t>必要になる技術選び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46659" y="437133"/>
            <a:ext cx="2263140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u="none" spc="-15" dirty="0"/>
              <a:t>技術選定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22338" y="1455204"/>
            <a:ext cx="11021060" cy="1236345"/>
          </a:xfrm>
          <a:prstGeom prst="rect">
            <a:avLst/>
          </a:prstGeom>
          <a:ln w="9525">
            <a:solidFill>
              <a:srgbClr val="FFFFFF"/>
            </a:solidFill>
          </a:ln>
        </p:spPr>
        <p:txBody>
          <a:bodyPr vert="horz" wrap="square" lIns="0" tIns="41275" rIns="0" bIns="0" rtlCol="0">
            <a:spAutoFit/>
          </a:bodyPr>
          <a:lstStyle/>
          <a:p>
            <a:pPr marL="563880" marR="3319779" indent="-358140">
              <a:lnSpc>
                <a:spcPct val="119600"/>
              </a:lnSpc>
              <a:spcBef>
                <a:spcPts val="325"/>
              </a:spcBef>
            </a:pPr>
            <a:r>
              <a:rPr sz="2800" spc="-35" dirty="0">
                <a:solidFill>
                  <a:srgbClr val="FFFFFF"/>
                </a:solidFill>
                <a:latin typeface="MS Gothic"/>
                <a:cs typeface="MS Gothic"/>
              </a:rPr>
              <a:t>❦のゲームで一番大事だと思っている技術は、フレームレートとロードだと思っています。</a:t>
            </a:r>
            <a:endParaRPr sz="2800" dirty="0">
              <a:latin typeface="MS Gothic"/>
              <a:cs typeface="MS Gothic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522338" y="4166933"/>
            <a:ext cx="11021060" cy="2358390"/>
          </a:xfrm>
          <a:custGeom>
            <a:avLst/>
            <a:gdLst/>
            <a:ahLst/>
            <a:cxnLst/>
            <a:rect l="l" t="t" r="r" b="b"/>
            <a:pathLst>
              <a:path w="11021060" h="2358390">
                <a:moveTo>
                  <a:pt x="0" y="2357881"/>
                </a:moveTo>
                <a:lnTo>
                  <a:pt x="11020679" y="2357881"/>
                </a:lnTo>
                <a:lnTo>
                  <a:pt x="11020679" y="0"/>
                </a:lnTo>
                <a:lnTo>
                  <a:pt x="0" y="0"/>
                </a:lnTo>
                <a:lnTo>
                  <a:pt x="0" y="2357881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466851" y="3524250"/>
            <a:ext cx="11080115" cy="27412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95"/>
              </a:spcBef>
            </a:pP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フレームレートのための技術</a:t>
            </a:r>
            <a:endParaRPr sz="2800">
              <a:latin typeface="MS Gothic"/>
              <a:cs typeface="MS Gothic"/>
            </a:endParaRPr>
          </a:p>
          <a:p>
            <a:pPr marL="260985">
              <a:lnSpc>
                <a:spcPct val="100000"/>
              </a:lnSpc>
              <a:spcBef>
                <a:spcPts val="2590"/>
              </a:spcBef>
            </a:pPr>
            <a:r>
              <a:rPr sz="2800" spc="-35" dirty="0">
                <a:solidFill>
                  <a:srgbClr val="FFFFFF"/>
                </a:solidFill>
                <a:latin typeface="MS Gothic"/>
                <a:cs typeface="MS Gothic"/>
              </a:rPr>
              <a:t>コンピュートシェーダーでメッシュレット、</a:t>
            </a:r>
            <a:endParaRPr sz="2800">
              <a:latin typeface="MS Gothic"/>
              <a:cs typeface="MS Gothic"/>
            </a:endParaRPr>
          </a:p>
          <a:p>
            <a:pPr marL="260985" marR="1637030">
              <a:lnSpc>
                <a:spcPct val="119600"/>
              </a:lnSpc>
              <a:spcBef>
                <a:spcPts val="5"/>
              </a:spcBef>
            </a:pPr>
            <a:r>
              <a:rPr sz="2800" spc="-30" dirty="0">
                <a:solidFill>
                  <a:srgbClr val="FFFFFF"/>
                </a:solidFill>
                <a:latin typeface="MS Gothic"/>
                <a:cs typeface="MS Gothic"/>
              </a:rPr>
              <a:t>描画マネージャーでバッチ処理</a:t>
            </a:r>
            <a:r>
              <a:rPr sz="2800" b="1" spc="-1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2800" spc="-30" dirty="0">
                <a:solidFill>
                  <a:srgbClr val="FFFFFF"/>
                </a:solidFill>
                <a:latin typeface="MS Gothic"/>
                <a:cs typeface="MS Gothic"/>
              </a:rPr>
              <a:t>インスタンシングの予定</a:t>
            </a:r>
            <a:r>
              <a:rPr sz="2800" b="1" spc="-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フラスタムカリングを実装したいと思っています。</a:t>
            </a:r>
            <a:endParaRPr sz="2800">
              <a:latin typeface="MS Gothic"/>
              <a:cs typeface="MS Gothic"/>
            </a:endParaRPr>
          </a:p>
          <a:p>
            <a:pPr marL="260985">
              <a:lnSpc>
                <a:spcPct val="100000"/>
              </a:lnSpc>
              <a:spcBef>
                <a:spcPts val="670"/>
              </a:spcBef>
            </a:pPr>
            <a:r>
              <a:rPr sz="2800" spc="-30" dirty="0">
                <a:solidFill>
                  <a:srgbClr val="FFFFFF"/>
                </a:solidFill>
                <a:latin typeface="MS Gothic"/>
                <a:cs typeface="MS Gothic"/>
              </a:rPr>
              <a:t>もし、❦れでも重たい場合</a:t>
            </a:r>
            <a:r>
              <a:rPr sz="2800" b="1" spc="-30" dirty="0">
                <a:solidFill>
                  <a:srgbClr val="FFFFFF"/>
                </a:solidFill>
                <a:latin typeface="Arial"/>
                <a:cs typeface="Arial"/>
              </a:rPr>
              <a:t>(LOD)</a:t>
            </a:r>
            <a:r>
              <a:rPr sz="2800" spc="-80" dirty="0">
                <a:solidFill>
                  <a:srgbClr val="FFFFFF"/>
                </a:solidFill>
                <a:latin typeface="MS Gothic"/>
                <a:cs typeface="MS Gothic"/>
              </a:rPr>
              <a:t>を実装予定です。</a:t>
            </a:r>
            <a:r>
              <a:rPr sz="2100" spc="-15" baseline="-21825" dirty="0">
                <a:solidFill>
                  <a:srgbClr val="FFFFFF"/>
                </a:solidFill>
                <a:latin typeface="Arial MT"/>
                <a:cs typeface="Arial MT"/>
              </a:rPr>
              <a:t>LOD</a:t>
            </a:r>
            <a:r>
              <a:rPr sz="2100" spc="-30" baseline="-21825" dirty="0">
                <a:solidFill>
                  <a:srgbClr val="FFFFFF"/>
                </a:solidFill>
                <a:latin typeface="MS Gothic"/>
                <a:cs typeface="MS Gothic"/>
              </a:rPr>
              <a:t>の勉✲はまだできていません</a:t>
            </a:r>
            <a:endParaRPr sz="2100" baseline="-21825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46659" y="437133"/>
            <a:ext cx="2263140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u="none" spc="-15" dirty="0"/>
              <a:t>技術選定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87921" y="2850133"/>
            <a:ext cx="11021060" cy="1850389"/>
          </a:xfrm>
          <a:prstGeom prst="rect">
            <a:avLst/>
          </a:prstGeom>
          <a:ln w="9525">
            <a:solidFill>
              <a:srgbClr val="FFFFFF"/>
            </a:solidFill>
          </a:ln>
        </p:spPr>
        <p:txBody>
          <a:bodyPr vert="horz" wrap="square" lIns="0" tIns="40640" rIns="0" bIns="0" rtlCol="0">
            <a:spAutoFit/>
          </a:bodyPr>
          <a:lstStyle/>
          <a:p>
            <a:pPr marL="205740" marR="822960">
              <a:lnSpc>
                <a:spcPct val="119700"/>
              </a:lnSpc>
              <a:spcBef>
                <a:spcPts val="320"/>
              </a:spcBef>
            </a:pPr>
            <a:r>
              <a:rPr sz="2800" spc="-35" dirty="0">
                <a:solidFill>
                  <a:srgbClr val="FFFFFF"/>
                </a:solidFill>
                <a:latin typeface="MS Gothic"/>
                <a:cs typeface="MS Gothic"/>
              </a:rPr>
              <a:t>自作モデルフォーマットを作成して、バイナリーデータで持つ</a:t>
            </a:r>
            <a:r>
              <a:rPr sz="2800" spc="-15" dirty="0">
                <a:solidFill>
                  <a:srgbClr val="FFFFFF"/>
                </a:solidFill>
                <a:latin typeface="MS Gothic"/>
                <a:cs typeface="MS Gothic"/>
              </a:rPr>
              <a:t>スレッド処理</a:t>
            </a:r>
            <a:r>
              <a:rPr sz="2800" b="1" spc="-1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2800" spc="-35" dirty="0">
                <a:solidFill>
                  <a:srgbClr val="FFFFFF"/>
                </a:solidFill>
                <a:latin typeface="MS Gothic"/>
                <a:cs typeface="MS Gothic"/>
              </a:rPr>
              <a:t>バッファの生成とオブジェクトロードを</a:t>
            </a:r>
            <a:endParaRPr sz="2800">
              <a:latin typeface="MS Gothic"/>
              <a:cs typeface="MS Gothic"/>
            </a:endParaRPr>
          </a:p>
          <a:p>
            <a:pPr marL="5422900">
              <a:lnSpc>
                <a:spcPts val="3025"/>
              </a:lnSpc>
            </a:pPr>
            <a:r>
              <a:rPr sz="2800" spc="-30" dirty="0">
                <a:solidFill>
                  <a:srgbClr val="FFFFFF"/>
                </a:solidFill>
                <a:latin typeface="MS Gothic"/>
                <a:cs typeface="MS Gothic"/>
              </a:rPr>
              <a:t>別スレッドで行うようにしたい</a:t>
            </a:r>
            <a:r>
              <a:rPr sz="2800" b="1" spc="-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45109" y="2207132"/>
            <a:ext cx="429133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ロード最適化のための技術</a:t>
            </a:r>
            <a:endParaRPr sz="2800">
              <a:latin typeface="MS Gothic"/>
              <a:cs typeface="MS Gothic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093970" y="2459227"/>
            <a:ext cx="269367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spc="-20" dirty="0">
                <a:solidFill>
                  <a:srgbClr val="FFFFFF"/>
                </a:solidFill>
                <a:latin typeface="MS Gothic"/>
                <a:cs typeface="MS Gothic"/>
              </a:rPr>
              <a:t>❦ちらは全然勉✲できていません</a:t>
            </a:r>
            <a:endParaRPr sz="140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867535" y="2172970"/>
            <a:ext cx="8457565" cy="1631950"/>
          </a:xfrm>
          <a:prstGeom prst="rect">
            <a:avLst/>
          </a:prstGeom>
          <a:ln w="38100">
            <a:solidFill>
              <a:srgbClr val="FFFFFF"/>
            </a:solidFill>
          </a:ln>
        </p:spPr>
        <p:txBody>
          <a:bodyPr vert="horz" wrap="square" lIns="0" tIns="267335" rIns="0" bIns="0" rtlCol="0">
            <a:spAutoFit/>
          </a:bodyPr>
          <a:lstStyle/>
          <a:p>
            <a:pPr marL="1681480" marR="151130" indent="-1529080">
              <a:lnSpc>
                <a:spcPts val="4320"/>
              </a:lnSpc>
              <a:spcBef>
                <a:spcPts val="2105"/>
              </a:spcBef>
            </a:pPr>
            <a:r>
              <a:rPr sz="4000" u="heavy" spc="-45" dirty="0">
                <a:uFill>
                  <a:solidFill>
                    <a:srgbClr val="FFFFFF"/>
                  </a:solidFill>
                </a:uFill>
              </a:rPr>
              <a:t>今制作している描画マネージャーの</a:t>
            </a:r>
            <a:r>
              <a:rPr sz="4000" u="heavy" spc="1000" dirty="0">
                <a:uFill>
                  <a:solidFill>
                    <a:srgbClr val="FFFFFF"/>
                  </a:solidFill>
                </a:uFill>
              </a:rPr>
              <a:t>            </a:t>
            </a:r>
            <a:r>
              <a:rPr sz="4000" u="heavy" spc="-40" dirty="0">
                <a:uFill>
                  <a:solidFill>
                    <a:srgbClr val="FFFFFF"/>
                  </a:solidFill>
                </a:uFill>
              </a:rPr>
              <a:t>アピールポイント紹介</a:t>
            </a:r>
            <a:endParaRPr sz="4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603884"/>
            <a:ext cx="7288530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25" dirty="0"/>
              <a:t>プラットフォーム非依存設計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2134075"/>
            <a:ext cx="9776460" cy="3949065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2200" spc="-35" dirty="0">
                <a:solidFill>
                  <a:srgbClr val="FFFFFF"/>
                </a:solidFill>
                <a:latin typeface="MS Gothic"/>
                <a:cs typeface="MS Gothic"/>
              </a:rPr>
              <a:t>プラットフォーム固有の要素をラッパー構造体として定義する❦とで、</a:t>
            </a:r>
            <a:endParaRPr sz="220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200" spc="-35" dirty="0">
                <a:solidFill>
                  <a:srgbClr val="FFFFFF"/>
                </a:solidFill>
                <a:latin typeface="MS Gothic"/>
                <a:cs typeface="MS Gothic"/>
              </a:rPr>
              <a:t>プラットフォームが変更されても</a:t>
            </a:r>
            <a:endParaRPr sz="220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200" spc="-20" dirty="0">
                <a:solidFill>
                  <a:srgbClr val="FFFFFF"/>
                </a:solidFill>
                <a:latin typeface="MS Gothic"/>
                <a:cs typeface="MS Gothic"/>
              </a:rPr>
              <a:t>ゲーム基盤</a:t>
            </a:r>
            <a:r>
              <a:rPr sz="2200" spc="-25" dirty="0">
                <a:solidFill>
                  <a:srgbClr val="FFFFFF"/>
                </a:solidFill>
                <a:latin typeface="MS Gothic"/>
                <a:cs typeface="MS Gothic"/>
              </a:rPr>
              <a:t>（</a:t>
            </a:r>
            <a:r>
              <a:rPr sz="2200" spc="-25" dirty="0">
                <a:solidFill>
                  <a:srgbClr val="FFFFFF"/>
                </a:solidFill>
                <a:latin typeface="Arial MT"/>
                <a:cs typeface="Arial MT"/>
              </a:rPr>
              <a:t>GameMain</a:t>
            </a:r>
            <a:r>
              <a:rPr sz="2200" spc="-25" dirty="0">
                <a:solidFill>
                  <a:srgbClr val="FFFFFF"/>
                </a:solidFill>
                <a:latin typeface="MS Gothic"/>
                <a:cs typeface="MS Gothic"/>
              </a:rPr>
              <a:t>）</a:t>
            </a:r>
            <a:r>
              <a:rPr sz="2200" spc="-35" dirty="0">
                <a:solidFill>
                  <a:srgbClr val="FFFFFF"/>
                </a:solidFill>
                <a:latin typeface="MS Gothic"/>
                <a:cs typeface="MS Gothic"/>
              </a:rPr>
              <a:t>を改修せずに動作させる❦とを可能にしています。</a:t>
            </a:r>
            <a:endParaRPr sz="2200">
              <a:latin typeface="MS Gothic"/>
              <a:cs typeface="MS Gothic"/>
            </a:endParaRPr>
          </a:p>
          <a:p>
            <a:pPr>
              <a:lnSpc>
                <a:spcPct val="100000"/>
              </a:lnSpc>
              <a:spcBef>
                <a:spcPts val="850"/>
              </a:spcBef>
            </a:pPr>
            <a:endParaRPr sz="220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200" spc="-35" dirty="0">
                <a:solidFill>
                  <a:srgbClr val="FFFFFF"/>
                </a:solidFill>
                <a:latin typeface="MS Gothic"/>
                <a:cs typeface="MS Gothic"/>
              </a:rPr>
              <a:t>計算用構造体は共通のデータ形式を保持し、</a:t>
            </a:r>
            <a:endParaRPr sz="220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200" spc="-35" dirty="0">
                <a:solidFill>
                  <a:srgbClr val="FFFFFF"/>
                </a:solidFill>
                <a:latin typeface="MS Gothic"/>
                <a:cs typeface="MS Gothic"/>
              </a:rPr>
              <a:t>処理部分をプラットフォーム依存として分離する❦とで、</a:t>
            </a:r>
            <a:endParaRPr sz="2200">
              <a:latin typeface="MS Gothic"/>
              <a:cs typeface="MS Gothic"/>
            </a:endParaRPr>
          </a:p>
          <a:p>
            <a:pPr marL="12700" marR="4448810">
              <a:lnSpc>
                <a:spcPct val="105000"/>
              </a:lnSpc>
            </a:pPr>
            <a:r>
              <a:rPr sz="2200" spc="-35" dirty="0">
                <a:solidFill>
                  <a:srgbClr val="FFFFFF"/>
                </a:solidFill>
                <a:latin typeface="MS Gothic"/>
                <a:cs typeface="MS Gothic"/>
              </a:rPr>
              <a:t>各プラットフォームに最適化された実装へ容易に切り替えられる設計としています。</a:t>
            </a:r>
            <a:endParaRPr sz="2200">
              <a:latin typeface="MS Gothic"/>
              <a:cs typeface="MS Gothic"/>
            </a:endParaRPr>
          </a:p>
          <a:p>
            <a:pPr>
              <a:lnSpc>
                <a:spcPct val="100000"/>
              </a:lnSpc>
              <a:spcBef>
                <a:spcPts val="2490"/>
              </a:spcBef>
            </a:pPr>
            <a:endParaRPr sz="220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</a:pPr>
            <a:r>
              <a:rPr sz="2200" spc="-35" dirty="0">
                <a:solidFill>
                  <a:srgbClr val="FFFFFF"/>
                </a:solidFill>
                <a:latin typeface="MS Gothic"/>
                <a:cs typeface="MS Gothic"/>
              </a:rPr>
              <a:t>入力情報なども同じように制作予定です。</a:t>
            </a:r>
            <a:endParaRPr sz="2200">
              <a:latin typeface="MS Gothic"/>
              <a:cs typeface="MS Gothic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964930" y="3271240"/>
            <a:ext cx="2640329" cy="33850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603884"/>
            <a:ext cx="7288530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25" dirty="0"/>
              <a:t>プラットフォーム非依存設計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96697" y="1665280"/>
            <a:ext cx="11824970" cy="3581400"/>
          </a:xfrm>
          <a:prstGeom prst="rect">
            <a:avLst/>
          </a:prstGeom>
        </p:spPr>
        <p:txBody>
          <a:bodyPr vert="horz" wrap="square" lIns="0" tIns="2203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735"/>
              </a:spcBef>
            </a:pPr>
            <a:r>
              <a:rPr sz="2400" spc="-5" dirty="0">
                <a:solidFill>
                  <a:srgbClr val="FFFFFF"/>
                </a:solidFill>
                <a:latin typeface="MS Gothic"/>
                <a:cs typeface="MS Gothic"/>
              </a:rPr>
              <a:t>描画マネージャーは基底クラスを抽象インターフェイスとして定義し、</a:t>
            </a:r>
            <a:endParaRPr sz="240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1635"/>
              </a:spcBef>
            </a:pPr>
            <a:r>
              <a:rPr sz="2400" b="1" spc="-20" dirty="0">
                <a:solidFill>
                  <a:srgbClr val="FFFFFF"/>
                </a:solidFill>
                <a:latin typeface="Arial"/>
                <a:cs typeface="Arial"/>
              </a:rPr>
              <a:t>GameMain</a:t>
            </a:r>
            <a:r>
              <a:rPr sz="2400" dirty="0">
                <a:solidFill>
                  <a:srgbClr val="FFFFFF"/>
                </a:solidFill>
                <a:latin typeface="MS Gothic"/>
                <a:cs typeface="MS Gothic"/>
              </a:rPr>
              <a:t>が</a:t>
            </a:r>
            <a:r>
              <a:rPr sz="2400" b="1" spc="-20" dirty="0">
                <a:solidFill>
                  <a:srgbClr val="FFFFFF"/>
                </a:solidFill>
                <a:latin typeface="Arial"/>
                <a:cs typeface="Arial"/>
              </a:rPr>
              <a:t>DirectX</a:t>
            </a:r>
            <a:r>
              <a:rPr sz="2400" spc="-5" dirty="0">
                <a:solidFill>
                  <a:srgbClr val="FFFFFF"/>
                </a:solidFill>
                <a:latin typeface="MS Gothic"/>
                <a:cs typeface="MS Gothic"/>
              </a:rPr>
              <a:t>などの具体的な実装を意識せずに動作できるようにしています。</a:t>
            </a:r>
            <a:endParaRPr sz="2400">
              <a:latin typeface="MS Gothic"/>
              <a:cs typeface="MS Gothic"/>
            </a:endParaRPr>
          </a:p>
          <a:p>
            <a:pPr>
              <a:lnSpc>
                <a:spcPct val="100000"/>
              </a:lnSpc>
              <a:spcBef>
                <a:spcPts val="2640"/>
              </a:spcBef>
            </a:pPr>
            <a:endParaRPr sz="2400">
              <a:latin typeface="MS Gothic"/>
              <a:cs typeface="MS Gothic"/>
            </a:endParaRPr>
          </a:p>
          <a:p>
            <a:pPr marL="12700" marR="5708015">
              <a:lnSpc>
                <a:spcPct val="114999"/>
              </a:lnSpc>
            </a:pPr>
            <a:r>
              <a:rPr sz="2400" spc="-5" dirty="0">
                <a:solidFill>
                  <a:srgbClr val="FFFFFF"/>
                </a:solidFill>
                <a:latin typeface="MS Gothic"/>
                <a:cs typeface="MS Gothic"/>
              </a:rPr>
              <a:t>プラットフォームごとに描画マネージャーを</a:t>
            </a:r>
            <a:r>
              <a:rPr sz="2400" dirty="0">
                <a:solidFill>
                  <a:srgbClr val="FFFFFF"/>
                </a:solidFill>
                <a:latin typeface="MS Gothic"/>
                <a:cs typeface="MS Gothic"/>
              </a:rPr>
              <a:t>変更する仕組みにし、新しい</a:t>
            </a: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API</a:t>
            </a:r>
            <a:r>
              <a:rPr sz="2400" spc="-50" dirty="0">
                <a:solidFill>
                  <a:srgbClr val="FFFFFF"/>
                </a:solidFill>
                <a:latin typeface="MS Gothic"/>
                <a:cs typeface="MS Gothic"/>
              </a:rPr>
              <a:t>を</a:t>
            </a:r>
            <a:endParaRPr sz="240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sz="2400" spc="-5" dirty="0">
                <a:solidFill>
                  <a:srgbClr val="FFFFFF"/>
                </a:solidFill>
                <a:latin typeface="MS Gothic"/>
                <a:cs typeface="MS Gothic"/>
              </a:rPr>
              <a:t>追加する際も、既存のゲーム基盤を</a:t>
            </a:r>
            <a:endParaRPr sz="240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sz="2400" spc="-5" dirty="0">
                <a:solidFill>
                  <a:srgbClr val="FFFFFF"/>
                </a:solidFill>
                <a:latin typeface="MS Gothic"/>
                <a:cs typeface="MS Gothic"/>
              </a:rPr>
              <a:t>改修せずに拡張できる設計になっています。</a:t>
            </a:r>
            <a:endParaRPr sz="2400">
              <a:latin typeface="MS Gothic"/>
              <a:cs typeface="MS Gothic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75473" y="2996298"/>
            <a:ext cx="4423156" cy="37150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42671" y="482041"/>
            <a:ext cx="840422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25" dirty="0"/>
              <a:t>リソース管理とマネージャー構成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95985" y="1708149"/>
            <a:ext cx="7132955" cy="3978910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同じリソースを重複して作成しないように</a:t>
            </a:r>
            <a:r>
              <a:rPr sz="2800" spc="-50" dirty="0">
                <a:solidFill>
                  <a:srgbClr val="FFFFFF"/>
                </a:solidFill>
                <a:latin typeface="MS Gothic"/>
                <a:cs typeface="MS Gothic"/>
              </a:rPr>
              <a:t> </a:t>
            </a: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名前をキーにして保持する設計しています。</a:t>
            </a:r>
            <a:endParaRPr sz="2800">
              <a:latin typeface="MS Gothic"/>
              <a:cs typeface="MS Gothic"/>
            </a:endParaRPr>
          </a:p>
          <a:p>
            <a:pPr>
              <a:lnSpc>
                <a:spcPct val="100000"/>
              </a:lnSpc>
              <a:spcBef>
                <a:spcPts val="1450"/>
              </a:spcBef>
            </a:pPr>
            <a:endParaRPr sz="2800">
              <a:latin typeface="MS Gothic"/>
              <a:cs typeface="MS Gothic"/>
            </a:endParaRPr>
          </a:p>
          <a:p>
            <a:pPr marL="12700" marR="2136140">
              <a:lnSpc>
                <a:spcPts val="3020"/>
              </a:lnSpc>
            </a:pP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リソースごとにマネージャーを作成して管理させています。</a:t>
            </a:r>
            <a:endParaRPr sz="2800">
              <a:latin typeface="MS Gothic"/>
              <a:cs typeface="MS Gothic"/>
            </a:endParaRPr>
          </a:p>
          <a:p>
            <a:pPr>
              <a:lnSpc>
                <a:spcPct val="100000"/>
              </a:lnSpc>
              <a:spcBef>
                <a:spcPts val="635"/>
              </a:spcBef>
            </a:pPr>
            <a:endParaRPr sz="2800">
              <a:latin typeface="MS Gothic"/>
              <a:cs typeface="MS Gothic"/>
            </a:endParaRPr>
          </a:p>
          <a:p>
            <a:pPr marL="12700">
              <a:lnSpc>
                <a:spcPts val="3190"/>
              </a:lnSpc>
            </a:pP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一度作成したリソースを</a:t>
            </a:r>
            <a:endParaRPr sz="2800">
              <a:latin typeface="MS Gothic"/>
              <a:cs typeface="MS Gothic"/>
            </a:endParaRPr>
          </a:p>
          <a:p>
            <a:pPr marL="12700" marR="1781175">
              <a:lnSpc>
                <a:spcPts val="3020"/>
              </a:lnSpc>
              <a:spcBef>
                <a:spcPts val="215"/>
              </a:spcBef>
            </a:pP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再利用させて、不必要なメモリを取らないようにしています。</a:t>
            </a:r>
            <a:endParaRPr sz="2800">
              <a:latin typeface="MS Gothic"/>
              <a:cs typeface="MS Gothic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504940" y="2611498"/>
            <a:ext cx="5503672" cy="424649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42671" y="482041"/>
            <a:ext cx="393636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25" dirty="0"/>
              <a:t>描画処理の流れ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97432" y="1355597"/>
            <a:ext cx="15170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GameMain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50416" y="1719833"/>
            <a:ext cx="327660" cy="793750"/>
          </a:xfrm>
          <a:prstGeom prst="rect">
            <a:avLst/>
          </a:prstGeom>
        </p:spPr>
        <p:txBody>
          <a:bodyPr vert="horz" wrap="square" lIns="0" tIns="3111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4"/>
              </a:spcBef>
            </a:pPr>
            <a:r>
              <a:rPr sz="2400" spc="-965" dirty="0">
                <a:solidFill>
                  <a:srgbClr val="FFFFFF"/>
                </a:solidFill>
                <a:latin typeface="Arial MT"/>
                <a:cs typeface="Arial MT"/>
              </a:rPr>
              <a:t>│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2400" spc="-50" dirty="0">
                <a:solidFill>
                  <a:srgbClr val="FFFFFF"/>
                </a:solidFill>
                <a:latin typeface="Arial MT"/>
                <a:cs typeface="Arial MT"/>
              </a:rPr>
              <a:t>▼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97432" y="2504389"/>
            <a:ext cx="4629785" cy="19240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FFFFFF"/>
                </a:solidFill>
                <a:latin typeface="Arial MT"/>
                <a:cs typeface="Arial MT"/>
              </a:rPr>
              <a:t>BaseDrawManager</a:t>
            </a:r>
            <a:r>
              <a:rPr sz="2400" spc="-25" dirty="0">
                <a:solidFill>
                  <a:srgbClr val="FFFFFF"/>
                </a:solidFill>
                <a:latin typeface="MS Gothic"/>
                <a:cs typeface="MS Gothic"/>
              </a:rPr>
              <a:t>（</a:t>
            </a:r>
            <a:r>
              <a:rPr sz="2400" spc="-10" dirty="0">
                <a:solidFill>
                  <a:srgbClr val="FFFFFF"/>
                </a:solidFill>
                <a:latin typeface="MS Gothic"/>
                <a:cs typeface="MS Gothic"/>
              </a:rPr>
              <a:t>抽象層</a:t>
            </a:r>
            <a:r>
              <a:rPr sz="2400" spc="-50" dirty="0">
                <a:solidFill>
                  <a:srgbClr val="FFFFFF"/>
                </a:solidFill>
                <a:latin typeface="MS Gothic"/>
                <a:cs typeface="MS Gothic"/>
              </a:rPr>
              <a:t>）</a:t>
            </a:r>
            <a:endParaRPr sz="2400">
              <a:latin typeface="MS Gothic"/>
              <a:cs typeface="MS Gothic"/>
            </a:endParaRPr>
          </a:p>
          <a:p>
            <a:pPr marL="265430">
              <a:lnSpc>
                <a:spcPct val="100000"/>
              </a:lnSpc>
              <a:spcBef>
                <a:spcPts val="135"/>
              </a:spcBef>
            </a:pPr>
            <a:r>
              <a:rPr sz="2400" spc="-965" dirty="0">
                <a:solidFill>
                  <a:srgbClr val="FFFFFF"/>
                </a:solidFill>
                <a:latin typeface="Arial MT"/>
                <a:cs typeface="Arial MT"/>
              </a:rPr>
              <a:t>│</a:t>
            </a:r>
            <a:endParaRPr sz="2400">
              <a:latin typeface="Arial MT"/>
              <a:cs typeface="Arial MT"/>
            </a:endParaRPr>
          </a:p>
          <a:p>
            <a:pPr marL="265430">
              <a:lnSpc>
                <a:spcPct val="100000"/>
              </a:lnSpc>
              <a:spcBef>
                <a:spcPts val="145"/>
              </a:spcBef>
            </a:pPr>
            <a:r>
              <a:rPr sz="2400" spc="-50" dirty="0">
                <a:solidFill>
                  <a:srgbClr val="FFFFFF"/>
                </a:solidFill>
                <a:latin typeface="Arial MT"/>
                <a:cs typeface="Arial MT"/>
              </a:rPr>
              <a:t>▼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400" spc="-20" dirty="0">
                <a:solidFill>
                  <a:srgbClr val="FFFFFF"/>
                </a:solidFill>
                <a:latin typeface="Arial MT"/>
                <a:cs typeface="Arial MT"/>
              </a:rPr>
              <a:t>DirectX_DrawManager</a:t>
            </a:r>
            <a:r>
              <a:rPr sz="2400" spc="-20" dirty="0">
                <a:solidFill>
                  <a:srgbClr val="FFFFFF"/>
                </a:solidFill>
                <a:latin typeface="MS Gothic"/>
                <a:cs typeface="MS Gothic"/>
              </a:rPr>
              <a:t>（</a:t>
            </a:r>
            <a:r>
              <a:rPr sz="2400" spc="-10" dirty="0">
                <a:solidFill>
                  <a:srgbClr val="FFFFFF"/>
                </a:solidFill>
                <a:latin typeface="MS Gothic"/>
                <a:cs typeface="MS Gothic"/>
              </a:rPr>
              <a:t>実装層</a:t>
            </a:r>
            <a:r>
              <a:rPr sz="2400" spc="-50" dirty="0">
                <a:solidFill>
                  <a:srgbClr val="FFFFFF"/>
                </a:solidFill>
                <a:latin typeface="MS Gothic"/>
                <a:cs typeface="MS Gothic"/>
              </a:rPr>
              <a:t>）</a:t>
            </a:r>
            <a:endParaRPr sz="2400">
              <a:latin typeface="MS Gothic"/>
              <a:cs typeface="MS Gothic"/>
            </a:endParaRPr>
          </a:p>
          <a:p>
            <a:pPr marL="265430">
              <a:lnSpc>
                <a:spcPct val="100000"/>
              </a:lnSpc>
              <a:spcBef>
                <a:spcPts val="135"/>
              </a:spcBef>
            </a:pPr>
            <a:r>
              <a:rPr sz="2400" spc="-965" dirty="0">
                <a:solidFill>
                  <a:srgbClr val="FFFFFF"/>
                </a:solidFill>
                <a:latin typeface="Arial MT"/>
                <a:cs typeface="Arial MT"/>
              </a:rPr>
              <a:t>│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150416" y="4420870"/>
            <a:ext cx="7108190" cy="19234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515" dirty="0">
                <a:solidFill>
                  <a:srgbClr val="FFFFFF"/>
                </a:solidFill>
                <a:latin typeface="Arial MT"/>
                <a:cs typeface="Arial MT"/>
              </a:rPr>
              <a:t>├── </a:t>
            </a:r>
            <a:r>
              <a:rPr sz="2400" spc="-25" dirty="0">
                <a:solidFill>
                  <a:srgbClr val="FFFFFF"/>
                </a:solidFill>
                <a:latin typeface="Arial MT"/>
                <a:cs typeface="Arial MT"/>
              </a:rPr>
              <a:t>ShaderManager(</a:t>
            </a:r>
            <a:r>
              <a:rPr sz="2400" dirty="0">
                <a:solidFill>
                  <a:srgbClr val="FFFFFF"/>
                </a:solidFill>
                <a:latin typeface="MS Gothic"/>
                <a:cs typeface="MS Gothic"/>
              </a:rPr>
              <a:t>リフレクション情報を取得</a:t>
            </a:r>
            <a:r>
              <a:rPr sz="2400" spc="-50" dirty="0">
                <a:solidFill>
                  <a:srgbClr val="FFFFFF"/>
                </a:solidFill>
                <a:latin typeface="Arial MT"/>
                <a:cs typeface="Arial MT"/>
              </a:rPr>
              <a:t>)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400" spc="-480" dirty="0">
                <a:solidFill>
                  <a:srgbClr val="FFFFFF"/>
                </a:solidFill>
                <a:latin typeface="Arial MT"/>
                <a:cs typeface="Arial MT"/>
              </a:rPr>
              <a:t>├── </a:t>
            </a:r>
            <a:r>
              <a:rPr sz="2400" spc="-20" dirty="0">
                <a:solidFill>
                  <a:srgbClr val="FFFFFF"/>
                </a:solidFill>
                <a:latin typeface="Arial MT"/>
                <a:cs typeface="Arial MT"/>
              </a:rPr>
              <a:t>ConstantBufferManager(Shader</a:t>
            </a:r>
            <a:r>
              <a:rPr sz="2400" dirty="0">
                <a:solidFill>
                  <a:srgbClr val="FFFFFF"/>
                </a:solidFill>
                <a:latin typeface="MS Gothic"/>
                <a:cs typeface="MS Gothic"/>
              </a:rPr>
              <a:t>から名前検索</a:t>
            </a:r>
            <a:r>
              <a:rPr sz="2400" spc="-50" dirty="0">
                <a:solidFill>
                  <a:srgbClr val="FFFFFF"/>
                </a:solidFill>
                <a:latin typeface="Arial MT"/>
                <a:cs typeface="Arial MT"/>
              </a:rPr>
              <a:t>)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400" spc="-490" dirty="0">
                <a:solidFill>
                  <a:srgbClr val="FFFFFF"/>
                </a:solidFill>
                <a:latin typeface="Arial MT"/>
                <a:cs typeface="Arial MT"/>
              </a:rPr>
              <a:t>├── </a:t>
            </a:r>
            <a:r>
              <a:rPr sz="2400" spc="-20" dirty="0">
                <a:solidFill>
                  <a:srgbClr val="FFFFFF"/>
                </a:solidFill>
                <a:latin typeface="Arial MT"/>
                <a:cs typeface="Arial MT"/>
              </a:rPr>
              <a:t>VertexBufferManager</a:t>
            </a:r>
            <a:r>
              <a:rPr sz="2400" spc="-20" dirty="0">
                <a:solidFill>
                  <a:srgbClr val="FFFFFF"/>
                </a:solidFill>
                <a:latin typeface="MS Gothic"/>
                <a:cs typeface="MS Gothic"/>
              </a:rPr>
              <a:t>（</a:t>
            </a:r>
            <a:r>
              <a:rPr sz="2400" spc="-10" dirty="0">
                <a:solidFill>
                  <a:srgbClr val="FFFFFF"/>
                </a:solidFill>
                <a:latin typeface="MS Gothic"/>
                <a:cs typeface="MS Gothic"/>
              </a:rPr>
              <a:t>頂点シェーダ名で検索</a:t>
            </a:r>
            <a:r>
              <a:rPr sz="2400" spc="-50" dirty="0">
                <a:solidFill>
                  <a:srgbClr val="FFFFFF"/>
                </a:solidFill>
                <a:latin typeface="Arial MT"/>
                <a:cs typeface="Arial MT"/>
              </a:rPr>
              <a:t>)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2400" spc="-535" dirty="0">
                <a:solidFill>
                  <a:srgbClr val="FFFFFF"/>
                </a:solidFill>
                <a:latin typeface="Arial MT"/>
                <a:cs typeface="Arial MT"/>
              </a:rPr>
              <a:t>└── </a:t>
            </a:r>
            <a:r>
              <a:rPr sz="2400" spc="-20" dirty="0">
                <a:solidFill>
                  <a:srgbClr val="FFFFFF"/>
                </a:solidFill>
                <a:latin typeface="Arial MT"/>
                <a:cs typeface="Arial MT"/>
              </a:rPr>
              <a:t>ViewManager</a:t>
            </a:r>
            <a:r>
              <a:rPr sz="2400" spc="-20" dirty="0">
                <a:solidFill>
                  <a:srgbClr val="FFFFFF"/>
                </a:solidFill>
                <a:latin typeface="MS Gothic"/>
                <a:cs typeface="MS Gothic"/>
              </a:rPr>
              <a:t>（</a:t>
            </a:r>
            <a:r>
              <a:rPr sz="2400" dirty="0">
                <a:solidFill>
                  <a:srgbClr val="FFFFFF"/>
                </a:solidFill>
                <a:latin typeface="MS Gothic"/>
                <a:cs typeface="MS Gothic"/>
              </a:rPr>
              <a:t>テクスチャ名から取得</a:t>
            </a:r>
            <a:r>
              <a:rPr sz="2400" spc="-50" dirty="0">
                <a:solidFill>
                  <a:srgbClr val="FFFFFF"/>
                </a:solidFill>
                <a:latin typeface="MS Gothic"/>
                <a:cs typeface="MS Gothic"/>
              </a:rPr>
              <a:t>）</a:t>
            </a:r>
            <a:endParaRPr sz="240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400" spc="-720" dirty="0">
                <a:solidFill>
                  <a:srgbClr val="FFFFFF"/>
                </a:solidFill>
                <a:latin typeface="Arial MT"/>
                <a:cs typeface="Arial MT"/>
              </a:rPr>
              <a:t>└──</a:t>
            </a:r>
            <a:r>
              <a:rPr sz="2400" spc="-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TextureManager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615560" y="886764"/>
            <a:ext cx="7576820" cy="647065"/>
          </a:xfrm>
          <a:prstGeom prst="rect">
            <a:avLst/>
          </a:prstGeom>
          <a:ln w="9525">
            <a:solidFill>
              <a:srgbClr val="FFFFFF"/>
            </a:solidFill>
          </a:ln>
        </p:spPr>
        <p:txBody>
          <a:bodyPr vert="horz" wrap="square" lIns="0" tIns="41275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325"/>
              </a:spcBef>
            </a:pPr>
            <a:r>
              <a:rPr sz="1800" dirty="0">
                <a:solidFill>
                  <a:srgbClr val="FFFFFF"/>
                </a:solidFill>
                <a:latin typeface="Arial MT"/>
                <a:cs typeface="Arial MT"/>
              </a:rPr>
              <a:t>GameMain</a:t>
            </a:r>
            <a:r>
              <a:rPr sz="1800" spc="-3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800" spc="-135" dirty="0">
                <a:solidFill>
                  <a:srgbClr val="FFFFFF"/>
                </a:solidFill>
                <a:latin typeface="MS Gothic"/>
                <a:cs typeface="MS Gothic"/>
              </a:rPr>
              <a:t>から </a:t>
            </a:r>
            <a:r>
              <a:rPr sz="1800" dirty="0">
                <a:solidFill>
                  <a:srgbClr val="FFFFFF"/>
                </a:solidFill>
                <a:latin typeface="Arial MT"/>
                <a:cs typeface="Arial MT"/>
              </a:rPr>
              <a:t>API</a:t>
            </a:r>
            <a:r>
              <a:rPr sz="1800" spc="-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FFFFFF"/>
                </a:solidFill>
                <a:latin typeface="MS Gothic"/>
                <a:cs typeface="MS Gothic"/>
              </a:rPr>
              <a:t>非依存の描画命令を送信</a:t>
            </a:r>
            <a:endParaRPr sz="1800">
              <a:latin typeface="MS Gothic"/>
              <a:cs typeface="MS Gothic"/>
            </a:endParaRPr>
          </a:p>
          <a:p>
            <a:pPr marL="92075">
              <a:lnSpc>
                <a:spcPct val="100000"/>
              </a:lnSpc>
            </a:pPr>
            <a:r>
              <a:rPr sz="1800" spc="-10" dirty="0">
                <a:solidFill>
                  <a:srgbClr val="FFFFFF"/>
                </a:solidFill>
                <a:latin typeface="MS Gothic"/>
                <a:cs typeface="MS Gothic"/>
              </a:rPr>
              <a:t>❦の流れを共通化し、</a:t>
            </a:r>
            <a:r>
              <a:rPr sz="1800" spc="-10" dirty="0">
                <a:solidFill>
                  <a:srgbClr val="FFFFFF"/>
                </a:solidFill>
                <a:latin typeface="Arial MT"/>
                <a:cs typeface="Arial MT"/>
              </a:rPr>
              <a:t>API</a:t>
            </a:r>
            <a:r>
              <a:rPr sz="1800" spc="-15" dirty="0">
                <a:solidFill>
                  <a:srgbClr val="FFFFFF"/>
                </a:solidFill>
                <a:latin typeface="MS Gothic"/>
                <a:cs typeface="MS Gothic"/>
              </a:rPr>
              <a:t>差し替えを容易にできるように設計しました</a:t>
            </a:r>
            <a:endParaRPr sz="1800">
              <a:latin typeface="MS Gothic"/>
              <a:cs typeface="MS Gothic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255511" y="2967240"/>
            <a:ext cx="5614670" cy="923925"/>
          </a:xfrm>
          <a:prstGeom prst="rect">
            <a:avLst/>
          </a:prstGeom>
          <a:ln w="9525">
            <a:solidFill>
              <a:srgbClr val="FFFFFF"/>
            </a:solidFill>
          </a:ln>
        </p:spPr>
        <p:txBody>
          <a:bodyPr vert="horz" wrap="square" lIns="0" tIns="41910" rIns="0" bIns="0" rtlCol="0">
            <a:spAutoFit/>
          </a:bodyPr>
          <a:lstStyle/>
          <a:p>
            <a:pPr marL="92075" marR="256540">
              <a:lnSpc>
                <a:spcPct val="100000"/>
              </a:lnSpc>
              <a:spcBef>
                <a:spcPts val="330"/>
              </a:spcBef>
            </a:pPr>
            <a:r>
              <a:rPr sz="1800" spc="-5" dirty="0">
                <a:solidFill>
                  <a:srgbClr val="FFFFFF"/>
                </a:solidFill>
                <a:latin typeface="MS Gothic"/>
                <a:cs typeface="MS Gothic"/>
              </a:rPr>
              <a:t>現在は、描画に必要な名前を引数で渡しているが、</a:t>
            </a:r>
            <a:r>
              <a:rPr sz="1800" dirty="0">
                <a:solidFill>
                  <a:srgbClr val="FFFFFF"/>
                </a:solidFill>
                <a:latin typeface="MS Gothic"/>
                <a:cs typeface="MS Gothic"/>
              </a:rPr>
              <a:t>将来的には、描画</a:t>
            </a:r>
            <a:r>
              <a:rPr sz="1800" spc="-10" dirty="0">
                <a:solidFill>
                  <a:srgbClr val="FFFFFF"/>
                </a:solidFill>
                <a:latin typeface="Arial MT"/>
                <a:cs typeface="Arial MT"/>
              </a:rPr>
              <a:t>ID</a:t>
            </a:r>
            <a:r>
              <a:rPr sz="1800" spc="-5" dirty="0">
                <a:solidFill>
                  <a:srgbClr val="FFFFFF"/>
                </a:solidFill>
                <a:latin typeface="MS Gothic"/>
                <a:cs typeface="MS Gothic"/>
              </a:rPr>
              <a:t>で描画してオブジェクトが</a:t>
            </a:r>
            <a:endParaRPr sz="1800">
              <a:latin typeface="MS Gothic"/>
              <a:cs typeface="MS Gothic"/>
            </a:endParaRPr>
          </a:p>
          <a:p>
            <a:pPr marL="92075">
              <a:lnSpc>
                <a:spcPct val="100000"/>
              </a:lnSpc>
            </a:pPr>
            <a:r>
              <a:rPr sz="1800" spc="-5" dirty="0">
                <a:solidFill>
                  <a:srgbClr val="FFFFFF"/>
                </a:solidFill>
                <a:latin typeface="MS Gothic"/>
                <a:cs typeface="MS Gothic"/>
              </a:rPr>
              <a:t>知らないようにしたいと思っています。</a:t>
            </a:r>
            <a:endParaRPr sz="1800">
              <a:latin typeface="MS Gothic"/>
              <a:cs typeface="MS Gothic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553083" y="1806917"/>
            <a:ext cx="3062605" cy="650875"/>
          </a:xfrm>
          <a:prstGeom prst="rect">
            <a:avLst/>
          </a:prstGeom>
          <a:ln w="9525">
            <a:solidFill>
              <a:srgbClr val="FFFFFF"/>
            </a:solidFill>
          </a:ln>
        </p:spPr>
        <p:txBody>
          <a:bodyPr vert="horz" wrap="square" lIns="0" tIns="118745" rIns="0" bIns="0" rtlCol="0">
            <a:spAutoFit/>
          </a:bodyPr>
          <a:lstStyle/>
          <a:p>
            <a:pPr marL="91440" marR="219710">
              <a:lnSpc>
                <a:spcPts val="2060"/>
              </a:lnSpc>
              <a:spcBef>
                <a:spcPts val="935"/>
              </a:spcBef>
            </a:pPr>
            <a:r>
              <a:rPr sz="1800" spc="-5" dirty="0">
                <a:solidFill>
                  <a:srgbClr val="FFFFFF"/>
                </a:solidFill>
                <a:latin typeface="MS Gothic"/>
                <a:cs typeface="MS Gothic"/>
              </a:rPr>
              <a:t>シェーダー名、テクスチャ</a:t>
            </a:r>
            <a:r>
              <a:rPr sz="1800" spc="-10" dirty="0">
                <a:solidFill>
                  <a:srgbClr val="FFFFFF"/>
                </a:solidFill>
                <a:latin typeface="MS Gothic"/>
                <a:cs typeface="MS Gothic"/>
              </a:rPr>
              <a:t>名、モデル名を渡す</a:t>
            </a:r>
            <a:endParaRPr sz="180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25" dirty="0"/>
              <a:t>シェーダーのリフレクション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95985" y="1509724"/>
            <a:ext cx="11420475" cy="26276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シェーダーリフレクションによる自動バインド設計</a:t>
            </a:r>
            <a:endParaRPr sz="2800">
              <a:latin typeface="MS Gothic"/>
              <a:cs typeface="MS Gothic"/>
            </a:endParaRPr>
          </a:p>
          <a:p>
            <a:pPr>
              <a:lnSpc>
                <a:spcPct val="100000"/>
              </a:lnSpc>
              <a:spcBef>
                <a:spcPts val="1110"/>
              </a:spcBef>
            </a:pPr>
            <a:endParaRPr sz="2800">
              <a:latin typeface="MS Gothic"/>
              <a:cs typeface="MS Gothic"/>
            </a:endParaRPr>
          </a:p>
          <a:p>
            <a:pPr marL="12700">
              <a:lnSpc>
                <a:spcPts val="3190"/>
              </a:lnSpc>
            </a:pP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シェーダーファイルをリフレクション解析して、</a:t>
            </a:r>
            <a:endParaRPr sz="2800">
              <a:latin typeface="MS Gothic"/>
              <a:cs typeface="MS Gothic"/>
            </a:endParaRPr>
          </a:p>
          <a:p>
            <a:pPr marL="12700" marR="1091565">
              <a:lnSpc>
                <a:spcPts val="3030"/>
              </a:lnSpc>
              <a:spcBef>
                <a:spcPts val="204"/>
              </a:spcBef>
            </a:pP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各シェーダーが使用する定数バッファ名・スロット番号を自動で取得しています。❦れにより、描画時に手動でスロットを</a:t>
            </a:r>
            <a:endParaRPr sz="2800">
              <a:latin typeface="MS Gothic"/>
              <a:cs typeface="MS Gothic"/>
            </a:endParaRPr>
          </a:p>
          <a:p>
            <a:pPr marL="12700">
              <a:lnSpc>
                <a:spcPts val="2975"/>
              </a:lnSpc>
            </a:pP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設定する手間を省き、定数バッファの自動バインドを実現しています。</a:t>
            </a:r>
            <a:endParaRPr sz="2800">
              <a:latin typeface="MS Gothic"/>
              <a:cs typeface="MS Gothic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33850" y="4286248"/>
            <a:ext cx="8058150" cy="257174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25" dirty="0"/>
              <a:t>意識して開発していると❦ろ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9236" y="2033142"/>
            <a:ext cx="7133590" cy="1220470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368935" marR="360045" indent="-356870">
              <a:lnSpc>
                <a:spcPts val="3020"/>
              </a:lnSpc>
              <a:spcBef>
                <a:spcPts val="480"/>
              </a:spcBef>
            </a:pP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スレッドの勉✲を全くできていないため、オブジェクト指向を✲く意識して、</a:t>
            </a:r>
            <a:endParaRPr sz="2800">
              <a:latin typeface="MS Gothic"/>
              <a:cs typeface="MS Gothic"/>
            </a:endParaRPr>
          </a:p>
          <a:p>
            <a:pPr marL="723900">
              <a:lnSpc>
                <a:spcPts val="2985"/>
              </a:lnSpc>
            </a:pP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後から修正しやすいようにしています。</a:t>
            </a:r>
            <a:endParaRPr sz="2800">
              <a:latin typeface="MS Gothic"/>
              <a:cs typeface="MS Gothic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016750" y="3969829"/>
            <a:ext cx="3955161" cy="206717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53313" y="547877"/>
            <a:ext cx="4497070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15" dirty="0"/>
              <a:t>今後制作するもの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3025"/>
              </a:lnSpc>
              <a:spcBef>
                <a:spcPts val="95"/>
              </a:spcBef>
            </a:pPr>
            <a:r>
              <a:rPr spc="-40" dirty="0"/>
              <a:t>・描画マネージャー</a:t>
            </a:r>
          </a:p>
          <a:p>
            <a:pPr marL="368935">
              <a:lnSpc>
                <a:spcPts val="3025"/>
              </a:lnSpc>
            </a:pPr>
            <a:r>
              <a:rPr spc="-40" dirty="0"/>
              <a:t>・自作フォーマアットモデル</a:t>
            </a:r>
          </a:p>
          <a:p>
            <a:pPr marL="368935">
              <a:lnSpc>
                <a:spcPct val="100000"/>
              </a:lnSpc>
              <a:spcBef>
                <a:spcPts val="335"/>
              </a:spcBef>
            </a:pPr>
            <a:r>
              <a:rPr spc="-40" dirty="0"/>
              <a:t>・モデルロードモジュール</a:t>
            </a:r>
          </a:p>
          <a:p>
            <a:pPr marL="368935">
              <a:lnSpc>
                <a:spcPct val="100000"/>
              </a:lnSpc>
              <a:spcBef>
                <a:spcPts val="325"/>
              </a:spcBef>
            </a:pPr>
            <a:r>
              <a:rPr spc="-40" dirty="0"/>
              <a:t>・モデルマネージャー</a:t>
            </a:r>
          </a:p>
          <a:p>
            <a:pPr marL="368935">
              <a:lnSpc>
                <a:spcPct val="100000"/>
              </a:lnSpc>
              <a:spcBef>
                <a:spcPts val="325"/>
              </a:spcBef>
            </a:pPr>
            <a:r>
              <a:rPr spc="-40" dirty="0"/>
              <a:t>・モデルデータクラス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908405" y="4353509"/>
            <a:ext cx="63138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35" dirty="0">
                <a:solidFill>
                  <a:srgbClr val="FFFFFF"/>
                </a:solidFill>
                <a:latin typeface="MS Gothic"/>
                <a:cs typeface="MS Gothic"/>
              </a:rPr>
              <a:t>・バッチ処理</a:t>
            </a:r>
            <a:r>
              <a:rPr sz="2800" spc="-10" dirty="0">
                <a:solidFill>
                  <a:srgbClr val="FFFFFF"/>
                </a:solidFill>
                <a:latin typeface="Arial MT"/>
                <a:cs typeface="Arial MT"/>
              </a:rPr>
              <a:t>(</a:t>
            </a:r>
            <a:r>
              <a:rPr sz="2800" spc="-35" dirty="0">
                <a:solidFill>
                  <a:srgbClr val="FFFFFF"/>
                </a:solidFill>
                <a:latin typeface="MS Gothic"/>
                <a:cs typeface="MS Gothic"/>
              </a:rPr>
              <a:t>インスタンシングの予定</a:t>
            </a:r>
            <a:r>
              <a:rPr sz="2800" spc="-50" dirty="0">
                <a:solidFill>
                  <a:srgbClr val="FFFFFF"/>
                </a:solidFill>
                <a:latin typeface="Arial MT"/>
                <a:cs typeface="Arial MT"/>
              </a:rPr>
              <a:t>)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51935" y="5630455"/>
            <a:ext cx="4904105" cy="369570"/>
          </a:xfrm>
          <a:prstGeom prst="rect">
            <a:avLst/>
          </a:prstGeom>
          <a:ln w="9525">
            <a:solidFill>
              <a:srgbClr val="FFFFFF"/>
            </a:solidFill>
          </a:ln>
        </p:spPr>
        <p:txBody>
          <a:bodyPr vert="horz" wrap="square" lIns="0" tIns="42544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334"/>
              </a:spcBef>
            </a:pPr>
            <a:r>
              <a:rPr sz="1800" dirty="0">
                <a:solidFill>
                  <a:srgbClr val="FFFFFF"/>
                </a:solidFill>
                <a:latin typeface="MS Gothic"/>
                <a:cs typeface="MS Gothic"/>
              </a:rPr>
              <a:t>ロード読込みの開発が</a:t>
            </a:r>
            <a:r>
              <a:rPr sz="1800" spc="-10" dirty="0">
                <a:solidFill>
                  <a:srgbClr val="FFFFFF"/>
                </a:solidFill>
                <a:latin typeface="Arial MT"/>
                <a:cs typeface="Arial MT"/>
              </a:rPr>
              <a:t>1</a:t>
            </a:r>
            <a:r>
              <a:rPr sz="1800" spc="-5" dirty="0">
                <a:solidFill>
                  <a:srgbClr val="FFFFFF"/>
                </a:solidFill>
                <a:latin typeface="MS Gothic"/>
                <a:cs typeface="MS Gothic"/>
              </a:rPr>
              <a:t>つも進んでいません。</a:t>
            </a:r>
            <a:endParaRPr sz="1800">
              <a:latin typeface="MS Gothic"/>
              <a:cs typeface="MS Gothic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003797" y="3198253"/>
            <a:ext cx="6054725" cy="923925"/>
          </a:xfrm>
          <a:prstGeom prst="rect">
            <a:avLst/>
          </a:prstGeom>
          <a:ln w="9525">
            <a:solidFill>
              <a:srgbClr val="FFFFFF"/>
            </a:solidFill>
          </a:ln>
        </p:spPr>
        <p:txBody>
          <a:bodyPr vert="horz" wrap="square" lIns="0" tIns="41275" rIns="0" bIns="0" rtlCol="0">
            <a:spAutoFit/>
          </a:bodyPr>
          <a:lstStyle/>
          <a:p>
            <a:pPr marL="92075" marR="696595" algn="just">
              <a:lnSpc>
                <a:spcPct val="100000"/>
              </a:lnSpc>
              <a:spcBef>
                <a:spcPts val="325"/>
              </a:spcBef>
            </a:pPr>
            <a:r>
              <a:rPr sz="1800" spc="-15" dirty="0">
                <a:solidFill>
                  <a:srgbClr val="FFFFFF"/>
                </a:solidFill>
                <a:latin typeface="MS Gothic"/>
                <a:cs typeface="MS Gothic"/>
              </a:rPr>
              <a:t>まだモデルのロードと、サンプラーマネージャーが</a:t>
            </a:r>
            <a:r>
              <a:rPr sz="1800" spc="-5" dirty="0">
                <a:solidFill>
                  <a:srgbClr val="FFFFFF"/>
                </a:solidFill>
                <a:latin typeface="MS Gothic"/>
                <a:cs typeface="MS Gothic"/>
              </a:rPr>
              <a:t>ないためサンプラーを共有する❦とが出来ないためそ❦を制作したいと思っています。</a:t>
            </a:r>
            <a:endParaRPr sz="1800">
              <a:latin typeface="MS Gothic"/>
              <a:cs typeface="MS Gothic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003797" y="2068245"/>
            <a:ext cx="6054725" cy="647065"/>
          </a:xfrm>
          <a:prstGeom prst="rect">
            <a:avLst/>
          </a:prstGeom>
          <a:ln w="9525">
            <a:solidFill>
              <a:srgbClr val="FFFFFF"/>
            </a:solidFill>
          </a:ln>
        </p:spPr>
        <p:txBody>
          <a:bodyPr vert="horz" wrap="square" lIns="0" tIns="41275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325"/>
              </a:spcBef>
            </a:pPr>
            <a:r>
              <a:rPr sz="1800" spc="-20" dirty="0">
                <a:solidFill>
                  <a:srgbClr val="FFFFFF"/>
                </a:solidFill>
                <a:latin typeface="MS Gothic"/>
                <a:cs typeface="MS Gothic"/>
              </a:rPr>
              <a:t>バグ修正</a:t>
            </a:r>
            <a:endParaRPr sz="1800">
              <a:latin typeface="MS Gothic"/>
              <a:cs typeface="MS Gothic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</a:pPr>
            <a:r>
              <a:rPr sz="1800" spc="-5" dirty="0">
                <a:solidFill>
                  <a:srgbClr val="FFFFFF"/>
                </a:solidFill>
                <a:latin typeface="MS Gothic"/>
                <a:cs typeface="MS Gothic"/>
              </a:rPr>
              <a:t>・テクスチャのロード時にテクスチャを取得できない</a:t>
            </a:r>
            <a:endParaRPr sz="180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</TotalTime>
  <Words>289</Words>
  <Application>Microsoft Office PowerPoint</Application>
  <PresentationFormat>ワイド画面</PresentationFormat>
  <Paragraphs>94</Paragraphs>
  <Slides>15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9" baseType="lpstr">
      <vt:lpstr>Arial MT</vt:lpstr>
      <vt:lpstr>MS Gothic</vt:lpstr>
      <vt:lpstr>Arial</vt:lpstr>
      <vt:lpstr>Office Theme</vt:lpstr>
      <vt:lpstr>就職作品制作アピールポイント</vt:lpstr>
      <vt:lpstr>作品概要・開発目的</vt:lpstr>
      <vt:lpstr>制作したいと思っている          アクションゲーム紹介</vt:lpstr>
      <vt:lpstr>ゲーム紹介</vt:lpstr>
      <vt:lpstr>このゲームを作成するうえで          必要になる技術選び</vt:lpstr>
      <vt:lpstr>技術選定</vt:lpstr>
      <vt:lpstr>技術選定</vt:lpstr>
      <vt:lpstr>今制作している描画マネージャーの            アピールポイント紹介</vt:lpstr>
      <vt:lpstr>プラットフォーム非依存設計</vt:lpstr>
      <vt:lpstr>プラットフォーム非依存設計</vt:lpstr>
      <vt:lpstr>リソース管理とマネージャー構成</vt:lpstr>
      <vt:lpstr>描画処理の流れ</vt:lpstr>
      <vt:lpstr>シェーダーのリフレクション</vt:lpstr>
      <vt:lpstr>意識して開発していると❦ろ</vt:lpstr>
      <vt:lpstr>今後制作するもの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OHAT13B52932 松田健志</dc:creator>
  <cp:lastModifiedBy>OHAT13B52932 松田健志</cp:lastModifiedBy>
  <cp:revision>28</cp:revision>
  <dcterms:created xsi:type="dcterms:W3CDTF">2025-12-13T00:48:35Z</dcterms:created>
  <dcterms:modified xsi:type="dcterms:W3CDTF">2025-12-13T01:13:20Z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2025-10-11T00:00:00Z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2025-12-13T00:00:00Z</vt:filetime>
  </property>
  <property fmtid="{D5CDD505-2E9C-101B-9397-08002B2CF9AE}" pid="5" name="Producer">
    <vt:lpwstr>Microsoft® PowerPoint® for Microsoft 365</vt:lpwstr>
  </property>
</Properties>
</file>