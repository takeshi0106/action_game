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4" r:id="rId8"/>
    <p:sldId id="263" r:id="rId9"/>
    <p:sldId id="265" r:id="rId10"/>
    <p:sldId id="266" r:id="rId1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1/28/2026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1/28/2026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42671" y="482041"/>
            <a:ext cx="7287259" cy="6972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400" b="0" i="0" u="sng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53313" y="2137663"/>
            <a:ext cx="5001895" cy="2198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bg1"/>
                </a:solidFill>
                <a:latin typeface="MS Gothic"/>
                <a:cs typeface="MS Gothic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1/28/2026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727710" y="2192962"/>
            <a:ext cx="10736580" cy="9361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ja-JP" altLang="en-US" sz="6000" dirty="0"/>
              <a:t>作品資料</a:t>
            </a:r>
            <a:endParaRPr sz="6000" dirty="0"/>
          </a:p>
        </p:txBody>
      </p:sp>
      <p:sp>
        <p:nvSpPr>
          <p:cNvPr id="3" name="object 3"/>
          <p:cNvSpPr txBox="1"/>
          <p:nvPr/>
        </p:nvSpPr>
        <p:spPr>
          <a:xfrm>
            <a:off x="4381500" y="3733800"/>
            <a:ext cx="3429000" cy="536685"/>
          </a:xfrm>
          <a:prstGeom prst="rect">
            <a:avLst/>
          </a:prstGeom>
        </p:spPr>
        <p:txBody>
          <a:bodyPr vert="horz" wrap="square" lIns="0" tIns="1047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735"/>
              </a:spcBef>
            </a:pPr>
            <a:r>
              <a:rPr lang="en-US" altLang="ja-JP" sz="2800" spc="-125" dirty="0">
                <a:solidFill>
                  <a:srgbClr val="FFFFFF"/>
                </a:solidFill>
                <a:latin typeface="MS Gothic"/>
                <a:cs typeface="MS Gothic"/>
              </a:rPr>
              <a:t>HAL</a:t>
            </a:r>
            <a:r>
              <a:rPr lang="ja-JP" altLang="en-US" sz="2800" spc="-125" dirty="0">
                <a:solidFill>
                  <a:srgbClr val="FFFFFF"/>
                </a:solidFill>
                <a:latin typeface="MS Gothic"/>
                <a:cs typeface="MS Gothic"/>
              </a:rPr>
              <a:t>大阪　　松田 </a:t>
            </a:r>
            <a:r>
              <a:rPr sz="2800" spc="-125" dirty="0" err="1">
                <a:solidFill>
                  <a:srgbClr val="FFFFFF"/>
                </a:solidFill>
                <a:latin typeface="MS Gothic"/>
                <a:cs typeface="MS Gothic"/>
              </a:rPr>
              <a:t>健志</a:t>
            </a:r>
            <a:endParaRPr sz="2800" dirty="0">
              <a:latin typeface="MS Gothic"/>
              <a:cs typeface="MS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30DCD2-F0DB-B7B9-A22B-CC6696E04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381000"/>
            <a:ext cx="1981200" cy="923330"/>
          </a:xfrm>
        </p:spPr>
        <p:txBody>
          <a:bodyPr/>
          <a:lstStyle/>
          <a:p>
            <a:r>
              <a:rPr kumimoji="1" lang="ja-JP" altLang="en-US" sz="6000" dirty="0"/>
              <a:t>目次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EE9F1BA-CC7D-3F20-F458-0F6492D5C4D6}"/>
              </a:ext>
            </a:extLst>
          </p:cNvPr>
          <p:cNvSpPr txBox="1"/>
          <p:nvPr/>
        </p:nvSpPr>
        <p:spPr>
          <a:xfrm>
            <a:off x="381000" y="1981200"/>
            <a:ext cx="25146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①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作品概要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E09693D-262C-394F-A8A7-640967748777}"/>
              </a:ext>
            </a:extLst>
          </p:cNvPr>
          <p:cNvSpPr txBox="1"/>
          <p:nvPr/>
        </p:nvSpPr>
        <p:spPr>
          <a:xfrm>
            <a:off x="381000" y="2844225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②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コンセプト実現に向けて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60C6055-A983-F43C-12BA-368BCF79D180}"/>
              </a:ext>
            </a:extLst>
          </p:cNvPr>
          <p:cNvSpPr txBox="1"/>
          <p:nvPr/>
        </p:nvSpPr>
        <p:spPr>
          <a:xfrm>
            <a:off x="381000" y="3707250"/>
            <a:ext cx="5410200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3200" b="1" dirty="0">
                <a:solidFill>
                  <a:schemeClr val="bg1"/>
                </a:solidFill>
              </a:rPr>
              <a:t>③ </a:t>
            </a:r>
            <a:r>
              <a:rPr kumimoji="1" lang="ja-JP" altLang="en-US" sz="3200" b="1" u="sng" dirty="0">
                <a:solidFill>
                  <a:schemeClr val="bg1"/>
                </a:solidFill>
              </a:rPr>
              <a:t>今後</a:t>
            </a:r>
          </a:p>
        </p:txBody>
      </p:sp>
    </p:spTree>
    <p:extLst>
      <p:ext uri="{BB962C8B-B14F-4D97-AF65-F5344CB8AC3E}">
        <p14:creationId xmlns:p14="http://schemas.microsoft.com/office/powerpoint/2010/main" val="651915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5D6B6-954C-4D82-7E7B-002BE8F8D0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081D0E-FD59-D61C-C70D-E4F752D7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5E731EC-97BD-6702-40FB-F449B406C8C4}"/>
              </a:ext>
            </a:extLst>
          </p:cNvPr>
          <p:cNvSpPr txBox="1"/>
          <p:nvPr/>
        </p:nvSpPr>
        <p:spPr>
          <a:xfrm>
            <a:off x="371168" y="1600200"/>
            <a:ext cx="92300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コンセプト </a:t>
            </a:r>
            <a:r>
              <a:rPr kumimoji="1" lang="en-US" altLang="ja-JP" sz="3200" dirty="0">
                <a:solidFill>
                  <a:schemeClr val="bg1"/>
                </a:solidFill>
              </a:rPr>
              <a:t>: </a:t>
            </a:r>
            <a:r>
              <a:rPr kumimoji="1" lang="ja-JP" altLang="en-US" sz="3200" dirty="0">
                <a:solidFill>
                  <a:schemeClr val="bg1"/>
                </a:solidFill>
              </a:rPr>
              <a:t>クロスプラットフォーム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2D9B942-9541-F528-6F28-F3CF955D7AB9}"/>
              </a:ext>
            </a:extLst>
          </p:cNvPr>
          <p:cNvSpPr txBox="1"/>
          <p:nvPr/>
        </p:nvSpPr>
        <p:spPr>
          <a:xfrm>
            <a:off x="838200" y="2362200"/>
            <a:ext cx="10210800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dirty="0">
                <a:solidFill>
                  <a:schemeClr val="bg1"/>
                </a:solidFill>
              </a:rPr>
              <a:t>PC(DirectX)</a:t>
            </a:r>
            <a:r>
              <a:rPr kumimoji="1" lang="ja-JP" altLang="en-US" sz="2400" dirty="0">
                <a:solidFill>
                  <a:schemeClr val="bg1"/>
                </a:solidFill>
              </a:rPr>
              <a:t>でゲーム開発を行い、ゲーム本編のプログラムを一切変更せずに他のプラットフォームに対応できるように</a:t>
            </a:r>
          </a:p>
        </p:txBody>
      </p:sp>
    </p:spTree>
    <p:extLst>
      <p:ext uri="{BB962C8B-B14F-4D97-AF65-F5344CB8AC3E}">
        <p14:creationId xmlns:p14="http://schemas.microsoft.com/office/powerpoint/2010/main" val="3931342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A1B2D-7334-4B27-5A11-5C018C382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8A2789-DDC9-EA5E-D3D6-9256DF560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ED591FF-3C66-76C9-7DB1-C9FD342DC09F}"/>
              </a:ext>
            </a:extLst>
          </p:cNvPr>
          <p:cNvSpPr txBox="1"/>
          <p:nvPr/>
        </p:nvSpPr>
        <p:spPr>
          <a:xfrm>
            <a:off x="371168" y="5715000"/>
            <a:ext cx="4810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制作期間 </a:t>
            </a:r>
            <a:r>
              <a:rPr kumimoji="1" lang="en-US" altLang="ja-JP" sz="3200" dirty="0">
                <a:solidFill>
                  <a:schemeClr val="bg1"/>
                </a:solidFill>
              </a:rPr>
              <a:t>:</a:t>
            </a:r>
            <a:r>
              <a:rPr kumimoji="1" lang="ja-JP" altLang="en-US" sz="3200" dirty="0">
                <a:solidFill>
                  <a:schemeClr val="bg1"/>
                </a:solidFill>
              </a:rPr>
              <a:t>約３～４か月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C3ED28E-B2D5-C64C-E143-47076CA1F52A}"/>
              </a:ext>
            </a:extLst>
          </p:cNvPr>
          <p:cNvSpPr txBox="1"/>
          <p:nvPr/>
        </p:nvSpPr>
        <p:spPr>
          <a:xfrm>
            <a:off x="371168" y="1587824"/>
            <a:ext cx="18386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開発環境 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85EB103-E022-71F1-C4DA-50FA9BB056C9}"/>
              </a:ext>
            </a:extLst>
          </p:cNvPr>
          <p:cNvSpPr txBox="1"/>
          <p:nvPr/>
        </p:nvSpPr>
        <p:spPr>
          <a:xfrm>
            <a:off x="371168" y="3429000"/>
            <a:ext cx="4810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使用したライブラリー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2B0496B6-09CE-C597-6AE6-9E4529129B98}"/>
              </a:ext>
            </a:extLst>
          </p:cNvPr>
          <p:cNvSpPr txBox="1"/>
          <p:nvPr/>
        </p:nvSpPr>
        <p:spPr>
          <a:xfrm>
            <a:off x="371168" y="2239108"/>
            <a:ext cx="206723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C++20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DirectX11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29686F3-4DCA-0446-F882-162AAF7222AC}"/>
              </a:ext>
            </a:extLst>
          </p:cNvPr>
          <p:cNvSpPr txBox="1"/>
          <p:nvPr/>
        </p:nvSpPr>
        <p:spPr>
          <a:xfrm>
            <a:off x="371168" y="4114800"/>
            <a:ext cx="2905432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 err="1">
                <a:solidFill>
                  <a:schemeClr val="bg1"/>
                </a:solidFill>
              </a:rPr>
              <a:t>assimp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DirectX Tex</a:t>
            </a: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 err="1">
                <a:solidFill>
                  <a:schemeClr val="bg1"/>
                </a:solidFill>
              </a:rPr>
              <a:t>imgui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9401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2B8D1-7A44-1661-C741-A02FE6EF0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7C518BC-F958-1B35-CCDD-CC2D78530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2"/>
            <a:ext cx="7287259" cy="923330"/>
          </a:xfrm>
        </p:spPr>
        <p:txBody>
          <a:bodyPr/>
          <a:lstStyle/>
          <a:p>
            <a:r>
              <a:rPr kumimoji="1" lang="ja-JP" altLang="en-US" sz="6000" dirty="0"/>
              <a:t>作品概要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89EE7F1-9B2D-DFC2-B0AC-DB15DBEDC2CA}"/>
              </a:ext>
            </a:extLst>
          </p:cNvPr>
          <p:cNvSpPr txBox="1"/>
          <p:nvPr/>
        </p:nvSpPr>
        <p:spPr>
          <a:xfrm>
            <a:off x="376084" y="5746988"/>
            <a:ext cx="18386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制作期間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4D52795-696D-6E1A-99BF-81E3D33BD6B9}"/>
              </a:ext>
            </a:extLst>
          </p:cNvPr>
          <p:cNvSpPr txBox="1"/>
          <p:nvPr/>
        </p:nvSpPr>
        <p:spPr>
          <a:xfrm>
            <a:off x="371168" y="1670912"/>
            <a:ext cx="18386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開発環境 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8A21C07-7042-B19C-7E48-4EBE8BF15940}"/>
              </a:ext>
            </a:extLst>
          </p:cNvPr>
          <p:cNvSpPr txBox="1"/>
          <p:nvPr/>
        </p:nvSpPr>
        <p:spPr>
          <a:xfrm>
            <a:off x="371168" y="3485072"/>
            <a:ext cx="4810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使用したライブラリー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ACF0306-DB2D-1AAF-5B7E-A3B634C448CD}"/>
              </a:ext>
            </a:extLst>
          </p:cNvPr>
          <p:cNvSpPr txBox="1"/>
          <p:nvPr/>
        </p:nvSpPr>
        <p:spPr>
          <a:xfrm>
            <a:off x="371168" y="2317000"/>
            <a:ext cx="2067232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C++20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DirectX11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70C16102-087D-3E60-F93F-F272B10EBB0C}"/>
              </a:ext>
            </a:extLst>
          </p:cNvPr>
          <p:cNvSpPr txBox="1"/>
          <p:nvPr/>
        </p:nvSpPr>
        <p:spPr>
          <a:xfrm>
            <a:off x="371168" y="4118578"/>
            <a:ext cx="2905432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 err="1">
                <a:solidFill>
                  <a:schemeClr val="bg1"/>
                </a:solidFill>
              </a:rPr>
              <a:t>assimp</a:t>
            </a:r>
            <a:br>
              <a:rPr kumimoji="1" lang="en-US" altLang="ja-JP" sz="2400" dirty="0">
                <a:solidFill>
                  <a:schemeClr val="bg1"/>
                </a:solidFill>
              </a:rPr>
            </a:br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>
                <a:solidFill>
                  <a:schemeClr val="bg1"/>
                </a:solidFill>
              </a:rPr>
              <a:t>DirectX Tex</a:t>
            </a: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・ </a:t>
            </a:r>
            <a:r>
              <a:rPr kumimoji="1" lang="en-US" altLang="ja-JP" sz="2400" dirty="0" err="1">
                <a:solidFill>
                  <a:schemeClr val="bg1"/>
                </a:solidFill>
              </a:rPr>
              <a:t>imgui</a:t>
            </a:r>
            <a:endParaRPr kumimoji="1" lang="ja-JP" altLang="en-US" sz="2400" dirty="0">
              <a:solidFill>
                <a:schemeClr val="bg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C53D2EB-AE10-803F-5B20-6760BC2CA432}"/>
              </a:ext>
            </a:extLst>
          </p:cNvPr>
          <p:cNvSpPr txBox="1"/>
          <p:nvPr/>
        </p:nvSpPr>
        <p:spPr>
          <a:xfrm>
            <a:off x="2566997" y="5870098"/>
            <a:ext cx="2081203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ja-JP" sz="2400" u="sng" dirty="0">
                <a:solidFill>
                  <a:schemeClr val="bg1"/>
                </a:solidFill>
              </a:rPr>
              <a:t>約３～４か月</a:t>
            </a:r>
            <a:endParaRPr kumimoji="1" lang="ja-JP" altLang="en-US" sz="2400" u="sng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40311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54F2-5412-F8A6-C31D-E1DAF632D8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25D28A-7AC9-B615-0884-AA4D0120B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8803B9C-B76A-6051-F6AD-89F91A570D24}"/>
              </a:ext>
            </a:extLst>
          </p:cNvPr>
          <p:cNvSpPr txBox="1"/>
          <p:nvPr/>
        </p:nvSpPr>
        <p:spPr>
          <a:xfrm>
            <a:off x="371168" y="1670339"/>
            <a:ext cx="26768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基本データ型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1A88100-0725-4EDC-2BE3-779C7D19AAC8}"/>
              </a:ext>
            </a:extLst>
          </p:cNvPr>
          <p:cNvSpPr txBox="1"/>
          <p:nvPr/>
        </p:nvSpPr>
        <p:spPr>
          <a:xfrm>
            <a:off x="371168" y="2255114"/>
            <a:ext cx="10754032" cy="120032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各</a:t>
            </a:r>
            <a:r>
              <a:rPr kumimoji="1" lang="en-US" altLang="ja-JP" sz="2400" dirty="0">
                <a:solidFill>
                  <a:schemeClr val="bg1"/>
                </a:solidFill>
              </a:rPr>
              <a:t>API</a:t>
            </a:r>
            <a:r>
              <a:rPr kumimoji="1" lang="ja-JP" altLang="en-US" sz="2400" dirty="0">
                <a:solidFill>
                  <a:schemeClr val="bg1"/>
                </a:solidFill>
              </a:rPr>
              <a:t>、</a:t>
            </a:r>
            <a:r>
              <a:rPr kumimoji="1" lang="en-US" altLang="ja-JP" sz="2400" dirty="0">
                <a:solidFill>
                  <a:schemeClr val="bg1"/>
                </a:solidFill>
              </a:rPr>
              <a:t>OS</a:t>
            </a:r>
            <a:r>
              <a:rPr kumimoji="1" lang="ja-JP" altLang="en-US" sz="2400" dirty="0">
                <a:solidFill>
                  <a:schemeClr val="bg1"/>
                </a:solidFill>
              </a:rPr>
              <a:t>ごとの差異を吸収するために自作数学・文字列ライブラリを作成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数学ライブラリは計算処理のみ、プラットフォームに最適なものを使用</a:t>
            </a:r>
            <a:endParaRPr kumimoji="1" lang="en-US" altLang="ja-JP" sz="2400" dirty="0">
              <a:solidFill>
                <a:schemeClr val="bg1"/>
              </a:solidFill>
            </a:endParaRPr>
          </a:p>
          <a:p>
            <a:r>
              <a:rPr kumimoji="1" lang="ja-JP" altLang="en-US" sz="2400" dirty="0">
                <a:solidFill>
                  <a:schemeClr val="bg1"/>
                </a:solidFill>
              </a:rPr>
              <a:t>文字列ライブラリはエンコードを</a:t>
            </a:r>
            <a:r>
              <a:rPr kumimoji="1" lang="en-US" altLang="ja-JP" sz="2400" dirty="0">
                <a:solidFill>
                  <a:schemeClr val="bg1"/>
                </a:solidFill>
              </a:rPr>
              <a:t>UTF-8</a:t>
            </a:r>
            <a:r>
              <a:rPr kumimoji="1" lang="ja-JP" altLang="en-US" sz="2400" dirty="0">
                <a:solidFill>
                  <a:schemeClr val="bg1"/>
                </a:solidFill>
              </a:rPr>
              <a:t>に統一して、差異を吸収しています。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099220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2469C-9544-3EE0-2E53-A6F33783F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C8A78A-FF1F-9D2E-2968-2EF9DD7DA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AE956C6-E1AE-1739-4416-F70FE41DE4BB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リソース管理マネージャー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320E06A-4618-5650-EE18-BFD8D7B7EDE2}"/>
              </a:ext>
            </a:extLst>
          </p:cNvPr>
          <p:cNvSpPr txBox="1"/>
          <p:nvPr/>
        </p:nvSpPr>
        <p:spPr>
          <a:xfrm>
            <a:off x="371168" y="2255114"/>
            <a:ext cx="1075403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リソース管理を名前で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345838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13354-E36F-E724-C48D-5EED18846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D19693-CCAD-0B27-1639-5BAAF0CFB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C5D7B65-5692-58A3-B036-8AEFD280E6EB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リソース管理マネージャー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A6FD40F-B08A-A2B1-99A9-BA626410D035}"/>
              </a:ext>
            </a:extLst>
          </p:cNvPr>
          <p:cNvSpPr txBox="1"/>
          <p:nvPr/>
        </p:nvSpPr>
        <p:spPr>
          <a:xfrm>
            <a:off x="371168" y="2255114"/>
            <a:ext cx="1075403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リソース管理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59195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329DF-10D4-BFA7-2DC7-28F641D53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3445E2-CC42-ECD3-FCF6-7EDD5DC9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コンセプト実現に向けて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D34D5E0-6B66-028D-0DCD-1D888E2DD470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デバッグ時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7C9A0F4-CB67-EF81-EDCA-8E9D4C6724DE}"/>
              </a:ext>
            </a:extLst>
          </p:cNvPr>
          <p:cNvSpPr txBox="1"/>
          <p:nvPr/>
        </p:nvSpPr>
        <p:spPr>
          <a:xfrm>
            <a:off x="371168" y="2255114"/>
            <a:ext cx="1075403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リソース管理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89482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0B81A-2B52-A397-F013-E1D59C17A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1EDACF-D60C-FE19-77A7-71118ED88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168" y="390833"/>
            <a:ext cx="7706032" cy="923330"/>
          </a:xfrm>
        </p:spPr>
        <p:txBody>
          <a:bodyPr/>
          <a:lstStyle/>
          <a:p>
            <a:r>
              <a:rPr kumimoji="1" lang="ja-JP" altLang="en-US" sz="6000" dirty="0"/>
              <a:t>今後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370E018-015F-6D9B-6B02-3A8BADC61388}"/>
              </a:ext>
            </a:extLst>
          </p:cNvPr>
          <p:cNvSpPr txBox="1"/>
          <p:nvPr/>
        </p:nvSpPr>
        <p:spPr>
          <a:xfrm>
            <a:off x="371168" y="1670339"/>
            <a:ext cx="5191432" cy="584775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kumimoji="1" lang="ja-JP" altLang="en-US" sz="3200" dirty="0">
                <a:solidFill>
                  <a:schemeClr val="bg1"/>
                </a:solidFill>
              </a:rPr>
              <a:t>キャッシュミスの少なさ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4096C8E-2385-53F6-9578-C01DDB0C8B8C}"/>
              </a:ext>
            </a:extLst>
          </p:cNvPr>
          <p:cNvSpPr txBox="1"/>
          <p:nvPr/>
        </p:nvSpPr>
        <p:spPr>
          <a:xfrm>
            <a:off x="371168" y="2255114"/>
            <a:ext cx="1075403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solidFill>
                  <a:schemeClr val="bg1"/>
                </a:solidFill>
              </a:rPr>
              <a:t>リソース管理</a:t>
            </a:r>
            <a:endParaRPr kumimoji="1" lang="en-US" altLang="ja-JP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28840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336</TotalTime>
  <Words>195</Words>
  <Application>Microsoft Office PowerPoint</Application>
  <PresentationFormat>ワイド画面</PresentationFormat>
  <Paragraphs>41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2" baseType="lpstr">
      <vt:lpstr>MS Gothic</vt:lpstr>
      <vt:lpstr>Office Theme</vt:lpstr>
      <vt:lpstr>作品資料</vt:lpstr>
      <vt:lpstr>目次</vt:lpstr>
      <vt:lpstr>作品概要</vt:lpstr>
      <vt:lpstr>作品概要</vt:lpstr>
      <vt:lpstr>作品概要</vt:lpstr>
      <vt:lpstr>コンセプト実現に向けて</vt:lpstr>
      <vt:lpstr>コンセプト実現に向けて</vt:lpstr>
      <vt:lpstr>コンセプト実現に向けて</vt:lpstr>
      <vt:lpstr>コンセプト実現に向けて</vt:lpstr>
      <vt:lpstr>今後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OHAT13B52932 松田健志</dc:creator>
  <cp:lastModifiedBy>OHAT13B52932 松田健志</cp:lastModifiedBy>
  <cp:revision>179</cp:revision>
  <dcterms:created xsi:type="dcterms:W3CDTF">2025-12-13T00:48:35Z</dcterms:created>
  <dcterms:modified xsi:type="dcterms:W3CDTF">2026-01-28T09:43:40Z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2025-10-11T00:00:00Z</vt:filetime>
  </property>
  <property fmtid="{D5CDD505-2E9C-101B-9397-08002B2CF9AE}" pid="3" name="Creator">
    <vt:lpwstr>Microsoft® PowerPoint® for Microsoft 365</vt:lpwstr>
  </property>
  <property fmtid="{D5CDD505-2E9C-101B-9397-08002B2CF9AE}" pid="4" name="LastSaved">
    <vt:filetime>2025-12-13T00:00:00Z</vt:filetime>
  </property>
  <property fmtid="{D5CDD505-2E9C-101B-9397-08002B2CF9AE}" pid="5" name="Producer">
    <vt:lpwstr>Microsoft® PowerPoint® for Microsoft 365</vt:lpwstr>
  </property>
</Properties>
</file>