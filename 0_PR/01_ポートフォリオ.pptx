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5" r:id="rId5"/>
    <p:sldId id="269" r:id="rId6"/>
    <p:sldId id="262" r:id="rId7"/>
    <p:sldId id="267" r:id="rId8"/>
    <p:sldId id="266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32" autoAdjust="0"/>
  </p:normalViewPr>
  <p:slideViewPr>
    <p:cSldViewPr>
      <p:cViewPr>
        <p:scale>
          <a:sx n="75" d="100"/>
          <a:sy n="75" d="100"/>
        </p:scale>
        <p:origin x="94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87C26-E1C4-450F-855C-7A95B649E450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28D3D-FF30-4A8F-A1BA-CF24F881B4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633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著作権的にまずいかも　後で要確認</a:t>
            </a:r>
            <a:endParaRPr kumimoji="1" lang="en-US" altLang="ja-JP" dirty="0"/>
          </a:p>
          <a:p>
            <a:r>
              <a:rPr kumimoji="1" lang="ja-JP" altLang="en-US" dirty="0"/>
              <a:t>ゲームの画像だけ差し替える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28D3D-FF30-4A8F-A1BA-CF24F881B43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124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4220D-9696-905B-571E-EA2EDE99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8C7CCA9-B5E5-114C-A3B3-6FE11DAD9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853B7F-1197-201F-AE3B-6A80F9436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著作権的にまずいかも　後で要確認</a:t>
            </a:r>
            <a:endParaRPr kumimoji="1" lang="en-US" altLang="ja-JP" dirty="0"/>
          </a:p>
          <a:p>
            <a:r>
              <a:rPr kumimoji="1" lang="ja-JP" altLang="en-US" dirty="0"/>
              <a:t>ゲームの画像だけ差し替える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3196B1-3D12-B56D-8C91-472C070E5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28D3D-FF30-4A8F-A1BA-CF24F881B43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40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710" y="1981200"/>
            <a:ext cx="1073658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6000" dirty="0"/>
              <a:t>ポートフォリオ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2743200" y="3581400"/>
            <a:ext cx="6705600" cy="1057341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HAL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大阪 ゲーム</a:t>
            </a: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4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年制学科 </a:t>
            </a:r>
            <a:endParaRPr lang="en-US" altLang="ja-JP" sz="2800" spc="-125" dirty="0">
              <a:solidFill>
                <a:srgbClr val="FFFFFF"/>
              </a:solidFill>
              <a:latin typeface="MS Gothic"/>
              <a:cs typeface="MS Gothic"/>
            </a:endParaRPr>
          </a:p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松田 </a:t>
            </a:r>
            <a:r>
              <a:rPr sz="2800" spc="-125" dirty="0" err="1">
                <a:solidFill>
                  <a:srgbClr val="FFFFFF"/>
                </a:solidFill>
                <a:latin typeface="MS Gothic"/>
                <a:cs typeface="MS Gothic"/>
              </a:rPr>
              <a:t>健志</a:t>
            </a:r>
            <a:endParaRPr sz="28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0DCD2-F0DB-B7B9-A22B-CC6696E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1981200" cy="923330"/>
          </a:xfrm>
        </p:spPr>
        <p:txBody>
          <a:bodyPr/>
          <a:lstStyle/>
          <a:p>
            <a:r>
              <a:rPr kumimoji="1" lang="ja-JP" altLang="en-US" sz="6000" dirty="0"/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E9F1BA-CC7D-3F20-F458-0F6492D5C4D6}"/>
              </a:ext>
            </a:extLst>
          </p:cNvPr>
          <p:cNvSpPr txBox="1"/>
          <p:nvPr/>
        </p:nvSpPr>
        <p:spPr>
          <a:xfrm>
            <a:off x="381000" y="1981200"/>
            <a:ext cx="35814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①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プロフィール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09693D-262C-394F-A8A7-640967748777}"/>
              </a:ext>
            </a:extLst>
          </p:cNvPr>
          <p:cNvSpPr txBox="1"/>
          <p:nvPr/>
        </p:nvSpPr>
        <p:spPr>
          <a:xfrm>
            <a:off x="381000" y="2844225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②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人物像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0C6055-A983-F43C-12BA-368BCF79D180}"/>
              </a:ext>
            </a:extLst>
          </p:cNvPr>
          <p:cNvSpPr txBox="1"/>
          <p:nvPr/>
        </p:nvSpPr>
        <p:spPr>
          <a:xfrm>
            <a:off x="381000" y="3707250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③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制作作品</a:t>
            </a:r>
          </a:p>
        </p:txBody>
      </p:sp>
    </p:spTree>
    <p:extLst>
      <p:ext uri="{BB962C8B-B14F-4D97-AF65-F5344CB8AC3E}">
        <p14:creationId xmlns:p14="http://schemas.microsoft.com/office/powerpoint/2010/main" val="65191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D6B6-954C-4D82-7E7B-002BE8F8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81D0E-FD59-D61C-C70D-E4F752D7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9" y="390832"/>
            <a:ext cx="4505632" cy="923330"/>
          </a:xfrm>
        </p:spPr>
        <p:txBody>
          <a:bodyPr/>
          <a:lstStyle/>
          <a:p>
            <a:r>
              <a:rPr kumimoji="1" lang="ja-JP" altLang="en-US" sz="6000" dirty="0"/>
              <a:t>プロフィール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E731EC-97BD-6702-40FB-F449B406C8C4}"/>
              </a:ext>
            </a:extLst>
          </p:cNvPr>
          <p:cNvSpPr txBox="1"/>
          <p:nvPr/>
        </p:nvSpPr>
        <p:spPr>
          <a:xfrm>
            <a:off x="321521" y="1436110"/>
            <a:ext cx="3134032" cy="1639788"/>
          </a:xfrm>
          <a:prstGeom prst="cloudCallout">
            <a:avLst>
              <a:gd name="adj1" fmla="val -17068"/>
              <a:gd name="adj2" fmla="val 131455"/>
            </a:avLst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名前</a:t>
            </a:r>
            <a:br>
              <a:rPr kumimoji="1" lang="en-US" altLang="ja-JP" sz="3200" dirty="0">
                <a:solidFill>
                  <a:schemeClr val="bg1"/>
                </a:solidFill>
              </a:rPr>
            </a:br>
            <a:r>
              <a:rPr kumimoji="1" lang="ja-JP" altLang="en-US" sz="3200" dirty="0">
                <a:solidFill>
                  <a:schemeClr val="bg1"/>
                </a:solidFill>
              </a:rPr>
              <a:t>松田 健志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 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02CFD728-EA6C-633E-55E4-95A99AA62D7B}"/>
              </a:ext>
            </a:extLst>
          </p:cNvPr>
          <p:cNvGrpSpPr/>
          <p:nvPr/>
        </p:nvGrpSpPr>
        <p:grpSpPr>
          <a:xfrm>
            <a:off x="5105400" y="3278583"/>
            <a:ext cx="6833419" cy="1570069"/>
            <a:chOff x="4724849" y="3362286"/>
            <a:chExt cx="6833419" cy="1570069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FCD69299-3220-76EA-B8EB-16CDFD5086A6}"/>
                </a:ext>
              </a:extLst>
            </p:cNvPr>
            <p:cNvSpPr txBox="1"/>
            <p:nvPr/>
          </p:nvSpPr>
          <p:spPr>
            <a:xfrm>
              <a:off x="4724849" y="3362286"/>
              <a:ext cx="1109816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資格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120F58C8-C2E7-9213-433F-F8DAA5F27759}"/>
                </a:ext>
              </a:extLst>
            </p:cNvPr>
            <p:cNvSpPr txBox="1"/>
            <p:nvPr/>
          </p:nvSpPr>
          <p:spPr>
            <a:xfrm>
              <a:off x="4724849" y="3855137"/>
              <a:ext cx="6833419" cy="10772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・ 基本情報技術者試験</a:t>
              </a:r>
              <a:endParaRPr kumimoji="1" lang="en-US" altLang="ja-JP" sz="3200" dirty="0">
                <a:solidFill>
                  <a:schemeClr val="bg1"/>
                </a:solidFill>
              </a:endParaRPr>
            </a:p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・ </a:t>
              </a:r>
              <a:r>
                <a:rPr kumimoji="1" lang="en-US" altLang="ja-JP" sz="3200" dirty="0">
                  <a:solidFill>
                    <a:schemeClr val="bg1"/>
                  </a:solidFill>
                </a:rPr>
                <a:t>CG</a:t>
              </a:r>
              <a:r>
                <a:rPr kumimoji="1" lang="ja-JP" altLang="en-US" sz="3200" dirty="0">
                  <a:solidFill>
                    <a:schemeClr val="bg1"/>
                  </a:solidFill>
                </a:rPr>
                <a:t>エンジニア検定エキスパート</a:t>
              </a:r>
              <a:endParaRPr kumimoji="1" lang="en-US" altLang="ja-JP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3417636-3837-97B3-2539-48B29CAA4068}"/>
              </a:ext>
            </a:extLst>
          </p:cNvPr>
          <p:cNvGrpSpPr/>
          <p:nvPr/>
        </p:nvGrpSpPr>
        <p:grpSpPr>
          <a:xfrm>
            <a:off x="3886200" y="5064195"/>
            <a:ext cx="7900668" cy="1581350"/>
            <a:chOff x="3657600" y="5189397"/>
            <a:chExt cx="8315632" cy="1581350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C375FD5-B9CC-1D91-FDC2-57C60E50DC51}"/>
                </a:ext>
              </a:extLst>
            </p:cNvPr>
            <p:cNvSpPr txBox="1"/>
            <p:nvPr/>
          </p:nvSpPr>
          <p:spPr>
            <a:xfrm>
              <a:off x="3657600" y="5189397"/>
              <a:ext cx="1499419" cy="5847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受賞歴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8ADFA30-CC22-A855-4ABF-1D0B81198D16}"/>
                </a:ext>
              </a:extLst>
            </p:cNvPr>
            <p:cNvSpPr txBox="1"/>
            <p:nvPr/>
          </p:nvSpPr>
          <p:spPr>
            <a:xfrm>
              <a:off x="3657600" y="5693529"/>
              <a:ext cx="8315632" cy="107721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・ </a:t>
              </a:r>
              <a:r>
                <a:rPr lang="en-US" altLang="ja-JP" sz="2800" dirty="0">
                  <a:solidFill>
                    <a:schemeClr val="bg1"/>
                  </a:solidFill>
                </a:rPr>
                <a:t>Switch2D </a:t>
              </a:r>
              <a:r>
                <a:rPr lang="ja-JP" altLang="en-US" sz="2800" dirty="0">
                  <a:solidFill>
                    <a:schemeClr val="bg1"/>
                  </a:solidFill>
                </a:rPr>
                <a:t>ゲーム学内コンテスト 意欲賞</a:t>
              </a:r>
              <a:endParaRPr lang="en-US" altLang="ja-JP" sz="2800" dirty="0">
                <a:solidFill>
                  <a:schemeClr val="bg1"/>
                </a:solidFill>
              </a:endParaRPr>
            </a:p>
            <a:p>
              <a:pPr algn="l"/>
              <a:r>
                <a:rPr kumimoji="1" lang="ja-JP" altLang="en-US" sz="3200" dirty="0">
                  <a:solidFill>
                    <a:schemeClr val="bg1"/>
                  </a:solidFill>
                </a:rPr>
                <a:t>・ </a:t>
              </a:r>
              <a:r>
                <a:rPr lang="en-US" altLang="ja-JP" sz="2800" dirty="0">
                  <a:solidFill>
                    <a:schemeClr val="bg1"/>
                  </a:solidFill>
                </a:rPr>
                <a:t>HAL EVENT WEEK </a:t>
              </a:r>
              <a:r>
                <a:rPr lang="ja-JP" altLang="en-US" sz="2800" dirty="0">
                  <a:solidFill>
                    <a:schemeClr val="bg1"/>
                  </a:solidFill>
                </a:rPr>
                <a:t>意欲賞 受賞</a:t>
              </a:r>
              <a:endParaRPr kumimoji="1" lang="en-US" altLang="ja-JP" sz="3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図 14" descr="スーツを着ている男&#10;&#10;AI 生成コンテンツは誤りを含む可能性があります。">
            <a:extLst>
              <a:ext uri="{FF2B5EF4-FFF2-40B4-BE49-F238E27FC236}">
                <a16:creationId xmlns:a16="http://schemas.microsoft.com/office/drawing/2014/main" id="{51FC75A5-E463-1536-5F7B-3BB75E358F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2" y="3197846"/>
            <a:ext cx="2509610" cy="3554913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56B2FBB-C750-A2F7-E14F-6D915127AACD}"/>
              </a:ext>
            </a:extLst>
          </p:cNvPr>
          <p:cNvGrpSpPr/>
          <p:nvPr/>
        </p:nvGrpSpPr>
        <p:grpSpPr>
          <a:xfrm>
            <a:off x="6636322" y="1144037"/>
            <a:ext cx="4271303" cy="1593966"/>
            <a:chOff x="6636322" y="1144037"/>
            <a:chExt cx="4271303" cy="1593966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58FBD04-A28B-A5D1-C1D5-0A2B7B2BBCEB}"/>
                </a:ext>
              </a:extLst>
            </p:cNvPr>
            <p:cNvSpPr txBox="1"/>
            <p:nvPr/>
          </p:nvSpPr>
          <p:spPr>
            <a:xfrm>
              <a:off x="6858000" y="1722340"/>
              <a:ext cx="4049625" cy="101566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sz="2000" dirty="0">
                  <a:solidFill>
                    <a:schemeClr val="bg1"/>
                  </a:solidFill>
                </a:rPr>
                <a:t>HAL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大阪 </a:t>
              </a:r>
              <a:endParaRPr kumimoji="1" lang="en-US" altLang="ja-JP" sz="2000" dirty="0">
                <a:solidFill>
                  <a:schemeClr val="bg1"/>
                </a:solidFill>
              </a:endParaRPr>
            </a:p>
            <a:p>
              <a:pPr algn="l"/>
              <a:r>
                <a:rPr kumimoji="1" lang="ja-JP" altLang="en-US" sz="2000" dirty="0">
                  <a:solidFill>
                    <a:schemeClr val="bg1"/>
                  </a:solidFill>
                </a:rPr>
                <a:t>ゲーム制作学科</a:t>
              </a:r>
              <a:r>
                <a:rPr kumimoji="1" lang="en-US" altLang="ja-JP" sz="2000" dirty="0">
                  <a:solidFill>
                    <a:schemeClr val="bg1"/>
                  </a:solidFill>
                </a:rPr>
                <a:t>4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年制</a:t>
              </a:r>
              <a:r>
                <a:rPr kumimoji="1" lang="en-US" altLang="ja-JP" sz="2000" dirty="0">
                  <a:solidFill>
                    <a:schemeClr val="bg1"/>
                  </a:solidFill>
                </a:rPr>
                <a:t>3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年</a:t>
              </a:r>
              <a:br>
                <a:rPr kumimoji="1" lang="en-US" altLang="ja-JP" sz="2000" dirty="0">
                  <a:solidFill>
                    <a:schemeClr val="bg1"/>
                  </a:solidFill>
                </a:rPr>
              </a:br>
              <a:r>
                <a:rPr kumimoji="1" lang="en-US" altLang="ja-JP" sz="2000" dirty="0">
                  <a:solidFill>
                    <a:schemeClr val="bg1"/>
                  </a:solidFill>
                </a:rPr>
                <a:t>VR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・</a:t>
              </a:r>
              <a:r>
                <a:rPr kumimoji="1" lang="en-US" altLang="ja-JP" sz="2000" dirty="0">
                  <a:solidFill>
                    <a:schemeClr val="bg1"/>
                  </a:solidFill>
                </a:rPr>
                <a:t>3D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ゲームプログラマー専攻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7E9388A0-8B7D-A550-0BCA-BB8E204BB683}"/>
                </a:ext>
              </a:extLst>
            </p:cNvPr>
            <p:cNvSpPr txBox="1"/>
            <p:nvPr/>
          </p:nvSpPr>
          <p:spPr>
            <a:xfrm>
              <a:off x="6636322" y="1144037"/>
              <a:ext cx="128556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 dirty="0">
                  <a:solidFill>
                    <a:schemeClr val="bg1"/>
                  </a:solidFill>
                </a:rPr>
                <a:t>所属</a:t>
              </a:r>
              <a:r>
                <a:rPr kumimoji="1" lang="en-US" altLang="ja-JP" sz="3200" dirty="0">
                  <a:solidFill>
                    <a:schemeClr val="bg1"/>
                  </a:solidFill>
                </a:rPr>
                <a:t> </a:t>
              </a:r>
              <a:endParaRPr lang="ja-JP" altLang="en-US" sz="3200" dirty="0"/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563864F-E5B4-D5A9-6EA8-E003159F39C4}"/>
              </a:ext>
            </a:extLst>
          </p:cNvPr>
          <p:cNvSpPr txBox="1"/>
          <p:nvPr/>
        </p:nvSpPr>
        <p:spPr>
          <a:xfrm>
            <a:off x="3763930" y="1407080"/>
            <a:ext cx="2225741" cy="1639788"/>
          </a:xfrm>
          <a:prstGeom prst="cloudCallout">
            <a:avLst>
              <a:gd name="adj1" fmla="val -66989"/>
              <a:gd name="adj2" fmla="val 73661"/>
            </a:avLst>
          </a:prstGeom>
          <a:noFill/>
          <a:ln w="1905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225741"/>
                      <a:gd name="csY0" fmla="*/ 0 h 584775"/>
                      <a:gd name="csX1" fmla="*/ 534178 w 2225741"/>
                      <a:gd name="csY1" fmla="*/ 0 h 584775"/>
                      <a:gd name="csX2" fmla="*/ 1023841 w 2225741"/>
                      <a:gd name="csY2" fmla="*/ 0 h 584775"/>
                      <a:gd name="csX3" fmla="*/ 1624791 w 2225741"/>
                      <a:gd name="csY3" fmla="*/ 0 h 584775"/>
                      <a:gd name="csX4" fmla="*/ 2225741 w 2225741"/>
                      <a:gd name="csY4" fmla="*/ 0 h 584775"/>
                      <a:gd name="csX5" fmla="*/ 2225741 w 2225741"/>
                      <a:gd name="csY5" fmla="*/ 584775 h 584775"/>
                      <a:gd name="csX6" fmla="*/ 1713821 w 2225741"/>
                      <a:gd name="csY6" fmla="*/ 584775 h 584775"/>
                      <a:gd name="csX7" fmla="*/ 1201900 w 2225741"/>
                      <a:gd name="csY7" fmla="*/ 584775 h 584775"/>
                      <a:gd name="csX8" fmla="*/ 600950 w 2225741"/>
                      <a:gd name="csY8" fmla="*/ 584775 h 584775"/>
                      <a:gd name="csX9" fmla="*/ 0 w 2225741"/>
                      <a:gd name="csY9" fmla="*/ 584775 h 584775"/>
                      <a:gd name="csX10" fmla="*/ 0 w 2225741"/>
                      <a:gd name="csY10" fmla="*/ 0 h 5847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2225741" h="584775" extrusionOk="0">
                        <a:moveTo>
                          <a:pt x="0" y="0"/>
                        </a:moveTo>
                        <a:cubicBezTo>
                          <a:pt x="114722" y="-13290"/>
                          <a:pt x="364170" y="526"/>
                          <a:pt x="534178" y="0"/>
                        </a:cubicBezTo>
                        <a:cubicBezTo>
                          <a:pt x="704186" y="-526"/>
                          <a:pt x="840631" y="52250"/>
                          <a:pt x="1023841" y="0"/>
                        </a:cubicBezTo>
                        <a:cubicBezTo>
                          <a:pt x="1207051" y="-52250"/>
                          <a:pt x="1411576" y="49643"/>
                          <a:pt x="1624791" y="0"/>
                        </a:cubicBezTo>
                        <a:cubicBezTo>
                          <a:pt x="1838006" y="-49643"/>
                          <a:pt x="1990849" y="16941"/>
                          <a:pt x="2225741" y="0"/>
                        </a:cubicBezTo>
                        <a:cubicBezTo>
                          <a:pt x="2232439" y="120638"/>
                          <a:pt x="2217966" y="453480"/>
                          <a:pt x="2225741" y="584775"/>
                        </a:cubicBezTo>
                        <a:cubicBezTo>
                          <a:pt x="2034761" y="608292"/>
                          <a:pt x="1900819" y="581450"/>
                          <a:pt x="1713821" y="584775"/>
                        </a:cubicBezTo>
                        <a:cubicBezTo>
                          <a:pt x="1526823" y="588100"/>
                          <a:pt x="1345336" y="545361"/>
                          <a:pt x="1201900" y="584775"/>
                        </a:cubicBezTo>
                        <a:cubicBezTo>
                          <a:pt x="1058464" y="624189"/>
                          <a:pt x="769088" y="514794"/>
                          <a:pt x="600950" y="584775"/>
                        </a:cubicBezTo>
                        <a:cubicBezTo>
                          <a:pt x="432812" y="654756"/>
                          <a:pt x="173944" y="579064"/>
                          <a:pt x="0" y="584775"/>
                        </a:cubicBezTo>
                        <a:cubicBezTo>
                          <a:pt x="-7399" y="344304"/>
                          <a:pt x="51418" y="2499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年齢</a:t>
            </a:r>
            <a:br>
              <a:rPr kumimoji="1" lang="en-US" altLang="ja-JP" sz="3200" dirty="0">
                <a:solidFill>
                  <a:schemeClr val="bg1"/>
                </a:solidFill>
              </a:rPr>
            </a:br>
            <a:r>
              <a:rPr kumimoji="1" lang="en-US" altLang="ja-JP" sz="3200" dirty="0">
                <a:solidFill>
                  <a:schemeClr val="bg1"/>
                </a:solidFill>
              </a:rPr>
              <a:t>23</a:t>
            </a:r>
            <a:r>
              <a:rPr kumimoji="1" lang="ja-JP" altLang="en-US" sz="3200" dirty="0">
                <a:solidFill>
                  <a:schemeClr val="bg1"/>
                </a:solidFill>
              </a:rPr>
              <a:t>才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 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4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BD7F-7262-3898-CE79-19684FF5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1EA725-3FEE-B97F-53CC-ABD9A779743C}"/>
              </a:ext>
            </a:extLst>
          </p:cNvPr>
          <p:cNvSpPr/>
          <p:nvPr/>
        </p:nvSpPr>
        <p:spPr>
          <a:xfrm>
            <a:off x="2514600" y="3810000"/>
            <a:ext cx="9468792" cy="25146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3FB435E-5CEA-AF01-B119-F421D1CBF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2"/>
            <a:ext cx="7287259" cy="923330"/>
          </a:xfrm>
        </p:spPr>
        <p:txBody>
          <a:bodyPr/>
          <a:lstStyle/>
          <a:p>
            <a:r>
              <a:rPr kumimoji="1" lang="ja-JP" altLang="en-US" sz="6000" dirty="0"/>
              <a:t>人物像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B3F893-C68A-C120-BAEC-0D93A162FAEF}"/>
              </a:ext>
            </a:extLst>
          </p:cNvPr>
          <p:cNvSpPr txBox="1"/>
          <p:nvPr/>
        </p:nvSpPr>
        <p:spPr>
          <a:xfrm>
            <a:off x="2524760" y="4572000"/>
            <a:ext cx="9468792" cy="156966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・ ツール開発やレンダリング技術を通して、</a:t>
            </a:r>
            <a:r>
              <a:rPr lang="ja-JP" altLang="en-US" sz="2400" u="sng" dirty="0">
                <a:solidFill>
                  <a:srgbClr val="FF0000"/>
                </a:solidFill>
              </a:rPr>
              <a:t>より良いゲーム体験の</a:t>
            </a:r>
            <a:br>
              <a:rPr lang="en-US" altLang="ja-JP" sz="2400" u="sng" dirty="0">
                <a:solidFill>
                  <a:srgbClr val="FF0000"/>
                </a:solidFill>
              </a:rPr>
            </a:br>
            <a:r>
              <a:rPr lang="ja-JP" altLang="en-US" sz="2400" dirty="0">
                <a:solidFill>
                  <a:srgbClr val="FF0000"/>
                </a:solidFill>
              </a:rPr>
              <a:t>　 </a:t>
            </a:r>
            <a:r>
              <a:rPr lang="ja-JP" altLang="en-US" sz="2400" u="sng" dirty="0">
                <a:solidFill>
                  <a:srgbClr val="FF0000"/>
                </a:solidFill>
              </a:rPr>
              <a:t>実現に貢献できるエンジニア</a:t>
            </a:r>
            <a:r>
              <a:rPr lang="ja-JP" altLang="en-US" sz="2400" dirty="0">
                <a:solidFill>
                  <a:schemeClr val="bg1"/>
                </a:solidFill>
              </a:rPr>
              <a:t>を目指しています。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・ 将来的にはサーバーなどの知識も習得し、開発全体を理解する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　 ことで、</a:t>
            </a:r>
            <a:r>
              <a:rPr lang="ja-JP" altLang="en-US" sz="2400" u="sng" dirty="0">
                <a:solidFill>
                  <a:srgbClr val="FF0000"/>
                </a:solidFill>
              </a:rPr>
              <a:t>提案ができるエンジニア</a:t>
            </a:r>
            <a:r>
              <a:rPr lang="ja-JP" altLang="en-US" sz="2400" dirty="0">
                <a:solidFill>
                  <a:schemeClr val="bg1"/>
                </a:solidFill>
              </a:rPr>
              <a:t>になりたいと考えています。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1D5119-20BE-EF13-254E-A824C29C28B8}"/>
              </a:ext>
            </a:extLst>
          </p:cNvPr>
          <p:cNvSpPr txBox="1"/>
          <p:nvPr/>
        </p:nvSpPr>
        <p:spPr>
          <a:xfrm>
            <a:off x="2514600" y="3886200"/>
            <a:ext cx="3962400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目指すエンジニア像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E94D708-A881-C2AE-B33D-F15A22BAE3CF}"/>
              </a:ext>
            </a:extLst>
          </p:cNvPr>
          <p:cNvSpPr/>
          <p:nvPr/>
        </p:nvSpPr>
        <p:spPr>
          <a:xfrm>
            <a:off x="2499360" y="1663987"/>
            <a:ext cx="9468792" cy="16169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9D5CD3-81A1-50F6-98EB-6C972DD5B420}"/>
              </a:ext>
            </a:extLst>
          </p:cNvPr>
          <p:cNvSpPr txBox="1"/>
          <p:nvPr/>
        </p:nvSpPr>
        <p:spPr>
          <a:xfrm>
            <a:off x="2499360" y="2378589"/>
            <a:ext cx="9306232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・ </a:t>
            </a:r>
            <a:r>
              <a:rPr lang="ja-JP" altLang="en-US" sz="2400" u="sng" dirty="0">
                <a:solidFill>
                  <a:srgbClr val="FF0000"/>
                </a:solidFill>
              </a:rPr>
              <a:t>メンバーが進んで行わない作業を率先して行う</a:t>
            </a:r>
            <a:r>
              <a:rPr lang="ja-JP" altLang="en-US" sz="2400" dirty="0">
                <a:solidFill>
                  <a:schemeClr val="bg1"/>
                </a:solidFill>
              </a:rPr>
              <a:t>ことで、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　 開発を円滑に進めることを大切にしています。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2A375B7-A62D-53C1-2C84-A455B26E219D}"/>
              </a:ext>
            </a:extLst>
          </p:cNvPr>
          <p:cNvSpPr txBox="1"/>
          <p:nvPr/>
        </p:nvSpPr>
        <p:spPr>
          <a:xfrm>
            <a:off x="2499360" y="1740187"/>
            <a:ext cx="6359832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チーム制作で大事にしていること</a:t>
            </a:r>
          </a:p>
        </p:txBody>
      </p:sp>
      <p:pic>
        <p:nvPicPr>
          <p:cNvPr id="6" name="図 5" descr="野球のユニフォームを着た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1F875A5A-43F6-A194-4BA4-46D5C4FC6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68" y="1524000"/>
            <a:ext cx="1917005" cy="504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79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AAA5-5BE7-0C32-8585-2D6455742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7BFE0B-7662-E699-ABDE-27800378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9992032" cy="923330"/>
          </a:xfrm>
        </p:spPr>
        <p:txBody>
          <a:bodyPr/>
          <a:lstStyle/>
          <a:p>
            <a:r>
              <a:rPr kumimoji="1" lang="ja-JP" altLang="en-US" sz="6000" dirty="0"/>
              <a:t>制作作品</a:t>
            </a:r>
            <a:r>
              <a:rPr kumimoji="1" lang="ja-JP" altLang="en-US" sz="6000" u="none" dirty="0"/>
              <a:t> </a:t>
            </a:r>
            <a:r>
              <a:rPr kumimoji="1" lang="ja-JP" altLang="en-US" sz="6000" dirty="0"/>
              <a:t>個人制作作品①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E31598-057C-B8BD-735C-601557676494}"/>
              </a:ext>
            </a:extLst>
          </p:cNvPr>
          <p:cNvSpPr txBox="1"/>
          <p:nvPr/>
        </p:nvSpPr>
        <p:spPr>
          <a:xfrm>
            <a:off x="182818" y="1411601"/>
            <a:ext cx="3070861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ジャンル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6BD113-CF0B-AEA8-BBE3-6E3DDB8E182E}"/>
              </a:ext>
            </a:extLst>
          </p:cNvPr>
          <p:cNvSpPr txBox="1"/>
          <p:nvPr/>
        </p:nvSpPr>
        <p:spPr>
          <a:xfrm>
            <a:off x="174426" y="2683955"/>
            <a:ext cx="5343832" cy="101566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</a:rPr>
              <a:t>現在制作中の</a:t>
            </a:r>
            <a:br>
              <a:rPr kumimoji="1" lang="en-US" altLang="ja-JP" sz="2000" b="1" dirty="0">
                <a:solidFill>
                  <a:schemeClr val="bg1"/>
                </a:solidFill>
              </a:rPr>
            </a:br>
            <a:r>
              <a:rPr kumimoji="1" lang="ja-JP" altLang="en-US" sz="2000" b="1" dirty="0">
                <a:solidFill>
                  <a:schemeClr val="bg1"/>
                </a:solidFill>
              </a:rPr>
              <a:t>複数のプラットフォームで動作・開発が</a:t>
            </a:r>
            <a:br>
              <a:rPr kumimoji="1" lang="en-US" altLang="ja-JP" sz="2000" b="1" dirty="0">
                <a:solidFill>
                  <a:schemeClr val="bg1"/>
                </a:solidFill>
              </a:rPr>
            </a:br>
            <a:r>
              <a:rPr kumimoji="1" lang="ja-JP" altLang="en-US" sz="2000" b="1" dirty="0">
                <a:solidFill>
                  <a:schemeClr val="bg1"/>
                </a:solidFill>
              </a:rPr>
              <a:t>行えることを想定したフレームワーク</a:t>
            </a:r>
            <a:endParaRPr lang="ja-JP" altLang="ja-JP" sz="2400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1E3A59-74E7-0C96-D6F7-0935D12CFD36}"/>
              </a:ext>
            </a:extLst>
          </p:cNvPr>
          <p:cNvSpPr txBox="1"/>
          <p:nvPr/>
        </p:nvSpPr>
        <p:spPr>
          <a:xfrm>
            <a:off x="200404" y="2061862"/>
            <a:ext cx="109499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概要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78E0B85-5619-90A3-CFA3-EE25BBD18C47}"/>
              </a:ext>
            </a:extLst>
          </p:cNvPr>
          <p:cNvSpPr txBox="1"/>
          <p:nvPr/>
        </p:nvSpPr>
        <p:spPr>
          <a:xfrm>
            <a:off x="174446" y="5410200"/>
            <a:ext cx="5192738" cy="132343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・数学・文字列ライブラリ作成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</a:t>
            </a:r>
            <a:r>
              <a:rPr kumimoji="1" lang="en-US" altLang="ja-JP" sz="2000" dirty="0">
                <a:solidFill>
                  <a:schemeClr val="bg1"/>
                </a:solidFill>
              </a:rPr>
              <a:t>HLSL</a:t>
            </a:r>
            <a:r>
              <a:rPr kumimoji="1" lang="ja-JP" altLang="en-US" sz="2000" dirty="0">
                <a:solidFill>
                  <a:schemeClr val="bg1"/>
                </a:solidFill>
              </a:rPr>
              <a:t>を基準としたシェーダー作成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・グラフィック</a:t>
            </a:r>
            <a:r>
              <a:rPr kumimoji="1" lang="en-US" altLang="ja-JP" sz="2000" dirty="0">
                <a:solidFill>
                  <a:schemeClr val="bg1"/>
                </a:solidFill>
              </a:rPr>
              <a:t>API</a:t>
            </a:r>
            <a:r>
              <a:rPr kumimoji="1" lang="ja-JP" altLang="en-US" sz="2000" dirty="0">
                <a:solidFill>
                  <a:schemeClr val="bg1"/>
                </a:solidFill>
              </a:rPr>
              <a:t>のインターフェイス作成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</a:t>
            </a:r>
            <a:r>
              <a:rPr kumimoji="1" lang="en-US" altLang="ja-JP" sz="2000" dirty="0">
                <a:solidFill>
                  <a:schemeClr val="bg1"/>
                </a:solidFill>
              </a:rPr>
              <a:t>API</a:t>
            </a:r>
            <a:r>
              <a:rPr kumimoji="1" lang="ja-JP" altLang="en-US" sz="2000" dirty="0">
                <a:solidFill>
                  <a:schemeClr val="bg1"/>
                </a:solidFill>
              </a:rPr>
              <a:t>オブジェクト管理マネージャー作成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2A99C6C-7F8F-1C7D-AC77-3ED7787A7725}"/>
              </a:ext>
            </a:extLst>
          </p:cNvPr>
          <p:cNvSpPr txBox="1"/>
          <p:nvPr/>
        </p:nvSpPr>
        <p:spPr>
          <a:xfrm>
            <a:off x="182818" y="4827061"/>
            <a:ext cx="2757687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主な制作内容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976FBE0-0CD0-1E70-543C-EBB72340D48B}"/>
              </a:ext>
            </a:extLst>
          </p:cNvPr>
          <p:cNvSpPr txBox="1"/>
          <p:nvPr/>
        </p:nvSpPr>
        <p:spPr>
          <a:xfrm>
            <a:off x="2093655" y="1565107"/>
            <a:ext cx="2179908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effectLst/>
              </a:rPr>
              <a:t>フレームワーク</a:t>
            </a:r>
            <a:endParaRPr lang="ja-JP" altLang="ja-JP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F5B5A9-3641-CD42-F740-DD03B7D71DBC}"/>
              </a:ext>
            </a:extLst>
          </p:cNvPr>
          <p:cNvSpPr txBox="1"/>
          <p:nvPr/>
        </p:nvSpPr>
        <p:spPr>
          <a:xfrm>
            <a:off x="209614" y="4387197"/>
            <a:ext cx="2053467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</a:rPr>
              <a:t>約３カ月程度</a:t>
            </a:r>
            <a:endParaRPr lang="ja-JP" altLang="ja-JP" sz="2400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0D4CBD-957E-952A-7B47-1B8DB79B1F25}"/>
              </a:ext>
            </a:extLst>
          </p:cNvPr>
          <p:cNvSpPr txBox="1"/>
          <p:nvPr/>
        </p:nvSpPr>
        <p:spPr>
          <a:xfrm>
            <a:off x="166073" y="3729385"/>
            <a:ext cx="2696998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稼働制作期間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8A35707-79B0-D853-3604-53F74B64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278927"/>
            <a:ext cx="5028813" cy="226254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B0D6788-84C4-FDD2-4F72-09C9F2605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455119"/>
            <a:ext cx="2347555" cy="2528816"/>
          </a:xfrm>
          <a:prstGeom prst="rect">
            <a:avLst/>
          </a:prstGeom>
        </p:spPr>
      </p:pic>
      <p:pic>
        <p:nvPicPr>
          <p:cNvPr id="16" name="図 1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1A33DA2-15B3-A75D-6334-F047D13234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887"/>
          <a:stretch>
            <a:fillRect/>
          </a:stretch>
        </p:blipFill>
        <p:spPr>
          <a:xfrm>
            <a:off x="9583882" y="1744576"/>
            <a:ext cx="1219200" cy="1997249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764E7A4-B15C-6C49-A69A-FEC6FACE4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578" y="1754624"/>
            <a:ext cx="1208213" cy="199724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AFE74969-9AA3-01AC-4347-0936C7727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2084" y="1704509"/>
            <a:ext cx="1220302" cy="205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0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54F2-5412-F8A6-C31D-E1DAF632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5D28A-7AC9-B615-0884-AA4D0120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9992032" cy="923330"/>
          </a:xfrm>
        </p:spPr>
        <p:txBody>
          <a:bodyPr/>
          <a:lstStyle/>
          <a:p>
            <a:r>
              <a:rPr kumimoji="1" lang="ja-JP" altLang="en-US" sz="6000" dirty="0"/>
              <a:t>制作作品</a:t>
            </a:r>
            <a:r>
              <a:rPr kumimoji="1" lang="ja-JP" altLang="en-US" sz="6000" u="none" dirty="0"/>
              <a:t> </a:t>
            </a:r>
            <a:r>
              <a:rPr kumimoji="1" lang="ja-JP" altLang="en-US" sz="6000" dirty="0"/>
              <a:t>チーム制作作品①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D1A9CBA-EED3-7126-7E8A-17D2A128C769}"/>
              </a:ext>
            </a:extLst>
          </p:cNvPr>
          <p:cNvSpPr txBox="1"/>
          <p:nvPr/>
        </p:nvSpPr>
        <p:spPr>
          <a:xfrm>
            <a:off x="429973" y="4479342"/>
            <a:ext cx="7978389" cy="163121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2000" dirty="0">
                <a:solidFill>
                  <a:schemeClr val="bg1"/>
                </a:solidFill>
              </a:rPr>
              <a:t>Steam</a:t>
            </a:r>
            <a:r>
              <a:rPr kumimoji="1" lang="ja-JP" altLang="en-US" sz="2000" dirty="0">
                <a:solidFill>
                  <a:schemeClr val="bg1"/>
                </a:solidFill>
              </a:rPr>
              <a:t>で出すパズルゲームとして</a:t>
            </a:r>
            <a:r>
              <a:rPr kumimoji="1" lang="en-US" altLang="ja-JP" sz="2000" dirty="0">
                <a:solidFill>
                  <a:schemeClr val="bg1"/>
                </a:solidFill>
              </a:rPr>
              <a:t>Unity</a:t>
            </a:r>
            <a:r>
              <a:rPr kumimoji="1" lang="ja-JP" altLang="en-US" sz="2000" dirty="0">
                <a:solidFill>
                  <a:schemeClr val="bg1"/>
                </a:solidFill>
              </a:rPr>
              <a:t>６を使用して制作しました。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既存</a:t>
            </a:r>
            <a:r>
              <a:rPr kumimoji="1" lang="en-US" altLang="ja-JP" sz="2000" dirty="0">
                <a:solidFill>
                  <a:schemeClr val="bg1"/>
                </a:solidFill>
              </a:rPr>
              <a:t>IP</a:t>
            </a:r>
            <a:r>
              <a:rPr kumimoji="1" lang="ja-JP" altLang="en-US" sz="2000" dirty="0">
                <a:solidFill>
                  <a:schemeClr val="bg1"/>
                </a:solidFill>
              </a:rPr>
              <a:t>の新ジャンル開発という課題で制作したため、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プレイヤーやオブジェクトのテクスチャを変更して載せています。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開始点と終了点をオブジェクトで結ぶゲームです。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94FD0B-247F-90EB-D946-B509959CEF17}"/>
              </a:ext>
            </a:extLst>
          </p:cNvPr>
          <p:cNvSpPr txBox="1"/>
          <p:nvPr/>
        </p:nvSpPr>
        <p:spPr>
          <a:xfrm>
            <a:off x="595601" y="1906558"/>
            <a:ext cx="3287621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ゲームジャンル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C155CE-49F8-0882-3D08-CA438F6C6744}"/>
              </a:ext>
            </a:extLst>
          </p:cNvPr>
          <p:cNvSpPr txBox="1"/>
          <p:nvPr/>
        </p:nvSpPr>
        <p:spPr>
          <a:xfrm>
            <a:off x="585210" y="3792154"/>
            <a:ext cx="229834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u="sng" dirty="0">
                <a:solidFill>
                  <a:schemeClr val="bg1"/>
                </a:solidFill>
              </a:rPr>
              <a:t>ゲーム概要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89D54E-FD98-6549-1B44-BC7C8B4554F4}"/>
              </a:ext>
            </a:extLst>
          </p:cNvPr>
          <p:cNvSpPr txBox="1"/>
          <p:nvPr/>
        </p:nvSpPr>
        <p:spPr>
          <a:xfrm>
            <a:off x="559769" y="2558375"/>
            <a:ext cx="3419263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bg1"/>
                </a:solidFill>
              </a:rPr>
              <a:t>2D</a:t>
            </a:r>
            <a:r>
              <a:rPr kumimoji="1" lang="ja-JP" altLang="en-US" sz="2000" dirty="0">
                <a:solidFill>
                  <a:schemeClr val="bg1"/>
                </a:solidFill>
              </a:rPr>
              <a:t>パズルアクションゲーム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787C39-B59E-17ED-D056-D68751B5695C}"/>
              </a:ext>
            </a:extLst>
          </p:cNvPr>
          <p:cNvSpPr txBox="1"/>
          <p:nvPr/>
        </p:nvSpPr>
        <p:spPr>
          <a:xfrm>
            <a:off x="5379009" y="1992450"/>
            <a:ext cx="203610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制作期間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D90114-5C6A-4A59-315B-716C597B2A63}"/>
              </a:ext>
            </a:extLst>
          </p:cNvPr>
          <p:cNvSpPr txBox="1"/>
          <p:nvPr/>
        </p:nvSpPr>
        <p:spPr>
          <a:xfrm>
            <a:off x="5379009" y="2605481"/>
            <a:ext cx="1115877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１カ月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2C624E2-BD13-34CF-FE72-4229E0948E72}"/>
              </a:ext>
            </a:extLst>
          </p:cNvPr>
          <p:cNvSpPr/>
          <p:nvPr/>
        </p:nvSpPr>
        <p:spPr>
          <a:xfrm>
            <a:off x="409953" y="1876412"/>
            <a:ext cx="3768429" cy="122984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草, 大きい, モニター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B548AB6-FD40-7A08-066E-65C0E9FFE9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">
            <a:off x="8270842" y="1606988"/>
            <a:ext cx="3455396" cy="1957924"/>
          </a:xfrm>
          <a:prstGeom prst="rect">
            <a:avLst/>
          </a:prstGeom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E8A807F4-E1EE-E1FB-0088-0EEA7D10E007}"/>
              </a:ext>
            </a:extLst>
          </p:cNvPr>
          <p:cNvSpPr/>
          <p:nvPr/>
        </p:nvSpPr>
        <p:spPr>
          <a:xfrm>
            <a:off x="5259373" y="1912588"/>
            <a:ext cx="2275378" cy="119366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0BF16B27-36BC-F0AA-F62F-A7C1DB2F5874}"/>
              </a:ext>
            </a:extLst>
          </p:cNvPr>
          <p:cNvSpPr/>
          <p:nvPr/>
        </p:nvSpPr>
        <p:spPr>
          <a:xfrm>
            <a:off x="375316" y="3630211"/>
            <a:ext cx="8033046" cy="283695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7BCF859D-6463-4056-E613-57AAC34A4B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540000">
            <a:off x="9120913" y="3050528"/>
            <a:ext cx="2914733" cy="1614417"/>
          </a:xfrm>
          <a:prstGeom prst="rect">
            <a:avLst/>
          </a:prstGeom>
        </p:spPr>
      </p:pic>
      <p:pic>
        <p:nvPicPr>
          <p:cNvPr id="12" name="図 11" descr="ゲーム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94DB9965-0788-BF85-18D0-451EE6C96B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">
            <a:off x="8742723" y="4584074"/>
            <a:ext cx="3291131" cy="185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2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A3FE-54A3-E3EF-1922-981513F72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BC89AB-0512-692F-9B20-7FBC6EA1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9992032" cy="923330"/>
          </a:xfrm>
        </p:spPr>
        <p:txBody>
          <a:bodyPr/>
          <a:lstStyle/>
          <a:p>
            <a:r>
              <a:rPr kumimoji="1" lang="ja-JP" altLang="en-US" sz="6000" dirty="0"/>
              <a:t>制作作品</a:t>
            </a:r>
            <a:r>
              <a:rPr kumimoji="1" lang="ja-JP" altLang="en-US" sz="6000" u="none" dirty="0"/>
              <a:t> </a:t>
            </a:r>
            <a:r>
              <a:rPr kumimoji="1" lang="ja-JP" altLang="en-US" sz="6000" dirty="0"/>
              <a:t>チーム制作作品①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5529F04-B222-2947-717D-D0D8D573E6B5}"/>
              </a:ext>
            </a:extLst>
          </p:cNvPr>
          <p:cNvSpPr txBox="1"/>
          <p:nvPr/>
        </p:nvSpPr>
        <p:spPr>
          <a:xfrm>
            <a:off x="371167" y="2057400"/>
            <a:ext cx="9077633" cy="415498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en-US" altLang="ja-JP" sz="2400" dirty="0">
                <a:solidFill>
                  <a:schemeClr val="bg1"/>
                </a:solidFill>
              </a:rPr>
              <a:t>.CSV</a:t>
            </a:r>
            <a:r>
              <a:rPr kumimoji="1" lang="ja-JP" altLang="en-US" sz="2400" dirty="0">
                <a:solidFill>
                  <a:schemeClr val="bg1"/>
                </a:solidFill>
              </a:rPr>
              <a:t>をエディター上で読み込み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・ シーン遷移・フェードエフェクト・サウンドマネージャー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400" dirty="0">
                <a:solidFill>
                  <a:schemeClr val="bg1"/>
                </a:solidFill>
              </a:rPr>
              <a:t>他のメンバーが触るため、触りやすさを重視して実装しました。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algn="l"/>
            <a:br>
              <a:rPr lang="en-US" altLang="ja-JP" sz="2400" dirty="0"/>
            </a:br>
            <a:br>
              <a:rPr lang="en-US" altLang="ja-JP" sz="2400" dirty="0"/>
            </a:br>
            <a:r>
              <a:rPr lang="ja-JP" altLang="en-US" sz="2400" dirty="0">
                <a:solidFill>
                  <a:schemeClr val="bg1"/>
                </a:solidFill>
              </a:rPr>
              <a:t>◆主に注力した点</a:t>
            </a:r>
            <a:br>
              <a:rPr lang="ja-JP" altLang="en-US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・ </a:t>
            </a:r>
            <a:r>
              <a:rPr lang="en-US" altLang="ja-JP" sz="2400" dirty="0">
                <a:solidFill>
                  <a:schemeClr val="bg1"/>
                </a:solidFill>
              </a:rPr>
              <a:t>.CSV</a:t>
            </a:r>
            <a:r>
              <a:rPr lang="ja-JP" altLang="en-US" sz="2400" dirty="0">
                <a:solidFill>
                  <a:schemeClr val="bg1"/>
                </a:solidFill>
              </a:rPr>
              <a:t>は読み込み</a:t>
            </a:r>
            <a:endParaRPr lang="en-US" altLang="ja-JP" sz="2400" dirty="0">
              <a:solidFill>
                <a:schemeClr val="bg1"/>
              </a:solidFill>
            </a:endParaRPr>
          </a:p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　 </a:t>
            </a:r>
            <a:r>
              <a:rPr lang="ja-JP" altLang="en-US" sz="2400" b="1" dirty="0">
                <a:solidFill>
                  <a:schemeClr val="bg1"/>
                </a:solidFill>
              </a:rPr>
              <a:t>→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ja-JP" altLang="en-US" sz="2400" b="1" u="sng" dirty="0">
                <a:solidFill>
                  <a:srgbClr val="FF0000"/>
                </a:solidFill>
              </a:rPr>
              <a:t>再生成処理に対応／カメラ調整不要な設計</a:t>
            </a:r>
            <a:endParaRPr lang="en-US" altLang="ja-JP" sz="2400" b="1" u="sng" dirty="0">
              <a:solidFill>
                <a:srgbClr val="FF0000"/>
              </a:solidFill>
            </a:endParaRPr>
          </a:p>
          <a:p>
            <a:pPr algn="l"/>
            <a:r>
              <a:rPr lang="ja-JP" altLang="en-US" sz="2400" dirty="0">
                <a:solidFill>
                  <a:schemeClr val="bg1"/>
                </a:solidFill>
              </a:rPr>
              <a:t>・ シーン遷移マネージャー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　 → 追加読み込み方式で、リスタート時に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　　  </a:t>
            </a:r>
            <a:r>
              <a:rPr lang="ja-JP" altLang="en-US" sz="2400" b="1" u="sng" dirty="0">
                <a:solidFill>
                  <a:srgbClr val="FF0000"/>
                </a:solidFill>
              </a:rPr>
              <a:t>カクついて</a:t>
            </a:r>
            <a:r>
              <a:rPr lang="ja-JP" altLang="en-US" sz="2400" dirty="0">
                <a:solidFill>
                  <a:schemeClr val="bg1"/>
                </a:solidFill>
              </a:rPr>
              <a:t>テンポが悪くならないようにしました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2A65CEA-50C7-8799-839D-5DA6A95C1585}"/>
              </a:ext>
            </a:extLst>
          </p:cNvPr>
          <p:cNvSpPr txBox="1"/>
          <p:nvPr/>
        </p:nvSpPr>
        <p:spPr>
          <a:xfrm>
            <a:off x="365338" y="1435221"/>
            <a:ext cx="229834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担当箇所</a:t>
            </a:r>
          </a:p>
        </p:txBody>
      </p:sp>
      <p:pic>
        <p:nvPicPr>
          <p:cNvPr id="3" name="図 2" descr="携帯電話の画面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A93E4668-1082-C677-1040-0D4CC619A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429000"/>
            <a:ext cx="3954191" cy="317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3E11-F305-EF19-3EA8-0B1610EB9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9C6CD8-E84C-1F68-E781-D5DAFCCD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9992032" cy="923330"/>
          </a:xfrm>
        </p:spPr>
        <p:txBody>
          <a:bodyPr/>
          <a:lstStyle/>
          <a:p>
            <a:r>
              <a:rPr kumimoji="1" lang="ja-JP" altLang="en-US" sz="6000" dirty="0"/>
              <a:t>制作作品</a:t>
            </a:r>
            <a:r>
              <a:rPr kumimoji="1" lang="ja-JP" altLang="en-US" sz="6000" u="none" dirty="0"/>
              <a:t> </a:t>
            </a:r>
            <a:r>
              <a:rPr kumimoji="1" lang="ja-JP" altLang="en-US" sz="6000" dirty="0"/>
              <a:t>チーム制作作品②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36FDBA-E0C0-696E-656D-E9A6151737B6}"/>
              </a:ext>
            </a:extLst>
          </p:cNvPr>
          <p:cNvSpPr txBox="1"/>
          <p:nvPr/>
        </p:nvSpPr>
        <p:spPr>
          <a:xfrm>
            <a:off x="182293" y="1502506"/>
            <a:ext cx="3070861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ゲームジャンル</a:t>
            </a:r>
          </a:p>
        </p:txBody>
      </p:sp>
      <p:pic>
        <p:nvPicPr>
          <p:cNvPr id="7" name="図 6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01AA462-6B59-CAB6-13D9-58F1D9C90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824" y="1939546"/>
            <a:ext cx="6436506" cy="355855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F878BB2-ADC0-06F7-460C-DC9C8F6F55C9}"/>
              </a:ext>
            </a:extLst>
          </p:cNvPr>
          <p:cNvSpPr txBox="1"/>
          <p:nvPr/>
        </p:nvSpPr>
        <p:spPr>
          <a:xfrm>
            <a:off x="182293" y="3206603"/>
            <a:ext cx="5343832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風船を膨らませて山頂まで目指すゲームです。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en-US" altLang="ja-JP" sz="2000" dirty="0">
                <a:solidFill>
                  <a:schemeClr val="bg1"/>
                </a:solidFill>
              </a:rPr>
              <a:t>DirectX11</a:t>
            </a:r>
            <a:r>
              <a:rPr kumimoji="1" lang="ja-JP" altLang="en-US" sz="2000" dirty="0">
                <a:solidFill>
                  <a:schemeClr val="bg1"/>
                </a:solidFill>
              </a:rPr>
              <a:t>を使用して作成しています。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A8F7C9-C8B9-66B4-C92F-74D058AA5615}"/>
              </a:ext>
            </a:extLst>
          </p:cNvPr>
          <p:cNvSpPr txBox="1"/>
          <p:nvPr/>
        </p:nvSpPr>
        <p:spPr>
          <a:xfrm>
            <a:off x="217462" y="2551767"/>
            <a:ext cx="229834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ゲーム概要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0C2E7A8-89A9-0E11-0E04-BB7CA1EA0C88}"/>
              </a:ext>
            </a:extLst>
          </p:cNvPr>
          <p:cNvSpPr txBox="1"/>
          <p:nvPr/>
        </p:nvSpPr>
        <p:spPr>
          <a:xfrm>
            <a:off x="205739" y="4528175"/>
            <a:ext cx="7947661" cy="193899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 ギミック　 ・ タイマー 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 当たり判定 ・リザルト画面</a:t>
            </a: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・ 重力処理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endParaRPr kumimoji="1" lang="en-US" altLang="ja-JP" sz="2000" dirty="0">
              <a:solidFill>
                <a:schemeClr val="bg1"/>
              </a:solidFill>
            </a:endParaRPr>
          </a:p>
          <a:p>
            <a:pPr algn="l"/>
            <a:r>
              <a:rPr kumimoji="1" lang="ja-JP" altLang="en-US" sz="2000" dirty="0">
                <a:solidFill>
                  <a:schemeClr val="bg1"/>
                </a:solidFill>
              </a:rPr>
              <a:t>重力はゲームの面白さに大きくかかわる大事なところだったため、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r>
              <a:rPr kumimoji="1" lang="ja-JP" altLang="en-US" sz="2000" b="1" u="sng" dirty="0">
                <a:solidFill>
                  <a:srgbClr val="FF0000"/>
                </a:solidFill>
              </a:rPr>
              <a:t>細かく調整ができるように重力、風の影響、質量を実装</a:t>
            </a:r>
            <a:r>
              <a:rPr kumimoji="1" lang="ja-JP" altLang="en-US" sz="2000" dirty="0">
                <a:solidFill>
                  <a:schemeClr val="bg1"/>
                </a:solidFill>
              </a:rPr>
              <a:t>しました。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25FA7E-CA57-6ADD-E8C5-5E16E014A7FF}"/>
              </a:ext>
            </a:extLst>
          </p:cNvPr>
          <p:cNvSpPr txBox="1"/>
          <p:nvPr/>
        </p:nvSpPr>
        <p:spPr>
          <a:xfrm>
            <a:off x="214113" y="3943400"/>
            <a:ext cx="2298344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u="sng" dirty="0">
                <a:solidFill>
                  <a:schemeClr val="bg1"/>
                </a:solidFill>
              </a:rPr>
              <a:t>担当箇所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BADE79E-374D-A279-416D-A0BEDABFBAEC}"/>
              </a:ext>
            </a:extLst>
          </p:cNvPr>
          <p:cNvSpPr txBox="1"/>
          <p:nvPr/>
        </p:nvSpPr>
        <p:spPr>
          <a:xfrm>
            <a:off x="182293" y="2144519"/>
            <a:ext cx="280123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ja-JP" sz="1800" b="1" dirty="0">
                <a:solidFill>
                  <a:schemeClr val="bg1"/>
                </a:solidFill>
              </a:rPr>
              <a:t>２</a:t>
            </a:r>
            <a:r>
              <a:rPr kumimoji="1" lang="en-US" altLang="ja-JP" sz="1800" b="1" dirty="0">
                <a:solidFill>
                  <a:schemeClr val="bg1"/>
                </a:solidFill>
              </a:rPr>
              <a:t>D</a:t>
            </a:r>
            <a:r>
              <a:rPr kumimoji="1" lang="ja-JP" altLang="ja-JP" sz="2000" dirty="0">
                <a:solidFill>
                  <a:schemeClr val="bg1"/>
                </a:solidFill>
              </a:rPr>
              <a:t>アクションゲーム</a:t>
            </a:r>
            <a:endParaRPr lang="ja-JP" altLang="ja-JP" sz="20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59369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1043</TotalTime>
  <Words>484</Words>
  <Application>Microsoft Office PowerPoint</Application>
  <PresentationFormat>ワイド画面</PresentationFormat>
  <Paragraphs>73</Paragraphs>
  <Slides>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MS Gothic</vt:lpstr>
      <vt:lpstr>游ゴシック</vt:lpstr>
      <vt:lpstr>Office Theme</vt:lpstr>
      <vt:lpstr>ポートフォリオ</vt:lpstr>
      <vt:lpstr>目次</vt:lpstr>
      <vt:lpstr>プロフィール</vt:lpstr>
      <vt:lpstr>人物像</vt:lpstr>
      <vt:lpstr>制作作品 個人制作作品①</vt:lpstr>
      <vt:lpstr>制作作品 チーム制作作品①</vt:lpstr>
      <vt:lpstr>制作作品 チーム制作作品①</vt:lpstr>
      <vt:lpstr>制作作品 チーム制作作品②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OHS23 松田健志</cp:lastModifiedBy>
  <cp:revision>674</cp:revision>
  <dcterms:created xsi:type="dcterms:W3CDTF">2025-12-13T00:48:35Z</dcterms:created>
  <dcterms:modified xsi:type="dcterms:W3CDTF">2026-04-30T14:04:14Z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