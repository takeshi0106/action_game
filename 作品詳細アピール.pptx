
<file path=[Content_Types].xml><?xml version="1.0" encoding="utf-8"?>
<Types xmlns="http://schemas.openxmlformats.org/package/2006/content-types">
  <Default Extension="jpeg" ContentType="image/jpeg"/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63" r:id="rId4"/>
    <p:sldId id="264" r:id="rId5"/>
    <p:sldId id="265" r:id="rId6"/>
    <p:sldId id="266" r:id="rId7"/>
    <p:sldId id="267" r:id="rId8"/>
    <p:sldId id="268" r:id="rId9"/>
    <p:sldId id="271" r:id="rId10"/>
    <p:sldId id="272" r:id="rId11"/>
    <p:sldId id="270" r:id="rId12"/>
  </p:sldIdLst>
  <p:sldSz cx="12192000" cy="6858000"/>
  <p:notesSz cx="12192000" cy="68580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78" d="100"/>
          <a:sy n="78" d="100"/>
        </p:scale>
        <p:origin x="850" y="62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914400" y="2125980"/>
            <a:ext cx="10363200" cy="14401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4400" b="0" i="0" u="sng">
                <a:solidFill>
                  <a:schemeClr val="bg1"/>
                </a:solidFill>
                <a:latin typeface="MS Gothic"/>
                <a:cs typeface="MS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828800" y="3840480"/>
            <a:ext cx="8534400" cy="17145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800" b="0" i="0">
                <a:solidFill>
                  <a:schemeClr val="bg1"/>
                </a:solidFill>
                <a:latin typeface="MS Gothic"/>
                <a:cs typeface="MS Gothic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12/13/2025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4400" b="0" i="0" u="sng">
                <a:solidFill>
                  <a:schemeClr val="bg1"/>
                </a:solidFill>
                <a:latin typeface="MS Gothic"/>
                <a:cs typeface="MS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sz="2800" b="0" i="0">
                <a:solidFill>
                  <a:schemeClr val="bg1"/>
                </a:solidFill>
                <a:latin typeface="MS Gothic"/>
                <a:cs typeface="MS Gothic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12/13/2025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4400" b="0" i="0" u="sng">
                <a:solidFill>
                  <a:schemeClr val="bg1"/>
                </a:solidFill>
                <a:latin typeface="MS Gothic"/>
                <a:cs typeface="MS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60960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627888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12/13/2025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4400" b="0" i="0" u="sng">
                <a:solidFill>
                  <a:schemeClr val="bg1"/>
                </a:solidFill>
                <a:latin typeface="MS Gothic"/>
                <a:cs typeface="MS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12/13/2025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12/13/2025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442671" y="482041"/>
            <a:ext cx="7287259" cy="69723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4400" b="0" i="0" u="sng">
                <a:solidFill>
                  <a:schemeClr val="bg1"/>
                </a:solidFill>
                <a:latin typeface="MS Gothic"/>
                <a:cs typeface="MS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553313" y="2137663"/>
            <a:ext cx="5001895" cy="21983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800" b="0" i="0">
                <a:solidFill>
                  <a:schemeClr val="bg1"/>
                </a:solidFill>
                <a:latin typeface="MS Gothic"/>
                <a:cs typeface="MS Gothic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4145280" y="6377940"/>
            <a:ext cx="390144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609600" y="6377940"/>
            <a:ext cx="280416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12/13/2025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8778240" y="6377940"/>
            <a:ext cx="280416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838200" y="1905000"/>
            <a:ext cx="10736580" cy="9404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algn="ctr">
              <a:lnSpc>
                <a:spcPct val="100000"/>
              </a:lnSpc>
              <a:spcBef>
                <a:spcPts val="100"/>
              </a:spcBef>
            </a:pPr>
            <a:r>
              <a:rPr sz="6000" u="none" spc="-5" dirty="0" err="1"/>
              <a:t>就職</a:t>
            </a:r>
            <a:r>
              <a:rPr lang="ja-JP" altLang="en-US" sz="6000" u="none" spc="-5" dirty="0"/>
              <a:t>作品詳細アピール</a:t>
            </a:r>
            <a:endParaRPr sz="6000" dirty="0"/>
          </a:p>
        </p:txBody>
      </p:sp>
      <p:sp>
        <p:nvSpPr>
          <p:cNvPr id="3" name="object 3"/>
          <p:cNvSpPr txBox="1"/>
          <p:nvPr/>
        </p:nvSpPr>
        <p:spPr>
          <a:xfrm>
            <a:off x="9322054" y="5404603"/>
            <a:ext cx="2092960" cy="942975"/>
          </a:xfrm>
          <a:prstGeom prst="rect">
            <a:avLst/>
          </a:prstGeom>
        </p:spPr>
        <p:txBody>
          <a:bodyPr vert="horz" wrap="square" lIns="0" tIns="1047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825"/>
              </a:spcBef>
            </a:pPr>
            <a:r>
              <a:rPr sz="2400" spc="-10" dirty="0">
                <a:solidFill>
                  <a:srgbClr val="FFFFFF"/>
                </a:solidFill>
                <a:latin typeface="Arial MT"/>
                <a:cs typeface="Arial MT"/>
              </a:rPr>
              <a:t>AT-</a:t>
            </a:r>
            <a:r>
              <a:rPr sz="2400" spc="-25" dirty="0">
                <a:solidFill>
                  <a:srgbClr val="FFFFFF"/>
                </a:solidFill>
                <a:latin typeface="Arial MT"/>
                <a:cs typeface="Arial MT"/>
              </a:rPr>
              <a:t>13B-</a:t>
            </a:r>
            <a:r>
              <a:rPr sz="2400" dirty="0">
                <a:solidFill>
                  <a:srgbClr val="FFFFFF"/>
                </a:solidFill>
                <a:latin typeface="Arial MT"/>
                <a:cs typeface="Arial MT"/>
              </a:rPr>
              <a:t>529</a:t>
            </a:r>
            <a:r>
              <a:rPr sz="2400" spc="5" dirty="0">
                <a:solidFill>
                  <a:srgbClr val="FFFFFF"/>
                </a:solidFill>
                <a:latin typeface="Arial MT"/>
                <a:cs typeface="Arial MT"/>
              </a:rPr>
              <a:t> </a:t>
            </a:r>
            <a:r>
              <a:rPr sz="2400" spc="-25" dirty="0">
                <a:solidFill>
                  <a:srgbClr val="FFFFFF"/>
                </a:solidFill>
                <a:latin typeface="Arial MT"/>
                <a:cs typeface="Arial MT"/>
              </a:rPr>
              <a:t>32</a:t>
            </a:r>
            <a:endParaRPr sz="2400">
              <a:latin typeface="Arial MT"/>
              <a:cs typeface="Arial MT"/>
            </a:endParaRPr>
          </a:p>
          <a:p>
            <a:pPr marL="12700">
              <a:lnSpc>
                <a:spcPct val="100000"/>
              </a:lnSpc>
              <a:spcBef>
                <a:spcPts val="735"/>
              </a:spcBef>
            </a:pPr>
            <a:r>
              <a:rPr sz="2400" spc="-125" dirty="0">
                <a:solidFill>
                  <a:srgbClr val="FFFFFF"/>
                </a:solidFill>
                <a:latin typeface="MS Gothic"/>
                <a:cs typeface="MS Gothic"/>
              </a:rPr>
              <a:t>松田 健志</a:t>
            </a:r>
            <a:endParaRPr sz="2400">
              <a:latin typeface="MS Gothic"/>
              <a:cs typeface="MS Gothic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4690173" y="3400603"/>
            <a:ext cx="3032633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algn="ctr">
              <a:lnSpc>
                <a:spcPct val="100000"/>
              </a:lnSpc>
              <a:spcBef>
                <a:spcPts val="100"/>
              </a:spcBef>
            </a:pPr>
            <a:r>
              <a:rPr lang="ja-JP" altLang="en-US" sz="2400" spc="-5" dirty="0">
                <a:solidFill>
                  <a:srgbClr val="FFFFFF"/>
                </a:solidFill>
                <a:latin typeface="MS Gothic"/>
                <a:cs typeface="MS Gothic"/>
              </a:rPr>
              <a:t>無双ゲーム制作</a:t>
            </a:r>
            <a:endParaRPr lang="ja-JP" altLang="en-US" sz="2400" dirty="0">
              <a:latin typeface="MS Gothic"/>
              <a:cs typeface="MS Gothic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78739" y="61087"/>
            <a:ext cx="5053965" cy="6965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20" dirty="0"/>
              <a:t>作品概要・開発目的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78739" y="1219200"/>
            <a:ext cx="12077700" cy="4931478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405765">
              <a:spcBef>
                <a:spcPts val="95"/>
              </a:spcBef>
              <a:tabLst>
                <a:tab pos="2539365" algn="l"/>
                <a:tab pos="6353175" algn="l"/>
              </a:tabLst>
            </a:pPr>
            <a:r>
              <a:rPr lang="ja-JP" altLang="en-US" sz="2800" spc="-25" dirty="0">
                <a:solidFill>
                  <a:srgbClr val="FFFFFF"/>
                </a:solidFill>
                <a:latin typeface="MS Gothic"/>
                <a:cs typeface="MS Gothic"/>
              </a:rPr>
              <a:t>大量のオブジェクトやパーティクルを描画して、</a:t>
            </a:r>
            <a:br>
              <a:rPr lang="en-US" altLang="ja-JP" sz="2800" spc="-25" dirty="0">
                <a:solidFill>
                  <a:srgbClr val="FFFFFF"/>
                </a:solidFill>
                <a:latin typeface="MS Gothic"/>
                <a:cs typeface="MS Gothic"/>
              </a:rPr>
            </a:br>
            <a:r>
              <a:rPr lang="en-US" altLang="ja-JP" sz="2800" b="1" dirty="0">
                <a:solidFill>
                  <a:schemeClr val="bg1"/>
                </a:solidFill>
              </a:rPr>
              <a:t>Vampire Survivors </a:t>
            </a:r>
            <a:r>
              <a:rPr lang="ja-JP" altLang="en-US" sz="2800" b="1" dirty="0">
                <a:solidFill>
                  <a:schemeClr val="bg1"/>
                </a:solidFill>
              </a:rPr>
              <a:t>の３</a:t>
            </a:r>
            <a:r>
              <a:rPr lang="en-US" altLang="ja-JP" sz="2800" b="1" dirty="0">
                <a:solidFill>
                  <a:schemeClr val="bg1"/>
                </a:solidFill>
              </a:rPr>
              <a:t>D</a:t>
            </a:r>
            <a:r>
              <a:rPr lang="ja-JP" altLang="en-US" sz="2800" b="1" dirty="0">
                <a:solidFill>
                  <a:schemeClr val="bg1"/>
                </a:solidFill>
              </a:rPr>
              <a:t>版のような</a:t>
            </a:r>
            <a:endParaRPr lang="en-US" altLang="ja-JP" sz="2800" b="1" dirty="0">
              <a:solidFill>
                <a:schemeClr val="bg1"/>
              </a:solidFill>
            </a:endParaRPr>
          </a:p>
          <a:p>
            <a:pPr marL="405765">
              <a:spcBef>
                <a:spcPts val="95"/>
              </a:spcBef>
              <a:tabLst>
                <a:tab pos="2539365" algn="l"/>
                <a:tab pos="6353175" algn="l"/>
              </a:tabLst>
            </a:pPr>
            <a:r>
              <a:rPr lang="ja-JP" altLang="en-US" sz="2800" b="1" dirty="0">
                <a:solidFill>
                  <a:schemeClr val="bg1"/>
                </a:solidFill>
                <a:latin typeface="MS Gothic"/>
                <a:cs typeface="MS Gothic"/>
              </a:rPr>
              <a:t>無双ゲーム制作を目指しています。</a:t>
            </a:r>
            <a:endParaRPr lang="en-US" altLang="ja-JP" sz="2800" b="1" dirty="0">
              <a:solidFill>
                <a:schemeClr val="bg1"/>
              </a:solidFill>
              <a:latin typeface="MS Gothic"/>
              <a:cs typeface="MS Gothic"/>
            </a:endParaRPr>
          </a:p>
          <a:p>
            <a:pPr marL="405765">
              <a:spcBef>
                <a:spcPts val="95"/>
              </a:spcBef>
              <a:tabLst>
                <a:tab pos="2539365" algn="l"/>
                <a:tab pos="6353175" algn="l"/>
              </a:tabLst>
            </a:pPr>
            <a:endParaRPr sz="2700" dirty="0">
              <a:solidFill>
                <a:schemeClr val="bg1"/>
              </a:solidFill>
              <a:latin typeface="MS Gothic"/>
              <a:cs typeface="MS Gothic"/>
            </a:endParaRPr>
          </a:p>
          <a:p>
            <a:pPr marL="12700">
              <a:lnSpc>
                <a:spcPct val="100000"/>
              </a:lnSpc>
            </a:pPr>
            <a:r>
              <a:rPr sz="4400" u="sng" spc="-15" dirty="0">
                <a:solidFill>
                  <a:srgbClr val="FFFFFF"/>
                </a:solidFill>
                <a:uFill>
                  <a:solidFill>
                    <a:srgbClr val="FFFFFF"/>
                  </a:solidFill>
                </a:uFill>
                <a:latin typeface="MS Gothic"/>
                <a:cs typeface="MS Gothic"/>
              </a:rPr>
              <a:t>開発環境</a:t>
            </a:r>
            <a:endParaRPr sz="4400" dirty="0">
              <a:latin typeface="MS Gothic"/>
              <a:cs typeface="MS Gothic"/>
            </a:endParaRPr>
          </a:p>
          <a:p>
            <a:pPr marL="405765">
              <a:lnSpc>
                <a:spcPct val="100000"/>
              </a:lnSpc>
              <a:spcBef>
                <a:spcPts val="1095"/>
              </a:spcBef>
            </a:pPr>
            <a:r>
              <a:rPr sz="2800" spc="-30" dirty="0">
                <a:solidFill>
                  <a:srgbClr val="FFFFFF"/>
                </a:solidFill>
                <a:latin typeface="Arial MT"/>
                <a:cs typeface="Arial MT"/>
              </a:rPr>
              <a:t>C++</a:t>
            </a:r>
            <a:r>
              <a:rPr lang="en-US" sz="2800" spc="-30" dirty="0">
                <a:solidFill>
                  <a:srgbClr val="FFFFFF"/>
                </a:solidFill>
                <a:latin typeface="MS Gothic"/>
                <a:cs typeface="Arial MT"/>
              </a:rPr>
              <a:t>20</a:t>
            </a:r>
            <a:r>
              <a:rPr sz="2800" spc="-590" dirty="0">
                <a:solidFill>
                  <a:srgbClr val="FFFFFF"/>
                </a:solidFill>
                <a:latin typeface="MS Gothic"/>
                <a:cs typeface="MS Gothic"/>
              </a:rPr>
              <a:t> </a:t>
            </a:r>
            <a:r>
              <a:rPr sz="2800" dirty="0">
                <a:solidFill>
                  <a:srgbClr val="FFFFFF"/>
                </a:solidFill>
                <a:latin typeface="Arial MT"/>
                <a:cs typeface="Arial MT"/>
              </a:rPr>
              <a:t>/</a:t>
            </a:r>
            <a:r>
              <a:rPr sz="2800" spc="20" dirty="0">
                <a:solidFill>
                  <a:srgbClr val="FFFFFF"/>
                </a:solidFill>
                <a:latin typeface="Arial MT"/>
                <a:cs typeface="Arial MT"/>
              </a:rPr>
              <a:t> </a:t>
            </a:r>
            <a:r>
              <a:rPr sz="2800" spc="-10" dirty="0">
                <a:solidFill>
                  <a:srgbClr val="FFFFFF"/>
                </a:solidFill>
                <a:latin typeface="Arial MT"/>
                <a:cs typeface="Arial MT"/>
              </a:rPr>
              <a:t>DirectX11</a:t>
            </a:r>
            <a:endParaRPr sz="2800" dirty="0">
              <a:latin typeface="Arial MT"/>
              <a:cs typeface="Arial MT"/>
            </a:endParaRPr>
          </a:p>
          <a:p>
            <a:pPr>
              <a:lnSpc>
                <a:spcPct val="100000"/>
              </a:lnSpc>
              <a:spcBef>
                <a:spcPts val="1900"/>
              </a:spcBef>
            </a:pPr>
            <a:endParaRPr sz="2800" dirty="0">
              <a:latin typeface="Arial MT"/>
              <a:cs typeface="Arial MT"/>
            </a:endParaRPr>
          </a:p>
          <a:p>
            <a:pPr marL="12700">
              <a:lnSpc>
                <a:spcPct val="100000"/>
              </a:lnSpc>
              <a:spcBef>
                <a:spcPts val="5"/>
              </a:spcBef>
            </a:pPr>
            <a:r>
              <a:rPr sz="4400" u="sng" spc="-20" dirty="0" err="1">
                <a:solidFill>
                  <a:srgbClr val="FFFFFF"/>
                </a:solidFill>
                <a:uFill>
                  <a:solidFill>
                    <a:srgbClr val="FFFFFF"/>
                  </a:solidFill>
                </a:uFill>
                <a:latin typeface="MS Gothic"/>
                <a:cs typeface="MS Gothic"/>
              </a:rPr>
              <a:t>開発期間</a:t>
            </a:r>
            <a:endParaRPr lang="ja-JP" altLang="en-US" sz="4400" u="sng" spc="-20" dirty="0">
              <a:solidFill>
                <a:srgbClr val="FFFFFF"/>
              </a:solidFill>
              <a:uFill>
                <a:solidFill>
                  <a:srgbClr val="FFFFFF"/>
                </a:solidFill>
              </a:uFill>
              <a:latin typeface="MS Gothic"/>
              <a:cs typeface="MS Gothic"/>
            </a:endParaRPr>
          </a:p>
          <a:p>
            <a:pPr marL="405765">
              <a:lnSpc>
                <a:spcPct val="100000"/>
              </a:lnSpc>
              <a:spcBef>
                <a:spcPts val="1245"/>
              </a:spcBef>
            </a:pPr>
            <a:r>
              <a:rPr lang="ja-JP" altLang="en-US" sz="2800" spc="-40" dirty="0">
                <a:solidFill>
                  <a:srgbClr val="FFFFFF"/>
                </a:solidFill>
                <a:latin typeface="MS Gothic"/>
                <a:cs typeface="MS Gothic"/>
              </a:rPr>
              <a:t>約３～４カ月くらい</a:t>
            </a:r>
            <a:endParaRPr lang="ja-JP" altLang="en-US" sz="2800" dirty="0">
              <a:latin typeface="MS Gothic"/>
              <a:cs typeface="MS Gothic"/>
            </a:endParaRPr>
          </a:p>
        </p:txBody>
      </p:sp>
      <p:pic>
        <p:nvPicPr>
          <p:cNvPr id="4" name="Picture 2" descr="配信開始】ゴシックホラーカジュアルゲーム『Vampire Survivors（ヴァンパイア・サバイバーズ）』がスマホアプリで登場 |  ファミ通App【スマホゲーム情報サイト】">
            <a:extLst>
              <a:ext uri="{FF2B5EF4-FFF2-40B4-BE49-F238E27FC236}">
                <a16:creationId xmlns:a16="http://schemas.microsoft.com/office/drawing/2014/main" id="{4188148E-7DF7-F9AF-9A08-9DF94B9B66F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29600" y="914400"/>
            <a:ext cx="3655061" cy="20590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0" name="Picture 2" descr="スマホとゲーム機どっちで遊ぶ？#47】スマホ版は無料＆縦横表示を選択可能！あと1回では終われない『Vampire Survivors（ヴァンパイア・ サバイバーズ）』 | ファミ通App【スマホゲーム情報サイト】">
            <a:extLst>
              <a:ext uri="{FF2B5EF4-FFF2-40B4-BE49-F238E27FC236}">
                <a16:creationId xmlns:a16="http://schemas.microsoft.com/office/drawing/2014/main" id="{5C5C4AA6-DB43-D55D-236C-5453BA5809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62600" y="3684939"/>
            <a:ext cx="5715000" cy="26384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3FB25B17-844E-2C98-643A-4861163F8BA8}"/>
              </a:ext>
            </a:extLst>
          </p:cNvPr>
          <p:cNvSpPr/>
          <p:nvPr/>
        </p:nvSpPr>
        <p:spPr>
          <a:xfrm>
            <a:off x="2209800" y="2133600"/>
            <a:ext cx="8305800" cy="2133600"/>
          </a:xfrm>
          <a:prstGeom prst="rect">
            <a:avLst/>
          </a:prstGeom>
          <a:noFill/>
          <a:ln w="3810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4400" u="heavy" spc="-45" dirty="0">
                <a:uFill>
                  <a:solidFill>
                    <a:srgbClr val="FFFFFF"/>
                  </a:solidFill>
                </a:uFill>
              </a:rPr>
              <a:t>今制作し終わっている作品の</a:t>
            </a:r>
            <a:endParaRPr lang="en-US" altLang="ja-JP" sz="4400" u="heavy" spc="-45" dirty="0">
              <a:uFill>
                <a:solidFill>
                  <a:srgbClr val="FFFFFF"/>
                </a:solidFill>
              </a:uFill>
            </a:endParaRPr>
          </a:p>
          <a:p>
            <a:pPr algn="ctr"/>
            <a:r>
              <a:rPr lang="ja-JP" altLang="en-US" sz="4400" u="heavy" spc="-40" dirty="0">
                <a:uFill>
                  <a:solidFill>
                    <a:srgbClr val="FFFFFF"/>
                  </a:solidFill>
                </a:uFill>
              </a:rPr>
              <a:t>アピールポイント紹介</a:t>
            </a:r>
            <a:endParaRPr kumimoji="1" lang="ja-JP" altLang="en-US" sz="4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78739" y="603884"/>
            <a:ext cx="7288530" cy="69659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pc="-25" dirty="0"/>
              <a:t>プラットフォーム非依存設計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04800" y="1832210"/>
            <a:ext cx="9776460" cy="2884443"/>
          </a:xfrm>
          <a:prstGeom prst="rect">
            <a:avLst/>
          </a:prstGeom>
        </p:spPr>
        <p:txBody>
          <a:bodyPr vert="horz" wrap="square" lIns="0" tIns="29209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229"/>
              </a:spcBef>
            </a:pPr>
            <a:r>
              <a:rPr sz="2200" spc="-35" dirty="0" err="1">
                <a:solidFill>
                  <a:srgbClr val="FFFFFF"/>
                </a:solidFill>
                <a:latin typeface="MS Gothic"/>
                <a:cs typeface="MS Gothic"/>
              </a:rPr>
              <a:t>プラットフォーム固有の要素をラッパー構造体として定義する</a:t>
            </a:r>
            <a:r>
              <a:rPr lang="ja-JP" altLang="en-US" sz="2200" spc="-35" dirty="0">
                <a:solidFill>
                  <a:srgbClr val="FFFFFF"/>
                </a:solidFill>
                <a:latin typeface="MS Gothic"/>
                <a:cs typeface="MS Gothic"/>
              </a:rPr>
              <a:t>こ</a:t>
            </a:r>
            <a:r>
              <a:rPr sz="2200" spc="-35" dirty="0" err="1">
                <a:solidFill>
                  <a:srgbClr val="FFFFFF"/>
                </a:solidFill>
                <a:latin typeface="MS Gothic"/>
                <a:cs typeface="MS Gothic"/>
              </a:rPr>
              <a:t>とで</a:t>
            </a:r>
            <a:r>
              <a:rPr sz="2200" spc="-35" dirty="0">
                <a:solidFill>
                  <a:srgbClr val="FFFFFF"/>
                </a:solidFill>
                <a:latin typeface="MS Gothic"/>
                <a:cs typeface="MS Gothic"/>
              </a:rPr>
              <a:t>、</a:t>
            </a:r>
            <a:endParaRPr sz="2200" dirty="0">
              <a:latin typeface="MS Gothic"/>
              <a:cs typeface="MS Gothic"/>
            </a:endParaRPr>
          </a:p>
          <a:p>
            <a:pPr marL="12700">
              <a:lnSpc>
                <a:spcPct val="100000"/>
              </a:lnSpc>
              <a:spcBef>
                <a:spcPts val="130"/>
              </a:spcBef>
            </a:pPr>
            <a:r>
              <a:rPr sz="2200" spc="-35" dirty="0">
                <a:solidFill>
                  <a:srgbClr val="FFFFFF"/>
                </a:solidFill>
                <a:latin typeface="MS Gothic"/>
                <a:cs typeface="MS Gothic"/>
              </a:rPr>
              <a:t>プラットフォームが変更されても</a:t>
            </a:r>
            <a:endParaRPr sz="2200" dirty="0">
              <a:latin typeface="MS Gothic"/>
              <a:cs typeface="MS Gothic"/>
            </a:endParaRPr>
          </a:p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2200" spc="-20" dirty="0" err="1">
                <a:solidFill>
                  <a:srgbClr val="FFFFFF"/>
                </a:solidFill>
                <a:latin typeface="MS Gothic"/>
                <a:cs typeface="MS Gothic"/>
              </a:rPr>
              <a:t>ゲーム基盤</a:t>
            </a:r>
            <a:r>
              <a:rPr sz="2200" spc="-25" dirty="0" err="1">
                <a:solidFill>
                  <a:srgbClr val="FFFFFF"/>
                </a:solidFill>
                <a:latin typeface="MS Gothic"/>
                <a:cs typeface="MS Gothic"/>
              </a:rPr>
              <a:t>（</a:t>
            </a:r>
            <a:r>
              <a:rPr sz="2200" spc="-25" dirty="0" err="1">
                <a:solidFill>
                  <a:srgbClr val="FFFFFF"/>
                </a:solidFill>
                <a:latin typeface="Arial MT"/>
                <a:cs typeface="Arial MT"/>
              </a:rPr>
              <a:t>GameMain</a:t>
            </a:r>
            <a:r>
              <a:rPr sz="2200" spc="-25" dirty="0" err="1">
                <a:solidFill>
                  <a:srgbClr val="FFFFFF"/>
                </a:solidFill>
                <a:latin typeface="MS Gothic"/>
                <a:cs typeface="MS Gothic"/>
              </a:rPr>
              <a:t>）</a:t>
            </a:r>
            <a:r>
              <a:rPr sz="2200" spc="-35" dirty="0" err="1">
                <a:solidFill>
                  <a:srgbClr val="FFFFFF"/>
                </a:solidFill>
                <a:latin typeface="MS Gothic"/>
                <a:cs typeface="MS Gothic"/>
              </a:rPr>
              <a:t>を改修せずに動作</a:t>
            </a:r>
            <a:r>
              <a:rPr lang="ja-JP" altLang="en-US" sz="2200" spc="-35" dirty="0">
                <a:solidFill>
                  <a:srgbClr val="FFFFFF"/>
                </a:solidFill>
                <a:latin typeface="MS Gothic"/>
                <a:cs typeface="MS Gothic"/>
              </a:rPr>
              <a:t>します。</a:t>
            </a:r>
            <a:endParaRPr sz="2200" dirty="0">
              <a:latin typeface="MS Gothic"/>
              <a:cs typeface="MS Gothic"/>
            </a:endParaRPr>
          </a:p>
          <a:p>
            <a:pPr>
              <a:lnSpc>
                <a:spcPct val="100000"/>
              </a:lnSpc>
              <a:spcBef>
                <a:spcPts val="850"/>
              </a:spcBef>
            </a:pPr>
            <a:endParaRPr sz="2200" dirty="0">
              <a:latin typeface="MS Gothic"/>
              <a:cs typeface="MS Gothic"/>
            </a:endParaRPr>
          </a:p>
          <a:p>
            <a:pPr marL="12700">
              <a:lnSpc>
                <a:spcPct val="100000"/>
              </a:lnSpc>
              <a:spcBef>
                <a:spcPts val="5"/>
              </a:spcBef>
            </a:pPr>
            <a:r>
              <a:rPr sz="2200" spc="-35" dirty="0">
                <a:solidFill>
                  <a:srgbClr val="FFFFFF"/>
                </a:solidFill>
                <a:latin typeface="MS Gothic"/>
                <a:cs typeface="MS Gothic"/>
              </a:rPr>
              <a:t>計算用構造体は共通のデータ形式を保持し、</a:t>
            </a:r>
            <a:endParaRPr sz="2200" dirty="0">
              <a:latin typeface="MS Gothic"/>
              <a:cs typeface="MS Gothic"/>
            </a:endParaRPr>
          </a:p>
          <a:p>
            <a:pPr marL="12700">
              <a:lnSpc>
                <a:spcPct val="100000"/>
              </a:lnSpc>
              <a:spcBef>
                <a:spcPts val="130"/>
              </a:spcBef>
            </a:pPr>
            <a:r>
              <a:rPr sz="2200" spc="-35" dirty="0" err="1">
                <a:solidFill>
                  <a:srgbClr val="FFFFFF"/>
                </a:solidFill>
                <a:latin typeface="MS Gothic"/>
                <a:cs typeface="MS Gothic"/>
              </a:rPr>
              <a:t>処理部分をプラットフォーム依存として分離する</a:t>
            </a:r>
            <a:r>
              <a:rPr lang="ja-JP" altLang="en-US" sz="2200" spc="-35" dirty="0">
                <a:solidFill>
                  <a:srgbClr val="FFFFFF"/>
                </a:solidFill>
                <a:latin typeface="MS Gothic"/>
                <a:cs typeface="MS Gothic"/>
              </a:rPr>
              <a:t>こと</a:t>
            </a:r>
            <a:r>
              <a:rPr sz="2200" spc="-35" dirty="0">
                <a:solidFill>
                  <a:srgbClr val="FFFFFF"/>
                </a:solidFill>
                <a:latin typeface="MS Gothic"/>
                <a:cs typeface="MS Gothic"/>
              </a:rPr>
              <a:t>で、</a:t>
            </a:r>
            <a:endParaRPr sz="2200" dirty="0">
              <a:latin typeface="MS Gothic"/>
              <a:cs typeface="MS Gothic"/>
            </a:endParaRPr>
          </a:p>
          <a:p>
            <a:pPr marL="12700" marR="4448810">
              <a:lnSpc>
                <a:spcPct val="105000"/>
              </a:lnSpc>
            </a:pPr>
            <a:r>
              <a:rPr sz="2200" spc="-35" dirty="0" err="1">
                <a:solidFill>
                  <a:srgbClr val="FFFFFF"/>
                </a:solidFill>
                <a:latin typeface="MS Gothic"/>
                <a:cs typeface="MS Gothic"/>
              </a:rPr>
              <a:t>各プラットフォームに最適化された実装へ容易に切り替えられる設計としています</a:t>
            </a:r>
            <a:r>
              <a:rPr sz="2200" spc="-35" dirty="0">
                <a:solidFill>
                  <a:srgbClr val="FFFFFF"/>
                </a:solidFill>
                <a:latin typeface="MS Gothic"/>
                <a:cs typeface="MS Gothic"/>
              </a:rPr>
              <a:t>。</a:t>
            </a:r>
            <a:endParaRPr sz="2200" dirty="0">
              <a:latin typeface="MS Gothic"/>
              <a:cs typeface="MS Gothic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8964930" y="3271240"/>
            <a:ext cx="2640329" cy="3385058"/>
          </a:xfrm>
          <a:prstGeom prst="rect">
            <a:avLst/>
          </a:prstGeom>
        </p:spPr>
      </p:pic>
      <p:sp>
        <p:nvSpPr>
          <p:cNvPr id="5" name="object 3">
            <a:extLst>
              <a:ext uri="{FF2B5EF4-FFF2-40B4-BE49-F238E27FC236}">
                <a16:creationId xmlns:a16="http://schemas.microsoft.com/office/drawing/2014/main" id="{54197A98-C48B-E701-616F-0DDFF2502C3D}"/>
              </a:ext>
            </a:extLst>
          </p:cNvPr>
          <p:cNvSpPr txBox="1"/>
          <p:nvPr/>
        </p:nvSpPr>
        <p:spPr>
          <a:xfrm>
            <a:off x="304800" y="5167495"/>
            <a:ext cx="9776460" cy="1096453"/>
          </a:xfrm>
          <a:prstGeom prst="rect">
            <a:avLst/>
          </a:prstGeom>
        </p:spPr>
        <p:txBody>
          <a:bodyPr vert="horz" wrap="square" lIns="0" tIns="29209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229"/>
              </a:spcBef>
            </a:pPr>
            <a:r>
              <a:rPr lang="ja-JP" altLang="en-US" sz="2200" dirty="0">
                <a:solidFill>
                  <a:schemeClr val="bg1"/>
                </a:solidFill>
                <a:latin typeface="MS Gothic"/>
                <a:cs typeface="MS Gothic"/>
              </a:rPr>
              <a:t>修正予定があり</a:t>
            </a:r>
            <a:endParaRPr lang="en-US" altLang="ja-JP" sz="2200" dirty="0">
              <a:solidFill>
                <a:schemeClr val="bg1"/>
              </a:solidFill>
              <a:latin typeface="MS Gothic"/>
              <a:cs typeface="MS Gothic"/>
            </a:endParaRPr>
          </a:p>
          <a:p>
            <a:pPr marL="12700">
              <a:lnSpc>
                <a:spcPct val="100000"/>
              </a:lnSpc>
              <a:spcBef>
                <a:spcPts val="229"/>
              </a:spcBef>
            </a:pPr>
            <a:r>
              <a:rPr lang="ja-JP" altLang="en-US" sz="2200" dirty="0">
                <a:solidFill>
                  <a:schemeClr val="bg1"/>
                </a:solidFill>
                <a:latin typeface="MS Gothic"/>
                <a:cs typeface="MS Gothic"/>
              </a:rPr>
              <a:t>コマンドリストをゲーム内で作成し、プラットフォーム階層に</a:t>
            </a:r>
            <a:endParaRPr lang="en-US" altLang="ja-JP" sz="2200" dirty="0">
              <a:solidFill>
                <a:schemeClr val="bg1"/>
              </a:solidFill>
              <a:latin typeface="MS Gothic"/>
              <a:cs typeface="MS Gothic"/>
            </a:endParaRPr>
          </a:p>
          <a:p>
            <a:pPr marL="12700">
              <a:lnSpc>
                <a:spcPct val="100000"/>
              </a:lnSpc>
              <a:spcBef>
                <a:spcPts val="229"/>
              </a:spcBef>
            </a:pPr>
            <a:r>
              <a:rPr lang="ja-JP" altLang="en-US" sz="2200" dirty="0">
                <a:solidFill>
                  <a:schemeClr val="bg1"/>
                </a:solidFill>
                <a:latin typeface="MS Gothic"/>
                <a:cs typeface="MS Gothic"/>
              </a:rPr>
              <a:t>上げて、描画マネージャー内で最適化して描画するように修正予定</a:t>
            </a:r>
            <a:endParaRPr sz="2200" dirty="0">
              <a:solidFill>
                <a:schemeClr val="bg1"/>
              </a:solidFill>
              <a:latin typeface="MS Gothic"/>
              <a:cs typeface="MS Gothic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78739" y="603884"/>
            <a:ext cx="7288530" cy="69659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pc="-25" dirty="0"/>
              <a:t>プラットフォーム非依存設計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196697" y="1665280"/>
            <a:ext cx="11824970" cy="3581400"/>
          </a:xfrm>
          <a:prstGeom prst="rect">
            <a:avLst/>
          </a:prstGeom>
        </p:spPr>
        <p:txBody>
          <a:bodyPr vert="horz" wrap="square" lIns="0" tIns="2203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735"/>
              </a:spcBef>
            </a:pPr>
            <a:r>
              <a:rPr sz="2400" spc="-5" dirty="0">
                <a:solidFill>
                  <a:srgbClr val="FFFFFF"/>
                </a:solidFill>
                <a:latin typeface="MS Gothic"/>
                <a:cs typeface="MS Gothic"/>
              </a:rPr>
              <a:t>描画マネージャーは基底クラスを抽象インターフェイスとして定義し、</a:t>
            </a:r>
            <a:endParaRPr sz="2400">
              <a:latin typeface="MS Gothic"/>
              <a:cs typeface="MS Gothic"/>
            </a:endParaRPr>
          </a:p>
          <a:p>
            <a:pPr marL="12700">
              <a:lnSpc>
                <a:spcPct val="100000"/>
              </a:lnSpc>
              <a:spcBef>
                <a:spcPts val="1635"/>
              </a:spcBef>
            </a:pPr>
            <a:r>
              <a:rPr sz="2400" b="1" spc="-20" dirty="0">
                <a:solidFill>
                  <a:srgbClr val="FFFFFF"/>
                </a:solidFill>
                <a:latin typeface="Arial"/>
                <a:cs typeface="Arial"/>
              </a:rPr>
              <a:t>GameMain</a:t>
            </a:r>
            <a:r>
              <a:rPr sz="2400" dirty="0">
                <a:solidFill>
                  <a:srgbClr val="FFFFFF"/>
                </a:solidFill>
                <a:latin typeface="MS Gothic"/>
                <a:cs typeface="MS Gothic"/>
              </a:rPr>
              <a:t>が</a:t>
            </a:r>
            <a:r>
              <a:rPr sz="2400" b="1" spc="-20" dirty="0">
                <a:solidFill>
                  <a:srgbClr val="FFFFFF"/>
                </a:solidFill>
                <a:latin typeface="Arial"/>
                <a:cs typeface="Arial"/>
              </a:rPr>
              <a:t>DirectX</a:t>
            </a:r>
            <a:r>
              <a:rPr sz="2400" spc="-5" dirty="0">
                <a:solidFill>
                  <a:srgbClr val="FFFFFF"/>
                </a:solidFill>
                <a:latin typeface="MS Gothic"/>
                <a:cs typeface="MS Gothic"/>
              </a:rPr>
              <a:t>などの具体的な実装を意識せずに動作できるようにしています。</a:t>
            </a:r>
            <a:endParaRPr sz="2400">
              <a:latin typeface="MS Gothic"/>
              <a:cs typeface="MS Gothic"/>
            </a:endParaRPr>
          </a:p>
          <a:p>
            <a:pPr>
              <a:lnSpc>
                <a:spcPct val="100000"/>
              </a:lnSpc>
              <a:spcBef>
                <a:spcPts val="2640"/>
              </a:spcBef>
            </a:pPr>
            <a:endParaRPr sz="2400">
              <a:latin typeface="MS Gothic"/>
              <a:cs typeface="MS Gothic"/>
            </a:endParaRPr>
          </a:p>
          <a:p>
            <a:pPr marL="12700" marR="5708015">
              <a:lnSpc>
                <a:spcPct val="114999"/>
              </a:lnSpc>
            </a:pPr>
            <a:r>
              <a:rPr sz="2400" spc="-5" dirty="0">
                <a:solidFill>
                  <a:srgbClr val="FFFFFF"/>
                </a:solidFill>
                <a:latin typeface="MS Gothic"/>
                <a:cs typeface="MS Gothic"/>
              </a:rPr>
              <a:t>プラットフォームごとに描画マネージャーを</a:t>
            </a:r>
            <a:r>
              <a:rPr sz="2400" dirty="0">
                <a:solidFill>
                  <a:srgbClr val="FFFFFF"/>
                </a:solidFill>
                <a:latin typeface="MS Gothic"/>
                <a:cs typeface="MS Gothic"/>
              </a:rPr>
              <a:t>変更する仕組みにし、新しい</a:t>
            </a:r>
            <a:r>
              <a:rPr sz="2400" spc="-10" dirty="0">
                <a:solidFill>
                  <a:srgbClr val="FFFFFF"/>
                </a:solidFill>
                <a:latin typeface="Arial MT"/>
                <a:cs typeface="Arial MT"/>
              </a:rPr>
              <a:t>API</a:t>
            </a:r>
            <a:r>
              <a:rPr sz="2400" spc="-50" dirty="0">
                <a:solidFill>
                  <a:srgbClr val="FFFFFF"/>
                </a:solidFill>
                <a:latin typeface="MS Gothic"/>
                <a:cs typeface="MS Gothic"/>
              </a:rPr>
              <a:t>を</a:t>
            </a:r>
            <a:endParaRPr sz="2400">
              <a:latin typeface="MS Gothic"/>
              <a:cs typeface="MS Gothic"/>
            </a:endParaRPr>
          </a:p>
          <a:p>
            <a:pPr marL="12700">
              <a:lnSpc>
                <a:spcPct val="100000"/>
              </a:lnSpc>
              <a:spcBef>
                <a:spcPts val="434"/>
              </a:spcBef>
            </a:pPr>
            <a:r>
              <a:rPr sz="2400" spc="-5" dirty="0">
                <a:solidFill>
                  <a:srgbClr val="FFFFFF"/>
                </a:solidFill>
                <a:latin typeface="MS Gothic"/>
                <a:cs typeface="MS Gothic"/>
              </a:rPr>
              <a:t>追加する際も、既存のゲーム基盤を</a:t>
            </a:r>
            <a:endParaRPr sz="2400">
              <a:latin typeface="MS Gothic"/>
              <a:cs typeface="MS Gothic"/>
            </a:endParaRPr>
          </a:p>
          <a:p>
            <a:pPr marL="12700">
              <a:lnSpc>
                <a:spcPct val="100000"/>
              </a:lnSpc>
              <a:spcBef>
                <a:spcPts val="430"/>
              </a:spcBef>
            </a:pPr>
            <a:r>
              <a:rPr sz="2400" spc="-5" dirty="0">
                <a:solidFill>
                  <a:srgbClr val="FFFFFF"/>
                </a:solidFill>
                <a:latin typeface="MS Gothic"/>
                <a:cs typeface="MS Gothic"/>
              </a:rPr>
              <a:t>改修せずに拡張できる設計になっています。</a:t>
            </a:r>
            <a:endParaRPr sz="2400">
              <a:latin typeface="MS Gothic"/>
              <a:cs typeface="MS Gothic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7475473" y="2996298"/>
            <a:ext cx="4423156" cy="371500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442671" y="482041"/>
            <a:ext cx="8404225" cy="69723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pc="-25" dirty="0"/>
              <a:t>リソース管理とマネージャー構成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595985" y="1708149"/>
            <a:ext cx="7132955" cy="3978910"/>
          </a:xfrm>
          <a:prstGeom prst="rect">
            <a:avLst/>
          </a:prstGeom>
        </p:spPr>
        <p:txBody>
          <a:bodyPr vert="horz" wrap="square" lIns="0" tIns="60960" rIns="0" bIns="0" rtlCol="0">
            <a:spAutoFit/>
          </a:bodyPr>
          <a:lstStyle/>
          <a:p>
            <a:pPr marL="12700" marR="5080">
              <a:lnSpc>
                <a:spcPts val="3020"/>
              </a:lnSpc>
              <a:spcBef>
                <a:spcPts val="480"/>
              </a:spcBef>
            </a:pPr>
            <a:r>
              <a:rPr sz="2800" spc="-40" dirty="0">
                <a:solidFill>
                  <a:srgbClr val="FFFFFF"/>
                </a:solidFill>
                <a:latin typeface="MS Gothic"/>
                <a:cs typeface="MS Gothic"/>
              </a:rPr>
              <a:t>同じリソースを重複して作成しないように</a:t>
            </a:r>
            <a:r>
              <a:rPr sz="2800" spc="-50" dirty="0">
                <a:solidFill>
                  <a:srgbClr val="FFFFFF"/>
                </a:solidFill>
                <a:latin typeface="MS Gothic"/>
                <a:cs typeface="MS Gothic"/>
              </a:rPr>
              <a:t> </a:t>
            </a:r>
            <a:r>
              <a:rPr sz="2800" spc="-40" dirty="0">
                <a:solidFill>
                  <a:srgbClr val="FFFFFF"/>
                </a:solidFill>
                <a:latin typeface="MS Gothic"/>
                <a:cs typeface="MS Gothic"/>
              </a:rPr>
              <a:t>名前をキーにして保持する設計しています。</a:t>
            </a:r>
            <a:endParaRPr sz="2800">
              <a:latin typeface="MS Gothic"/>
              <a:cs typeface="MS Gothic"/>
            </a:endParaRPr>
          </a:p>
          <a:p>
            <a:pPr>
              <a:lnSpc>
                <a:spcPct val="100000"/>
              </a:lnSpc>
              <a:spcBef>
                <a:spcPts val="1450"/>
              </a:spcBef>
            </a:pPr>
            <a:endParaRPr sz="2800">
              <a:latin typeface="MS Gothic"/>
              <a:cs typeface="MS Gothic"/>
            </a:endParaRPr>
          </a:p>
          <a:p>
            <a:pPr marL="12700" marR="2136140">
              <a:lnSpc>
                <a:spcPts val="3020"/>
              </a:lnSpc>
            </a:pPr>
            <a:r>
              <a:rPr sz="2800" spc="-40" dirty="0">
                <a:solidFill>
                  <a:srgbClr val="FFFFFF"/>
                </a:solidFill>
                <a:latin typeface="MS Gothic"/>
                <a:cs typeface="MS Gothic"/>
              </a:rPr>
              <a:t>リソースごとにマネージャーを作成して管理させています。</a:t>
            </a:r>
            <a:endParaRPr sz="2800">
              <a:latin typeface="MS Gothic"/>
              <a:cs typeface="MS Gothic"/>
            </a:endParaRPr>
          </a:p>
          <a:p>
            <a:pPr>
              <a:lnSpc>
                <a:spcPct val="100000"/>
              </a:lnSpc>
              <a:spcBef>
                <a:spcPts val="635"/>
              </a:spcBef>
            </a:pPr>
            <a:endParaRPr sz="2800">
              <a:latin typeface="MS Gothic"/>
              <a:cs typeface="MS Gothic"/>
            </a:endParaRPr>
          </a:p>
          <a:p>
            <a:pPr marL="12700">
              <a:lnSpc>
                <a:spcPts val="3190"/>
              </a:lnSpc>
            </a:pPr>
            <a:r>
              <a:rPr sz="2800" spc="-40" dirty="0">
                <a:solidFill>
                  <a:srgbClr val="FFFFFF"/>
                </a:solidFill>
                <a:latin typeface="MS Gothic"/>
                <a:cs typeface="MS Gothic"/>
              </a:rPr>
              <a:t>一度作成したリソースを</a:t>
            </a:r>
            <a:endParaRPr sz="2800">
              <a:latin typeface="MS Gothic"/>
              <a:cs typeface="MS Gothic"/>
            </a:endParaRPr>
          </a:p>
          <a:p>
            <a:pPr marL="12700" marR="1781175">
              <a:lnSpc>
                <a:spcPts val="3020"/>
              </a:lnSpc>
              <a:spcBef>
                <a:spcPts val="215"/>
              </a:spcBef>
            </a:pPr>
            <a:r>
              <a:rPr sz="2800" spc="-40" dirty="0">
                <a:solidFill>
                  <a:srgbClr val="FFFFFF"/>
                </a:solidFill>
                <a:latin typeface="MS Gothic"/>
                <a:cs typeface="MS Gothic"/>
              </a:rPr>
              <a:t>再利用させて、不必要なメモリを取らないようにしています。</a:t>
            </a:r>
            <a:endParaRPr sz="2800">
              <a:latin typeface="MS Gothic"/>
              <a:cs typeface="MS Gothic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6504940" y="2611498"/>
            <a:ext cx="5503672" cy="4246499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442671" y="482041"/>
            <a:ext cx="3936365" cy="69723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pc="-25" dirty="0"/>
              <a:t>描画処理の流れ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897432" y="1355597"/>
            <a:ext cx="151701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400" spc="-10" dirty="0">
                <a:solidFill>
                  <a:srgbClr val="FFFFFF"/>
                </a:solidFill>
                <a:latin typeface="Arial MT"/>
                <a:cs typeface="Arial MT"/>
              </a:rPr>
              <a:t>GameMain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1150416" y="1719833"/>
            <a:ext cx="327660" cy="793750"/>
          </a:xfrm>
          <a:prstGeom prst="rect">
            <a:avLst/>
          </a:prstGeom>
        </p:spPr>
        <p:txBody>
          <a:bodyPr vert="horz" wrap="square" lIns="0" tIns="31114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244"/>
              </a:spcBef>
            </a:pPr>
            <a:r>
              <a:rPr sz="2400" spc="-965" dirty="0">
                <a:solidFill>
                  <a:srgbClr val="FFFFFF"/>
                </a:solidFill>
                <a:latin typeface="Arial MT"/>
                <a:cs typeface="Arial MT"/>
              </a:rPr>
              <a:t>│</a:t>
            </a:r>
            <a:endParaRPr sz="2400">
              <a:latin typeface="Arial MT"/>
              <a:cs typeface="Arial MT"/>
            </a:endParaRPr>
          </a:p>
          <a:p>
            <a:pPr marL="12700">
              <a:lnSpc>
                <a:spcPct val="100000"/>
              </a:lnSpc>
              <a:spcBef>
                <a:spcPts val="140"/>
              </a:spcBef>
            </a:pPr>
            <a:r>
              <a:rPr sz="2400" spc="-50" dirty="0">
                <a:solidFill>
                  <a:srgbClr val="FFFFFF"/>
                </a:solidFill>
                <a:latin typeface="Arial MT"/>
                <a:cs typeface="Arial MT"/>
              </a:rPr>
              <a:t>▼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897432" y="2504389"/>
            <a:ext cx="4629785" cy="192405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400" spc="-25" dirty="0">
                <a:solidFill>
                  <a:srgbClr val="FFFFFF"/>
                </a:solidFill>
                <a:latin typeface="Arial MT"/>
                <a:cs typeface="Arial MT"/>
              </a:rPr>
              <a:t>BaseDrawManager</a:t>
            </a:r>
            <a:r>
              <a:rPr sz="2400" spc="-25" dirty="0">
                <a:solidFill>
                  <a:srgbClr val="FFFFFF"/>
                </a:solidFill>
                <a:latin typeface="MS Gothic"/>
                <a:cs typeface="MS Gothic"/>
              </a:rPr>
              <a:t>（</a:t>
            </a:r>
            <a:r>
              <a:rPr sz="2400" spc="-10" dirty="0">
                <a:solidFill>
                  <a:srgbClr val="FFFFFF"/>
                </a:solidFill>
                <a:latin typeface="MS Gothic"/>
                <a:cs typeface="MS Gothic"/>
              </a:rPr>
              <a:t>抽象層</a:t>
            </a:r>
            <a:r>
              <a:rPr sz="2400" spc="-50" dirty="0">
                <a:solidFill>
                  <a:srgbClr val="FFFFFF"/>
                </a:solidFill>
                <a:latin typeface="MS Gothic"/>
                <a:cs typeface="MS Gothic"/>
              </a:rPr>
              <a:t>）</a:t>
            </a:r>
            <a:endParaRPr sz="2400">
              <a:latin typeface="MS Gothic"/>
              <a:cs typeface="MS Gothic"/>
            </a:endParaRPr>
          </a:p>
          <a:p>
            <a:pPr marL="265430">
              <a:lnSpc>
                <a:spcPct val="100000"/>
              </a:lnSpc>
              <a:spcBef>
                <a:spcPts val="135"/>
              </a:spcBef>
            </a:pPr>
            <a:r>
              <a:rPr sz="2400" spc="-965" dirty="0">
                <a:solidFill>
                  <a:srgbClr val="FFFFFF"/>
                </a:solidFill>
                <a:latin typeface="Arial MT"/>
                <a:cs typeface="Arial MT"/>
              </a:rPr>
              <a:t>│</a:t>
            </a:r>
            <a:endParaRPr sz="2400">
              <a:latin typeface="Arial MT"/>
              <a:cs typeface="Arial MT"/>
            </a:endParaRPr>
          </a:p>
          <a:p>
            <a:pPr marL="265430">
              <a:lnSpc>
                <a:spcPct val="100000"/>
              </a:lnSpc>
              <a:spcBef>
                <a:spcPts val="145"/>
              </a:spcBef>
            </a:pPr>
            <a:r>
              <a:rPr sz="2400" spc="-50" dirty="0">
                <a:solidFill>
                  <a:srgbClr val="FFFFFF"/>
                </a:solidFill>
                <a:latin typeface="Arial MT"/>
                <a:cs typeface="Arial MT"/>
              </a:rPr>
              <a:t>▼</a:t>
            </a:r>
            <a:endParaRPr sz="2400">
              <a:latin typeface="Arial MT"/>
              <a:cs typeface="Arial MT"/>
            </a:endParaRPr>
          </a:p>
          <a:p>
            <a:pPr marL="12700">
              <a:lnSpc>
                <a:spcPct val="100000"/>
              </a:lnSpc>
              <a:spcBef>
                <a:spcPts val="130"/>
              </a:spcBef>
            </a:pPr>
            <a:r>
              <a:rPr sz="2400" spc="-20" dirty="0">
                <a:solidFill>
                  <a:srgbClr val="FFFFFF"/>
                </a:solidFill>
                <a:latin typeface="Arial MT"/>
                <a:cs typeface="Arial MT"/>
              </a:rPr>
              <a:t>DirectX_DrawManager</a:t>
            </a:r>
            <a:r>
              <a:rPr sz="2400" spc="-20" dirty="0">
                <a:solidFill>
                  <a:srgbClr val="FFFFFF"/>
                </a:solidFill>
                <a:latin typeface="MS Gothic"/>
                <a:cs typeface="MS Gothic"/>
              </a:rPr>
              <a:t>（</a:t>
            </a:r>
            <a:r>
              <a:rPr sz="2400" spc="-10" dirty="0">
                <a:solidFill>
                  <a:srgbClr val="FFFFFF"/>
                </a:solidFill>
                <a:latin typeface="MS Gothic"/>
                <a:cs typeface="MS Gothic"/>
              </a:rPr>
              <a:t>実装層</a:t>
            </a:r>
            <a:r>
              <a:rPr sz="2400" spc="-50" dirty="0">
                <a:solidFill>
                  <a:srgbClr val="FFFFFF"/>
                </a:solidFill>
                <a:latin typeface="MS Gothic"/>
                <a:cs typeface="MS Gothic"/>
              </a:rPr>
              <a:t>）</a:t>
            </a:r>
            <a:endParaRPr sz="2400">
              <a:latin typeface="MS Gothic"/>
              <a:cs typeface="MS Gothic"/>
            </a:endParaRPr>
          </a:p>
          <a:p>
            <a:pPr marL="265430">
              <a:lnSpc>
                <a:spcPct val="100000"/>
              </a:lnSpc>
              <a:spcBef>
                <a:spcPts val="135"/>
              </a:spcBef>
            </a:pPr>
            <a:r>
              <a:rPr sz="2400" spc="-965" dirty="0">
                <a:solidFill>
                  <a:srgbClr val="FFFFFF"/>
                </a:solidFill>
                <a:latin typeface="Arial MT"/>
                <a:cs typeface="Arial MT"/>
              </a:rPr>
              <a:t>│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1150416" y="4420870"/>
            <a:ext cx="7108190" cy="1923414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400" spc="-515" dirty="0">
                <a:solidFill>
                  <a:srgbClr val="FFFFFF"/>
                </a:solidFill>
                <a:latin typeface="Arial MT"/>
                <a:cs typeface="Arial MT"/>
              </a:rPr>
              <a:t>├── </a:t>
            </a:r>
            <a:r>
              <a:rPr sz="2400" spc="-25" dirty="0">
                <a:solidFill>
                  <a:srgbClr val="FFFFFF"/>
                </a:solidFill>
                <a:latin typeface="Arial MT"/>
                <a:cs typeface="Arial MT"/>
              </a:rPr>
              <a:t>ShaderManager(</a:t>
            </a:r>
            <a:r>
              <a:rPr sz="2400" dirty="0">
                <a:solidFill>
                  <a:srgbClr val="FFFFFF"/>
                </a:solidFill>
                <a:latin typeface="MS Gothic"/>
                <a:cs typeface="MS Gothic"/>
              </a:rPr>
              <a:t>リフレクション情報を取得</a:t>
            </a:r>
            <a:r>
              <a:rPr sz="2400" spc="-50" dirty="0">
                <a:solidFill>
                  <a:srgbClr val="FFFFFF"/>
                </a:solidFill>
                <a:latin typeface="Arial MT"/>
                <a:cs typeface="Arial MT"/>
              </a:rPr>
              <a:t>)</a:t>
            </a:r>
            <a:endParaRPr sz="2400">
              <a:latin typeface="Arial MT"/>
              <a:cs typeface="Arial MT"/>
            </a:endParaRPr>
          </a:p>
          <a:p>
            <a:pPr marL="12700">
              <a:lnSpc>
                <a:spcPct val="100000"/>
              </a:lnSpc>
              <a:spcBef>
                <a:spcPts val="130"/>
              </a:spcBef>
            </a:pPr>
            <a:r>
              <a:rPr sz="2400" spc="-480" dirty="0">
                <a:solidFill>
                  <a:srgbClr val="FFFFFF"/>
                </a:solidFill>
                <a:latin typeface="Arial MT"/>
                <a:cs typeface="Arial MT"/>
              </a:rPr>
              <a:t>├── </a:t>
            </a:r>
            <a:r>
              <a:rPr sz="2400" spc="-20" dirty="0">
                <a:solidFill>
                  <a:srgbClr val="FFFFFF"/>
                </a:solidFill>
                <a:latin typeface="Arial MT"/>
                <a:cs typeface="Arial MT"/>
              </a:rPr>
              <a:t>ConstantBufferManager(Shader</a:t>
            </a:r>
            <a:r>
              <a:rPr sz="2400" dirty="0">
                <a:solidFill>
                  <a:srgbClr val="FFFFFF"/>
                </a:solidFill>
                <a:latin typeface="MS Gothic"/>
                <a:cs typeface="MS Gothic"/>
              </a:rPr>
              <a:t>から名前検索</a:t>
            </a:r>
            <a:r>
              <a:rPr sz="2400" spc="-50" dirty="0">
                <a:solidFill>
                  <a:srgbClr val="FFFFFF"/>
                </a:solidFill>
                <a:latin typeface="Arial MT"/>
                <a:cs typeface="Arial MT"/>
              </a:rPr>
              <a:t>)</a:t>
            </a:r>
            <a:endParaRPr sz="2400">
              <a:latin typeface="Arial MT"/>
              <a:cs typeface="Arial MT"/>
            </a:endParaRPr>
          </a:p>
          <a:p>
            <a:pPr marL="12700">
              <a:lnSpc>
                <a:spcPct val="100000"/>
              </a:lnSpc>
              <a:spcBef>
                <a:spcPts val="130"/>
              </a:spcBef>
            </a:pPr>
            <a:r>
              <a:rPr sz="2400" spc="-490" dirty="0">
                <a:solidFill>
                  <a:srgbClr val="FFFFFF"/>
                </a:solidFill>
                <a:latin typeface="Arial MT"/>
                <a:cs typeface="Arial MT"/>
              </a:rPr>
              <a:t>├── </a:t>
            </a:r>
            <a:r>
              <a:rPr sz="2400" spc="-20" dirty="0">
                <a:solidFill>
                  <a:srgbClr val="FFFFFF"/>
                </a:solidFill>
                <a:latin typeface="Arial MT"/>
                <a:cs typeface="Arial MT"/>
              </a:rPr>
              <a:t>VertexBufferManager</a:t>
            </a:r>
            <a:r>
              <a:rPr sz="2400" spc="-20" dirty="0">
                <a:solidFill>
                  <a:srgbClr val="FFFFFF"/>
                </a:solidFill>
                <a:latin typeface="MS Gothic"/>
                <a:cs typeface="MS Gothic"/>
              </a:rPr>
              <a:t>（</a:t>
            </a:r>
            <a:r>
              <a:rPr sz="2400" spc="-10" dirty="0">
                <a:solidFill>
                  <a:srgbClr val="FFFFFF"/>
                </a:solidFill>
                <a:latin typeface="MS Gothic"/>
                <a:cs typeface="MS Gothic"/>
              </a:rPr>
              <a:t>頂点シェーダ名で検索</a:t>
            </a:r>
            <a:r>
              <a:rPr sz="2400" spc="-50" dirty="0">
                <a:solidFill>
                  <a:srgbClr val="FFFFFF"/>
                </a:solidFill>
                <a:latin typeface="Arial MT"/>
                <a:cs typeface="Arial MT"/>
              </a:rPr>
              <a:t>)</a:t>
            </a:r>
            <a:endParaRPr sz="2400">
              <a:latin typeface="Arial MT"/>
              <a:cs typeface="Arial MT"/>
            </a:endParaRPr>
          </a:p>
          <a:p>
            <a:pPr marL="12700">
              <a:lnSpc>
                <a:spcPct val="100000"/>
              </a:lnSpc>
              <a:spcBef>
                <a:spcPts val="150"/>
              </a:spcBef>
            </a:pPr>
            <a:r>
              <a:rPr sz="2400" spc="-535" dirty="0">
                <a:solidFill>
                  <a:srgbClr val="FFFFFF"/>
                </a:solidFill>
                <a:latin typeface="Arial MT"/>
                <a:cs typeface="Arial MT"/>
              </a:rPr>
              <a:t>└── </a:t>
            </a:r>
            <a:r>
              <a:rPr sz="2400" spc="-20" dirty="0">
                <a:solidFill>
                  <a:srgbClr val="FFFFFF"/>
                </a:solidFill>
                <a:latin typeface="Arial MT"/>
                <a:cs typeface="Arial MT"/>
              </a:rPr>
              <a:t>ViewManager</a:t>
            </a:r>
            <a:r>
              <a:rPr sz="2400" spc="-20" dirty="0">
                <a:solidFill>
                  <a:srgbClr val="FFFFFF"/>
                </a:solidFill>
                <a:latin typeface="MS Gothic"/>
                <a:cs typeface="MS Gothic"/>
              </a:rPr>
              <a:t>（</a:t>
            </a:r>
            <a:r>
              <a:rPr sz="2400" dirty="0">
                <a:solidFill>
                  <a:srgbClr val="FFFFFF"/>
                </a:solidFill>
                <a:latin typeface="MS Gothic"/>
                <a:cs typeface="MS Gothic"/>
              </a:rPr>
              <a:t>テクスチャ名から取得</a:t>
            </a:r>
            <a:r>
              <a:rPr sz="2400" spc="-50" dirty="0">
                <a:solidFill>
                  <a:srgbClr val="FFFFFF"/>
                </a:solidFill>
                <a:latin typeface="MS Gothic"/>
                <a:cs typeface="MS Gothic"/>
              </a:rPr>
              <a:t>）</a:t>
            </a:r>
            <a:endParaRPr sz="2400">
              <a:latin typeface="MS Gothic"/>
              <a:cs typeface="MS Gothic"/>
            </a:endParaRPr>
          </a:p>
          <a:p>
            <a:pPr marL="12700">
              <a:lnSpc>
                <a:spcPct val="100000"/>
              </a:lnSpc>
              <a:spcBef>
                <a:spcPts val="130"/>
              </a:spcBef>
            </a:pPr>
            <a:r>
              <a:rPr sz="2400" spc="-720" dirty="0">
                <a:solidFill>
                  <a:srgbClr val="FFFFFF"/>
                </a:solidFill>
                <a:latin typeface="Arial MT"/>
                <a:cs typeface="Arial MT"/>
              </a:rPr>
              <a:t>└──</a:t>
            </a:r>
            <a:r>
              <a:rPr sz="2400" spc="-20" dirty="0">
                <a:solidFill>
                  <a:srgbClr val="FFFFFF"/>
                </a:solidFill>
                <a:latin typeface="Arial MT"/>
                <a:cs typeface="Arial MT"/>
              </a:rPr>
              <a:t> </a:t>
            </a:r>
            <a:r>
              <a:rPr sz="2400" spc="-10" dirty="0">
                <a:solidFill>
                  <a:srgbClr val="FFFFFF"/>
                </a:solidFill>
                <a:latin typeface="Arial MT"/>
                <a:cs typeface="Arial MT"/>
              </a:rPr>
              <a:t>TextureManager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4615560" y="886764"/>
            <a:ext cx="7576820" cy="647065"/>
          </a:xfrm>
          <a:prstGeom prst="rect">
            <a:avLst/>
          </a:prstGeom>
          <a:ln w="9525">
            <a:solidFill>
              <a:srgbClr val="FFFFFF"/>
            </a:solidFill>
          </a:ln>
        </p:spPr>
        <p:txBody>
          <a:bodyPr vert="horz" wrap="square" lIns="0" tIns="41275" rIns="0" bIns="0" rtlCol="0">
            <a:spAutoFit/>
          </a:bodyPr>
          <a:lstStyle/>
          <a:p>
            <a:pPr marL="92075">
              <a:lnSpc>
                <a:spcPct val="100000"/>
              </a:lnSpc>
              <a:spcBef>
                <a:spcPts val="325"/>
              </a:spcBef>
            </a:pPr>
            <a:r>
              <a:rPr sz="1800" dirty="0">
                <a:solidFill>
                  <a:srgbClr val="FFFFFF"/>
                </a:solidFill>
                <a:latin typeface="Arial MT"/>
                <a:cs typeface="Arial MT"/>
              </a:rPr>
              <a:t>GameMain</a:t>
            </a:r>
            <a:r>
              <a:rPr sz="1800" spc="-35" dirty="0">
                <a:solidFill>
                  <a:srgbClr val="FFFFFF"/>
                </a:solidFill>
                <a:latin typeface="Arial MT"/>
                <a:cs typeface="Arial MT"/>
              </a:rPr>
              <a:t> </a:t>
            </a:r>
            <a:r>
              <a:rPr sz="1800" spc="-135" dirty="0">
                <a:solidFill>
                  <a:srgbClr val="FFFFFF"/>
                </a:solidFill>
                <a:latin typeface="MS Gothic"/>
                <a:cs typeface="MS Gothic"/>
              </a:rPr>
              <a:t>から </a:t>
            </a:r>
            <a:r>
              <a:rPr sz="1800" dirty="0">
                <a:solidFill>
                  <a:srgbClr val="FFFFFF"/>
                </a:solidFill>
                <a:latin typeface="Arial MT"/>
                <a:cs typeface="Arial MT"/>
              </a:rPr>
              <a:t>API</a:t>
            </a:r>
            <a:r>
              <a:rPr sz="1800" spc="-20" dirty="0">
                <a:solidFill>
                  <a:srgbClr val="FFFFFF"/>
                </a:solidFill>
                <a:latin typeface="Arial MT"/>
                <a:cs typeface="Arial MT"/>
              </a:rPr>
              <a:t> </a:t>
            </a:r>
            <a:r>
              <a:rPr sz="1800" spc="-5" dirty="0">
                <a:solidFill>
                  <a:srgbClr val="FFFFFF"/>
                </a:solidFill>
                <a:latin typeface="MS Gothic"/>
                <a:cs typeface="MS Gothic"/>
              </a:rPr>
              <a:t>非依存の描画命令を送信</a:t>
            </a:r>
            <a:endParaRPr sz="1800">
              <a:latin typeface="MS Gothic"/>
              <a:cs typeface="MS Gothic"/>
            </a:endParaRPr>
          </a:p>
          <a:p>
            <a:pPr marL="92075">
              <a:lnSpc>
                <a:spcPct val="100000"/>
              </a:lnSpc>
            </a:pPr>
            <a:r>
              <a:rPr sz="1800" spc="-10" dirty="0">
                <a:solidFill>
                  <a:srgbClr val="FFFFFF"/>
                </a:solidFill>
                <a:latin typeface="MS Gothic"/>
                <a:cs typeface="MS Gothic"/>
              </a:rPr>
              <a:t>❦の流れを共通化し、</a:t>
            </a:r>
            <a:r>
              <a:rPr sz="1800" spc="-10" dirty="0">
                <a:solidFill>
                  <a:srgbClr val="FFFFFF"/>
                </a:solidFill>
                <a:latin typeface="Arial MT"/>
                <a:cs typeface="Arial MT"/>
              </a:rPr>
              <a:t>API</a:t>
            </a:r>
            <a:r>
              <a:rPr sz="1800" spc="-15" dirty="0">
                <a:solidFill>
                  <a:srgbClr val="FFFFFF"/>
                </a:solidFill>
                <a:latin typeface="MS Gothic"/>
                <a:cs typeface="MS Gothic"/>
              </a:rPr>
              <a:t>差し替えを容易にできるように設計しました</a:t>
            </a:r>
            <a:endParaRPr sz="1800">
              <a:latin typeface="MS Gothic"/>
              <a:cs typeface="MS Gothic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6255511" y="2967240"/>
            <a:ext cx="5614670" cy="923925"/>
          </a:xfrm>
          <a:prstGeom prst="rect">
            <a:avLst/>
          </a:prstGeom>
          <a:ln w="9525">
            <a:solidFill>
              <a:srgbClr val="FFFFFF"/>
            </a:solidFill>
          </a:ln>
        </p:spPr>
        <p:txBody>
          <a:bodyPr vert="horz" wrap="square" lIns="0" tIns="41910" rIns="0" bIns="0" rtlCol="0">
            <a:spAutoFit/>
          </a:bodyPr>
          <a:lstStyle/>
          <a:p>
            <a:pPr marL="92075" marR="256540">
              <a:lnSpc>
                <a:spcPct val="100000"/>
              </a:lnSpc>
              <a:spcBef>
                <a:spcPts val="330"/>
              </a:spcBef>
            </a:pPr>
            <a:r>
              <a:rPr sz="1800" spc="-5" dirty="0">
                <a:solidFill>
                  <a:srgbClr val="FFFFFF"/>
                </a:solidFill>
                <a:latin typeface="MS Gothic"/>
                <a:cs typeface="MS Gothic"/>
              </a:rPr>
              <a:t>現在は、描画に必要な名前を引数で渡しているが、</a:t>
            </a:r>
            <a:r>
              <a:rPr sz="1800" dirty="0">
                <a:solidFill>
                  <a:srgbClr val="FFFFFF"/>
                </a:solidFill>
                <a:latin typeface="MS Gothic"/>
                <a:cs typeface="MS Gothic"/>
              </a:rPr>
              <a:t>将来的には、描画</a:t>
            </a:r>
            <a:r>
              <a:rPr sz="1800" spc="-10" dirty="0">
                <a:solidFill>
                  <a:srgbClr val="FFFFFF"/>
                </a:solidFill>
                <a:latin typeface="Arial MT"/>
                <a:cs typeface="Arial MT"/>
              </a:rPr>
              <a:t>ID</a:t>
            </a:r>
            <a:r>
              <a:rPr sz="1800" spc="-5" dirty="0">
                <a:solidFill>
                  <a:srgbClr val="FFFFFF"/>
                </a:solidFill>
                <a:latin typeface="MS Gothic"/>
                <a:cs typeface="MS Gothic"/>
              </a:rPr>
              <a:t>で描画してオブジェクトが</a:t>
            </a:r>
            <a:endParaRPr sz="1800">
              <a:latin typeface="MS Gothic"/>
              <a:cs typeface="MS Gothic"/>
            </a:endParaRPr>
          </a:p>
          <a:p>
            <a:pPr marL="92075">
              <a:lnSpc>
                <a:spcPct val="100000"/>
              </a:lnSpc>
            </a:pPr>
            <a:r>
              <a:rPr sz="1800" spc="-5" dirty="0">
                <a:solidFill>
                  <a:srgbClr val="FFFFFF"/>
                </a:solidFill>
                <a:latin typeface="MS Gothic"/>
                <a:cs typeface="MS Gothic"/>
              </a:rPr>
              <a:t>知らないようにしたいと思っています。</a:t>
            </a:r>
            <a:endParaRPr sz="1800">
              <a:latin typeface="MS Gothic"/>
              <a:cs typeface="MS Gothic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1553083" y="1806917"/>
            <a:ext cx="3062605" cy="650875"/>
          </a:xfrm>
          <a:prstGeom prst="rect">
            <a:avLst/>
          </a:prstGeom>
          <a:ln w="9525">
            <a:solidFill>
              <a:srgbClr val="FFFFFF"/>
            </a:solidFill>
          </a:ln>
        </p:spPr>
        <p:txBody>
          <a:bodyPr vert="horz" wrap="square" lIns="0" tIns="118745" rIns="0" bIns="0" rtlCol="0">
            <a:spAutoFit/>
          </a:bodyPr>
          <a:lstStyle/>
          <a:p>
            <a:pPr marL="91440" marR="219710">
              <a:lnSpc>
                <a:spcPts val="2060"/>
              </a:lnSpc>
              <a:spcBef>
                <a:spcPts val="935"/>
              </a:spcBef>
            </a:pPr>
            <a:r>
              <a:rPr sz="1800" spc="-5" dirty="0">
                <a:solidFill>
                  <a:srgbClr val="FFFFFF"/>
                </a:solidFill>
                <a:latin typeface="MS Gothic"/>
                <a:cs typeface="MS Gothic"/>
              </a:rPr>
              <a:t>シェーダー名、テクスチャ</a:t>
            </a:r>
            <a:r>
              <a:rPr sz="1800" spc="-10" dirty="0">
                <a:solidFill>
                  <a:srgbClr val="FFFFFF"/>
                </a:solidFill>
                <a:latin typeface="MS Gothic"/>
                <a:cs typeface="MS Gothic"/>
              </a:rPr>
              <a:t>名、モデル名を渡す</a:t>
            </a:r>
            <a:endParaRPr sz="1800">
              <a:latin typeface="MS Gothic"/>
              <a:cs typeface="MS Gothic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pc="-25" dirty="0"/>
              <a:t>シェーダーのリフレクション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595985" y="1509724"/>
            <a:ext cx="11420475" cy="262763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2800" spc="-40" dirty="0">
                <a:solidFill>
                  <a:srgbClr val="FFFFFF"/>
                </a:solidFill>
                <a:latin typeface="MS Gothic"/>
                <a:cs typeface="MS Gothic"/>
              </a:rPr>
              <a:t>シェーダーリフレクションによる自動バインド設計</a:t>
            </a:r>
            <a:endParaRPr sz="2800" dirty="0">
              <a:latin typeface="MS Gothic"/>
              <a:cs typeface="MS Gothic"/>
            </a:endParaRPr>
          </a:p>
          <a:p>
            <a:pPr>
              <a:lnSpc>
                <a:spcPct val="100000"/>
              </a:lnSpc>
              <a:spcBef>
                <a:spcPts val="1110"/>
              </a:spcBef>
            </a:pPr>
            <a:endParaRPr sz="2800" dirty="0">
              <a:latin typeface="MS Gothic"/>
              <a:cs typeface="MS Gothic"/>
            </a:endParaRPr>
          </a:p>
          <a:p>
            <a:pPr marL="12700">
              <a:lnSpc>
                <a:spcPts val="3190"/>
              </a:lnSpc>
            </a:pPr>
            <a:r>
              <a:rPr sz="2800" spc="-40" dirty="0">
                <a:solidFill>
                  <a:srgbClr val="FFFFFF"/>
                </a:solidFill>
                <a:latin typeface="MS Gothic"/>
                <a:cs typeface="MS Gothic"/>
              </a:rPr>
              <a:t>シェーダーファイルをリフレクション解析して、</a:t>
            </a:r>
            <a:endParaRPr sz="2800" dirty="0">
              <a:latin typeface="MS Gothic"/>
              <a:cs typeface="MS Gothic"/>
            </a:endParaRPr>
          </a:p>
          <a:p>
            <a:pPr marL="12700" marR="1091565">
              <a:lnSpc>
                <a:spcPts val="3030"/>
              </a:lnSpc>
              <a:spcBef>
                <a:spcPts val="204"/>
              </a:spcBef>
            </a:pPr>
            <a:r>
              <a:rPr sz="2800" spc="-40" dirty="0" err="1">
                <a:solidFill>
                  <a:srgbClr val="FFFFFF"/>
                </a:solidFill>
                <a:latin typeface="MS Gothic"/>
                <a:cs typeface="MS Gothic"/>
              </a:rPr>
              <a:t>各シェーダーが使用する定数バッファ名・スロット番号を自動で取得しています</a:t>
            </a:r>
            <a:r>
              <a:rPr sz="2800" spc="-40" dirty="0">
                <a:solidFill>
                  <a:srgbClr val="FFFFFF"/>
                </a:solidFill>
                <a:latin typeface="MS Gothic"/>
                <a:cs typeface="MS Gothic"/>
              </a:rPr>
              <a:t>。</a:t>
            </a:r>
            <a:r>
              <a:rPr lang="ja-JP" altLang="en-US" sz="2800" spc="-40" dirty="0">
                <a:solidFill>
                  <a:srgbClr val="FFFFFF"/>
                </a:solidFill>
                <a:latin typeface="MS Gothic"/>
                <a:cs typeface="MS Gothic"/>
              </a:rPr>
              <a:t>こ</a:t>
            </a:r>
            <a:r>
              <a:rPr sz="2800" spc="-40" dirty="0" err="1">
                <a:solidFill>
                  <a:srgbClr val="FFFFFF"/>
                </a:solidFill>
                <a:latin typeface="MS Gothic"/>
                <a:cs typeface="MS Gothic"/>
              </a:rPr>
              <a:t>れにより、描画時に手動でスロットを</a:t>
            </a:r>
            <a:endParaRPr sz="2800" dirty="0">
              <a:latin typeface="MS Gothic"/>
              <a:cs typeface="MS Gothic"/>
            </a:endParaRPr>
          </a:p>
          <a:p>
            <a:pPr marL="12700">
              <a:lnSpc>
                <a:spcPts val="2975"/>
              </a:lnSpc>
            </a:pPr>
            <a:r>
              <a:rPr sz="2800" spc="-40" dirty="0">
                <a:solidFill>
                  <a:srgbClr val="FFFFFF"/>
                </a:solidFill>
                <a:latin typeface="MS Gothic"/>
                <a:cs typeface="MS Gothic"/>
              </a:rPr>
              <a:t>設定する手間を省き、定数バッファの自動バインドを実現しています。</a:t>
            </a:r>
            <a:endParaRPr sz="2800" dirty="0">
              <a:latin typeface="MS Gothic"/>
              <a:cs typeface="MS Gothic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4133850" y="4286248"/>
            <a:ext cx="8058150" cy="2571749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1E9078-C6B6-73FD-F90E-D2386614B1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3B491F53-2077-DD43-6445-047B82C38A1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7200" y="381000"/>
            <a:ext cx="7287259" cy="69723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lang="ja-JP" altLang="en-US" spc="-25" dirty="0"/>
              <a:t>当たり判定 </a:t>
            </a:r>
            <a:r>
              <a:rPr lang="en-US" altLang="ja-JP" spc="-25" dirty="0" err="1"/>
              <a:t>AABBTree</a:t>
            </a:r>
            <a:endParaRPr spc="-25" dirty="0"/>
          </a:p>
        </p:txBody>
      </p:sp>
      <p:sp>
        <p:nvSpPr>
          <p:cNvPr id="3" name="object 3">
            <a:extLst>
              <a:ext uri="{FF2B5EF4-FFF2-40B4-BE49-F238E27FC236}">
                <a16:creationId xmlns:a16="http://schemas.microsoft.com/office/drawing/2014/main" id="{ECEC2C75-85EC-B2A5-3DBC-9BB607FB4E78}"/>
              </a:ext>
            </a:extLst>
          </p:cNvPr>
          <p:cNvSpPr txBox="1"/>
          <p:nvPr/>
        </p:nvSpPr>
        <p:spPr>
          <a:xfrm>
            <a:off x="595985" y="1509724"/>
            <a:ext cx="11420475" cy="4854534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ja-JP" altLang="en-US" sz="2800" dirty="0">
                <a:solidFill>
                  <a:schemeClr val="bg1"/>
                </a:solidFill>
                <a:latin typeface="MS Gothic"/>
                <a:cs typeface="MS Gothic"/>
              </a:rPr>
              <a:t>当たり判定を高速化するために、</a:t>
            </a:r>
            <a:r>
              <a:rPr lang="en-US" altLang="ja-JP" sz="2800" dirty="0" err="1">
                <a:solidFill>
                  <a:schemeClr val="bg1"/>
                </a:solidFill>
                <a:latin typeface="MS Gothic"/>
                <a:cs typeface="MS Gothic"/>
              </a:rPr>
              <a:t>AABBTree</a:t>
            </a:r>
            <a:r>
              <a:rPr lang="ja-JP" altLang="en-US" sz="2800" dirty="0">
                <a:solidFill>
                  <a:schemeClr val="bg1"/>
                </a:solidFill>
                <a:latin typeface="MS Gothic"/>
                <a:cs typeface="MS Gothic"/>
              </a:rPr>
              <a:t>を使用しました。</a:t>
            </a:r>
            <a:endParaRPr lang="en-US" altLang="ja-JP" sz="2800" dirty="0">
              <a:solidFill>
                <a:schemeClr val="bg1"/>
              </a:solidFill>
              <a:latin typeface="MS Gothic"/>
              <a:cs typeface="MS Gothic"/>
            </a:endParaRPr>
          </a:p>
          <a:p>
            <a:pPr marL="12700">
              <a:lnSpc>
                <a:spcPct val="100000"/>
              </a:lnSpc>
              <a:spcBef>
                <a:spcPts val="95"/>
              </a:spcBef>
            </a:pPr>
            <a:endParaRPr lang="en-US" altLang="ja-JP" sz="2800" dirty="0">
              <a:solidFill>
                <a:schemeClr val="bg1"/>
              </a:solidFill>
              <a:latin typeface="MS Gothic"/>
              <a:cs typeface="MS Gothic"/>
            </a:endParaRPr>
          </a:p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altLang="ja-JP" sz="2800" dirty="0">
                <a:solidFill>
                  <a:schemeClr val="bg1"/>
                </a:solidFill>
                <a:latin typeface="MS Gothic"/>
                <a:cs typeface="MS Gothic"/>
              </a:rPr>
              <a:t>Grid</a:t>
            </a:r>
            <a:r>
              <a:rPr lang="ja-JP" altLang="en-US" sz="2800" dirty="0">
                <a:solidFill>
                  <a:schemeClr val="bg1"/>
                </a:solidFill>
                <a:latin typeface="MS Gothic"/>
                <a:cs typeface="MS Gothic"/>
              </a:rPr>
              <a:t>ではなく</a:t>
            </a:r>
            <a:r>
              <a:rPr lang="en-US" altLang="ja-JP" sz="2800" dirty="0" err="1">
                <a:solidFill>
                  <a:schemeClr val="bg1"/>
                </a:solidFill>
                <a:latin typeface="MS Gothic"/>
                <a:cs typeface="MS Gothic"/>
              </a:rPr>
              <a:t>AABBTree</a:t>
            </a:r>
            <a:r>
              <a:rPr lang="ja-JP" altLang="en-US" sz="2800" dirty="0">
                <a:solidFill>
                  <a:schemeClr val="bg1"/>
                </a:solidFill>
                <a:latin typeface="MS Gothic"/>
                <a:cs typeface="MS Gothic"/>
              </a:rPr>
              <a:t>を使用した理由は、</a:t>
            </a:r>
            <a:endParaRPr lang="en-US" altLang="ja-JP" sz="2800" dirty="0">
              <a:solidFill>
                <a:schemeClr val="bg1"/>
              </a:solidFill>
              <a:latin typeface="MS Gothic"/>
              <a:cs typeface="MS Gothic"/>
            </a:endParaRPr>
          </a:p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ja-JP" altLang="en-US" sz="2800" dirty="0">
                <a:solidFill>
                  <a:schemeClr val="bg1"/>
                </a:solidFill>
                <a:latin typeface="MS Gothic"/>
                <a:cs typeface="MS Gothic"/>
              </a:rPr>
              <a:t>３つあります。</a:t>
            </a:r>
            <a:br>
              <a:rPr lang="en-US" altLang="ja-JP" sz="2800" dirty="0">
                <a:solidFill>
                  <a:schemeClr val="bg1"/>
                </a:solidFill>
                <a:latin typeface="MS Gothic"/>
                <a:cs typeface="MS Gothic"/>
              </a:rPr>
            </a:br>
            <a:endParaRPr lang="en-US" altLang="ja-JP" sz="2800" dirty="0">
              <a:solidFill>
                <a:schemeClr val="bg1"/>
              </a:solidFill>
              <a:latin typeface="MS Gothic"/>
              <a:cs typeface="MS Gothic"/>
            </a:endParaRPr>
          </a:p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ja-JP" altLang="en-US" sz="2800" dirty="0">
                <a:solidFill>
                  <a:schemeClr val="bg1"/>
                </a:solidFill>
                <a:latin typeface="MS Gothic"/>
                <a:cs typeface="MS Gothic"/>
              </a:rPr>
              <a:t>１つ目は、特定のセルの判定数が増えてしまう点</a:t>
            </a:r>
            <a:endParaRPr lang="en-US" altLang="ja-JP" sz="2800" dirty="0">
              <a:solidFill>
                <a:schemeClr val="bg1"/>
              </a:solidFill>
              <a:latin typeface="MS Gothic"/>
              <a:cs typeface="MS Gothic"/>
            </a:endParaRPr>
          </a:p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ja-JP" altLang="en-US" sz="2800" dirty="0">
                <a:solidFill>
                  <a:schemeClr val="bg1"/>
                </a:solidFill>
                <a:latin typeface="MS Gothic"/>
                <a:cs typeface="MS Gothic"/>
              </a:rPr>
              <a:t>２つ目は、当たり判定の回数などが開発者が想定しにくい点</a:t>
            </a:r>
            <a:endParaRPr lang="en-US" altLang="ja-JP" sz="2800" dirty="0">
              <a:solidFill>
                <a:schemeClr val="bg1"/>
              </a:solidFill>
              <a:latin typeface="MS Gothic"/>
              <a:cs typeface="MS Gothic"/>
            </a:endParaRPr>
          </a:p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ja-JP" altLang="en-US" sz="2800" dirty="0">
                <a:solidFill>
                  <a:schemeClr val="bg1"/>
                </a:solidFill>
                <a:latin typeface="MS Gothic"/>
                <a:cs typeface="MS Gothic"/>
              </a:rPr>
              <a:t>３つ目は、マルチスレッドに対応したときに</a:t>
            </a:r>
            <a:br>
              <a:rPr lang="en-US" altLang="ja-JP" sz="2800" dirty="0">
                <a:solidFill>
                  <a:schemeClr val="bg1"/>
                </a:solidFill>
                <a:latin typeface="MS Gothic"/>
                <a:cs typeface="MS Gothic"/>
              </a:rPr>
            </a:br>
            <a:r>
              <a:rPr lang="ja-JP" altLang="en-US" sz="2800" dirty="0">
                <a:solidFill>
                  <a:schemeClr val="bg1"/>
                </a:solidFill>
                <a:latin typeface="MS Gothic"/>
                <a:cs typeface="MS Gothic"/>
              </a:rPr>
              <a:t>　　　　　　　　　　特定のセルに偏りが出て遅くなってしまう点。</a:t>
            </a:r>
            <a:endParaRPr lang="en-US" altLang="ja-JP" sz="2800" dirty="0">
              <a:solidFill>
                <a:schemeClr val="bg1"/>
              </a:solidFill>
              <a:latin typeface="MS Gothic"/>
              <a:cs typeface="MS Gothic"/>
            </a:endParaRPr>
          </a:p>
          <a:p>
            <a:pPr marL="12700">
              <a:lnSpc>
                <a:spcPct val="100000"/>
              </a:lnSpc>
              <a:spcBef>
                <a:spcPts val="95"/>
              </a:spcBef>
            </a:pPr>
            <a:endParaRPr lang="en-US" altLang="ja-JP" sz="2800" dirty="0">
              <a:solidFill>
                <a:schemeClr val="bg1"/>
              </a:solidFill>
              <a:latin typeface="MS Gothic"/>
              <a:cs typeface="MS Gothic"/>
            </a:endParaRPr>
          </a:p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ja-JP" altLang="en-US" sz="2800" dirty="0">
                <a:solidFill>
                  <a:schemeClr val="bg1"/>
                </a:solidFill>
                <a:latin typeface="MS Gothic"/>
                <a:cs typeface="MS Gothic"/>
              </a:rPr>
              <a:t>が</a:t>
            </a:r>
            <a:r>
              <a:rPr lang="en-US" altLang="ja-JP" sz="2800" dirty="0" err="1">
                <a:solidFill>
                  <a:schemeClr val="bg1"/>
                </a:solidFill>
                <a:latin typeface="MS Gothic"/>
                <a:cs typeface="MS Gothic"/>
              </a:rPr>
              <a:t>AABBTree</a:t>
            </a:r>
            <a:r>
              <a:rPr lang="ja-JP" altLang="en-US" sz="2800" dirty="0">
                <a:solidFill>
                  <a:schemeClr val="bg1"/>
                </a:solidFill>
                <a:latin typeface="MS Gothic"/>
                <a:cs typeface="MS Gothic"/>
              </a:rPr>
              <a:t>を使用することにした理由です。</a:t>
            </a:r>
            <a:endParaRPr lang="en-US" altLang="ja-JP" sz="2800" dirty="0">
              <a:solidFill>
                <a:schemeClr val="bg1"/>
              </a:solidFill>
              <a:latin typeface="MS Gothic"/>
              <a:cs typeface="MS Gothic"/>
            </a:endParaRPr>
          </a:p>
        </p:txBody>
      </p:sp>
    </p:spTree>
    <p:extLst>
      <p:ext uri="{BB962C8B-B14F-4D97-AF65-F5344CB8AC3E}">
        <p14:creationId xmlns:p14="http://schemas.microsoft.com/office/powerpoint/2010/main" val="348727527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F20201-F212-8E15-5BAA-85DE9FAD73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5D34781A-E9FB-0FC3-3B12-32B525CFF24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7200" y="381000"/>
            <a:ext cx="7287259" cy="69723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lang="ja-JP" altLang="en-US" spc="-25" dirty="0"/>
              <a:t>当たり判定 </a:t>
            </a:r>
            <a:r>
              <a:rPr lang="en-US" altLang="ja-JP" spc="-25" dirty="0" err="1"/>
              <a:t>AABBTree</a:t>
            </a:r>
            <a:endParaRPr spc="-25" dirty="0"/>
          </a:p>
        </p:txBody>
      </p:sp>
      <p:sp>
        <p:nvSpPr>
          <p:cNvPr id="3" name="object 3">
            <a:extLst>
              <a:ext uri="{FF2B5EF4-FFF2-40B4-BE49-F238E27FC236}">
                <a16:creationId xmlns:a16="http://schemas.microsoft.com/office/drawing/2014/main" id="{091F54AC-0E1D-829F-9292-E5B3131B496A}"/>
              </a:ext>
            </a:extLst>
          </p:cNvPr>
          <p:cNvSpPr txBox="1"/>
          <p:nvPr/>
        </p:nvSpPr>
        <p:spPr>
          <a:xfrm>
            <a:off x="609600" y="1524000"/>
            <a:ext cx="11420475" cy="221791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ja-JP" altLang="en-US" sz="2800" dirty="0">
                <a:solidFill>
                  <a:schemeClr val="bg1"/>
                </a:solidFill>
                <a:latin typeface="MS Gothic"/>
                <a:cs typeface="MS Gothic"/>
              </a:rPr>
              <a:t>どれくらい早くなったのか</a:t>
            </a:r>
            <a:endParaRPr lang="en-US" altLang="ja-JP" sz="2800" dirty="0">
              <a:solidFill>
                <a:schemeClr val="bg1"/>
              </a:solidFill>
              <a:latin typeface="MS Gothic"/>
              <a:cs typeface="MS Gothic"/>
            </a:endParaRPr>
          </a:p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altLang="ja-JP" sz="2800" dirty="0" err="1">
                <a:solidFill>
                  <a:schemeClr val="bg1"/>
                </a:solidFill>
                <a:latin typeface="MS Gothic"/>
                <a:cs typeface="MS Gothic"/>
              </a:rPr>
              <a:t>AABBTree</a:t>
            </a:r>
            <a:r>
              <a:rPr lang="ja-JP" altLang="en-US" sz="2800" dirty="0">
                <a:solidFill>
                  <a:schemeClr val="bg1"/>
                </a:solidFill>
                <a:latin typeface="MS Gothic"/>
                <a:cs typeface="MS Gothic"/>
              </a:rPr>
              <a:t>を使用すると</a:t>
            </a:r>
            <a:endParaRPr lang="en-US" altLang="ja-JP" sz="2800" dirty="0">
              <a:solidFill>
                <a:schemeClr val="bg1"/>
              </a:solidFill>
              <a:latin typeface="MS Gothic"/>
              <a:cs typeface="MS Gothic"/>
            </a:endParaRPr>
          </a:p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ja-JP" altLang="en-US" sz="2800" dirty="0">
                <a:solidFill>
                  <a:schemeClr val="bg1"/>
                </a:solidFill>
                <a:latin typeface="MS Gothic"/>
                <a:cs typeface="MS Gothic"/>
              </a:rPr>
              <a:t>押し戻し処理などを入れて</a:t>
            </a:r>
            <a:endParaRPr lang="en-US" altLang="ja-JP" sz="2800" dirty="0">
              <a:solidFill>
                <a:schemeClr val="bg1"/>
              </a:solidFill>
              <a:latin typeface="MS Gothic"/>
              <a:cs typeface="MS Gothic"/>
            </a:endParaRPr>
          </a:p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ja-JP" altLang="en-US" sz="2800" dirty="0">
                <a:solidFill>
                  <a:schemeClr val="bg1"/>
                </a:solidFill>
                <a:latin typeface="MS Gothic"/>
                <a:cs typeface="MS Gothic"/>
              </a:rPr>
              <a:t> </a:t>
            </a:r>
            <a:r>
              <a:rPr lang="en-US" altLang="ja-JP" sz="2800" dirty="0">
                <a:solidFill>
                  <a:schemeClr val="bg1"/>
                </a:solidFill>
                <a:latin typeface="MS Gothic"/>
                <a:cs typeface="MS Gothic"/>
              </a:rPr>
              <a:t>0.006</a:t>
            </a:r>
            <a:r>
              <a:rPr lang="ja-JP" altLang="en-US" sz="2800" dirty="0">
                <a:solidFill>
                  <a:schemeClr val="bg1"/>
                </a:solidFill>
                <a:latin typeface="MS Gothic"/>
                <a:cs typeface="MS Gothic"/>
              </a:rPr>
              <a:t> 秒くらい</a:t>
            </a:r>
            <a:endParaRPr lang="en-US" altLang="ja-JP" sz="2800" dirty="0">
              <a:solidFill>
                <a:schemeClr val="bg1"/>
              </a:solidFill>
              <a:latin typeface="MS Gothic"/>
              <a:cs typeface="MS Gothic"/>
            </a:endParaRPr>
          </a:p>
          <a:p>
            <a:pPr marL="12700">
              <a:lnSpc>
                <a:spcPct val="100000"/>
              </a:lnSpc>
              <a:spcBef>
                <a:spcPts val="95"/>
              </a:spcBef>
            </a:pPr>
            <a:endParaRPr lang="en-US" altLang="ja-JP" sz="2800" dirty="0">
              <a:solidFill>
                <a:schemeClr val="bg1"/>
              </a:solidFill>
              <a:latin typeface="MS Gothic"/>
              <a:cs typeface="MS Gothic"/>
            </a:endParaRPr>
          </a:p>
        </p:txBody>
      </p:sp>
      <p:pic>
        <p:nvPicPr>
          <p:cNvPr id="7" name="図 6" descr="グラフィカル ユーザー インターフェイス&#10;&#10;AI 生成コンテンツは誤りを含む可能性があります。">
            <a:extLst>
              <a:ext uri="{FF2B5EF4-FFF2-40B4-BE49-F238E27FC236}">
                <a16:creationId xmlns:a16="http://schemas.microsoft.com/office/drawing/2014/main" id="{78DA35B5-0016-0478-FB9B-80688324A03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51672" b="27979"/>
          <a:stretch>
            <a:fillRect/>
          </a:stretch>
        </p:blipFill>
        <p:spPr>
          <a:xfrm>
            <a:off x="7744459" y="1295400"/>
            <a:ext cx="2908031" cy="6972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7345372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496777" y="1206876"/>
            <a:ext cx="6533287" cy="690574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lang="ja-JP" altLang="en-US" spc="-15" dirty="0"/>
              <a:t>１月末までに</a:t>
            </a:r>
            <a:r>
              <a:rPr spc="-15" dirty="0" err="1"/>
              <a:t>制作するもの</a:t>
            </a:r>
            <a:endParaRPr spc="-15" dirty="0"/>
          </a:p>
        </p:txBody>
      </p:sp>
      <p:sp>
        <p:nvSpPr>
          <p:cNvPr id="3" name="object 3"/>
          <p:cNvSpPr txBox="1">
            <a:spLocks noGrp="1"/>
          </p:cNvSpPr>
          <p:nvPr>
            <p:ph type="body" idx="1"/>
          </p:nvPr>
        </p:nvSpPr>
        <p:spPr>
          <a:xfrm>
            <a:off x="9489722" y="3795567"/>
            <a:ext cx="1269493" cy="396904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ts val="3025"/>
              </a:lnSpc>
              <a:spcBef>
                <a:spcPts val="95"/>
              </a:spcBef>
            </a:pPr>
            <a:r>
              <a:rPr lang="ja-JP" altLang="en-US" spc="-40" dirty="0"/>
              <a:t>最適化</a:t>
            </a:r>
            <a:endParaRPr spc="-40" dirty="0"/>
          </a:p>
        </p:txBody>
      </p:sp>
      <p:sp>
        <p:nvSpPr>
          <p:cNvPr id="4" name="object 4"/>
          <p:cNvSpPr txBox="1"/>
          <p:nvPr/>
        </p:nvSpPr>
        <p:spPr>
          <a:xfrm>
            <a:off x="7432322" y="4192471"/>
            <a:ext cx="4591750" cy="1330492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ja-JP" altLang="en-US" sz="2800" spc="-35" dirty="0">
                <a:solidFill>
                  <a:srgbClr val="FFFFFF"/>
                </a:solidFill>
                <a:latin typeface="MS Gothic"/>
                <a:cs typeface="MS Gothic"/>
              </a:rPr>
              <a:t>・コマンドリスト</a:t>
            </a:r>
            <a:endParaRPr lang="en-US" sz="2800" spc="-35" dirty="0">
              <a:solidFill>
                <a:srgbClr val="FFFFFF"/>
              </a:solidFill>
              <a:latin typeface="MS Gothic"/>
              <a:cs typeface="MS Gothic"/>
            </a:endParaRPr>
          </a:p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ja-JP" altLang="en-US" sz="2800" spc="-35" dirty="0">
                <a:solidFill>
                  <a:srgbClr val="FFFFFF"/>
                </a:solidFill>
                <a:latin typeface="MS Gothic"/>
                <a:cs typeface="MS Gothic"/>
              </a:rPr>
              <a:t>・</a:t>
            </a:r>
            <a:r>
              <a:rPr sz="2800" spc="-35" dirty="0" err="1">
                <a:solidFill>
                  <a:srgbClr val="FFFFFF"/>
                </a:solidFill>
                <a:latin typeface="MS Gothic"/>
                <a:cs typeface="MS Gothic"/>
              </a:rPr>
              <a:t>インスタンシング</a:t>
            </a:r>
            <a:endParaRPr lang="en-US" sz="2800" spc="-50" dirty="0">
              <a:solidFill>
                <a:srgbClr val="FFFFFF"/>
              </a:solidFill>
              <a:latin typeface="Arial MT"/>
              <a:cs typeface="Arial MT"/>
            </a:endParaRPr>
          </a:p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ja-JP" altLang="en-US" sz="2800" spc="-50" dirty="0">
                <a:solidFill>
                  <a:srgbClr val="FFFFFF"/>
                </a:solidFill>
                <a:latin typeface="Arial MT"/>
                <a:cs typeface="Arial MT"/>
              </a:rPr>
              <a:t>・オブジェクトの更新間引き</a:t>
            </a:r>
            <a:endParaRPr sz="2800" dirty="0">
              <a:latin typeface="Arial MT"/>
              <a:cs typeface="Arial MT"/>
            </a:endParaRPr>
          </a:p>
        </p:txBody>
      </p:sp>
      <p:sp>
        <p:nvSpPr>
          <p:cNvPr id="8" name="object 3">
            <a:extLst>
              <a:ext uri="{FF2B5EF4-FFF2-40B4-BE49-F238E27FC236}">
                <a16:creationId xmlns:a16="http://schemas.microsoft.com/office/drawing/2014/main" id="{10859274-81C9-FA5C-2553-45800861C883}"/>
              </a:ext>
            </a:extLst>
          </p:cNvPr>
          <p:cNvSpPr txBox="1">
            <a:spLocks/>
          </p:cNvSpPr>
          <p:nvPr/>
        </p:nvSpPr>
        <p:spPr>
          <a:xfrm>
            <a:off x="501694" y="2330340"/>
            <a:ext cx="5001895" cy="396904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>
            <a:lvl1pPr marL="0">
              <a:defRPr sz="2800" b="0" i="0">
                <a:solidFill>
                  <a:schemeClr val="bg1"/>
                </a:solidFill>
                <a:latin typeface="MS Gothic"/>
                <a:ea typeface="+mn-ea"/>
                <a:cs typeface="MS Gothic"/>
              </a:defRPr>
            </a:lvl1pPr>
            <a:lvl2pPr marL="457200">
              <a:defRPr>
                <a:latin typeface="+mn-lt"/>
                <a:ea typeface="+mn-ea"/>
                <a:cs typeface="+mn-cs"/>
              </a:defRPr>
            </a:lvl2pPr>
            <a:lvl3pPr marL="914400">
              <a:defRPr>
                <a:latin typeface="+mn-lt"/>
                <a:ea typeface="+mn-ea"/>
                <a:cs typeface="+mn-cs"/>
              </a:defRPr>
            </a:lvl3pPr>
            <a:lvl4pPr marL="1371600">
              <a:defRPr>
                <a:latin typeface="+mn-lt"/>
                <a:ea typeface="+mn-ea"/>
                <a:cs typeface="+mn-cs"/>
              </a:defRPr>
            </a:lvl4pPr>
            <a:lvl5pPr marL="1828800">
              <a:defRPr>
                <a:latin typeface="+mn-lt"/>
                <a:ea typeface="+mn-ea"/>
                <a:cs typeface="+mn-cs"/>
              </a:defRPr>
            </a:lvl5pPr>
            <a:lvl6pPr marL="2286000">
              <a:defRPr>
                <a:latin typeface="+mn-lt"/>
                <a:ea typeface="+mn-ea"/>
                <a:cs typeface="+mn-cs"/>
              </a:defRPr>
            </a:lvl6pPr>
            <a:lvl7pPr marL="2743200">
              <a:defRPr>
                <a:latin typeface="+mn-lt"/>
                <a:ea typeface="+mn-ea"/>
                <a:cs typeface="+mn-cs"/>
              </a:defRPr>
            </a:lvl7pPr>
            <a:lvl8pPr marL="3200400">
              <a:defRPr>
                <a:latin typeface="+mn-lt"/>
                <a:ea typeface="+mn-ea"/>
                <a:cs typeface="+mn-cs"/>
              </a:defRPr>
            </a:lvl8pPr>
            <a:lvl9pPr marL="3657600">
              <a:defRPr>
                <a:latin typeface="+mn-lt"/>
                <a:ea typeface="+mn-ea"/>
                <a:cs typeface="+mn-cs"/>
              </a:defRPr>
            </a:lvl9pPr>
          </a:lstStyle>
          <a:p>
            <a:pPr marL="12700">
              <a:lnSpc>
                <a:spcPts val="3025"/>
              </a:lnSpc>
              <a:spcBef>
                <a:spcPts val="95"/>
              </a:spcBef>
            </a:pPr>
            <a:r>
              <a:rPr lang="ja-JP" altLang="en-US" spc="-40" dirty="0"/>
              <a:t>ゲーム制作</a:t>
            </a:r>
          </a:p>
        </p:txBody>
      </p:sp>
      <p:sp>
        <p:nvSpPr>
          <p:cNvPr id="9" name="object 4">
            <a:extLst>
              <a:ext uri="{FF2B5EF4-FFF2-40B4-BE49-F238E27FC236}">
                <a16:creationId xmlns:a16="http://schemas.microsoft.com/office/drawing/2014/main" id="{4846F6A8-9E61-7214-27ED-9D49DE5EFAAB}"/>
              </a:ext>
            </a:extLst>
          </p:cNvPr>
          <p:cNvSpPr txBox="1"/>
          <p:nvPr/>
        </p:nvSpPr>
        <p:spPr>
          <a:xfrm>
            <a:off x="503038" y="2768203"/>
            <a:ext cx="6313805" cy="2635978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ja-JP" altLang="en-US" sz="2800" spc="-35" dirty="0">
                <a:solidFill>
                  <a:srgbClr val="FFFFFF"/>
                </a:solidFill>
                <a:latin typeface="MS Gothic"/>
                <a:cs typeface="MS Gothic"/>
              </a:rPr>
              <a:t>・ゲーム制作</a:t>
            </a:r>
            <a:br>
              <a:rPr lang="en-US" altLang="ja-JP" sz="2800" spc="-35" dirty="0">
                <a:solidFill>
                  <a:srgbClr val="FFFFFF"/>
                </a:solidFill>
                <a:latin typeface="MS Gothic"/>
                <a:cs typeface="MS Gothic"/>
              </a:rPr>
            </a:br>
            <a:r>
              <a:rPr lang="ja-JP" altLang="en-US" sz="2800" spc="-35" dirty="0">
                <a:solidFill>
                  <a:srgbClr val="FFFFFF"/>
                </a:solidFill>
                <a:latin typeface="MS Gothic"/>
                <a:cs typeface="MS Gothic"/>
              </a:rPr>
              <a:t>　　（プレイヤー 球を飛ばす）</a:t>
            </a:r>
            <a:endParaRPr lang="en-US" altLang="ja-JP" sz="2800" spc="-35" dirty="0">
              <a:solidFill>
                <a:srgbClr val="FFFFFF"/>
              </a:solidFill>
              <a:latin typeface="MS Gothic"/>
              <a:cs typeface="MS Gothic"/>
            </a:endParaRPr>
          </a:p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ja-JP" altLang="en-US" sz="2800" spc="-35" dirty="0">
                <a:solidFill>
                  <a:srgbClr val="FFFFFF"/>
                </a:solidFill>
                <a:latin typeface="MS Gothic"/>
                <a:cs typeface="MS Gothic"/>
              </a:rPr>
              <a:t>　　（スキル２つ）</a:t>
            </a:r>
            <a:br>
              <a:rPr lang="en-US" altLang="ja-JP" sz="2800" spc="-35" dirty="0">
                <a:solidFill>
                  <a:srgbClr val="FFFFFF"/>
                </a:solidFill>
                <a:latin typeface="MS Gothic"/>
                <a:cs typeface="MS Gothic"/>
              </a:rPr>
            </a:br>
            <a:r>
              <a:rPr lang="ja-JP" altLang="en-US" sz="2800" spc="-35" dirty="0">
                <a:solidFill>
                  <a:srgbClr val="FFFFFF"/>
                </a:solidFill>
                <a:latin typeface="MS Gothic"/>
                <a:cs typeface="MS Gothic"/>
              </a:rPr>
              <a:t>　　（敵１種類）</a:t>
            </a:r>
            <a:endParaRPr lang="en-US" altLang="ja-JP" sz="2800" spc="-35" dirty="0">
              <a:solidFill>
                <a:srgbClr val="FFFFFF"/>
              </a:solidFill>
              <a:latin typeface="MS Gothic"/>
              <a:cs typeface="MS Gothic"/>
            </a:endParaRPr>
          </a:p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ja-JP" altLang="en-US" sz="2800" spc="-35" dirty="0">
                <a:solidFill>
                  <a:srgbClr val="FFFFFF"/>
                </a:solidFill>
                <a:latin typeface="MS Gothic"/>
                <a:cs typeface="MS Gothic"/>
              </a:rPr>
              <a:t>・フェード</a:t>
            </a:r>
            <a:endParaRPr lang="en-US" altLang="ja-JP" sz="2800" spc="-35" dirty="0">
              <a:solidFill>
                <a:srgbClr val="FFFFFF"/>
              </a:solidFill>
              <a:latin typeface="MS Gothic"/>
              <a:cs typeface="MS Gothic"/>
            </a:endParaRPr>
          </a:p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ja-JP" altLang="en-US" sz="2800" spc="-35" dirty="0">
                <a:solidFill>
                  <a:srgbClr val="FFFFFF"/>
                </a:solidFill>
                <a:latin typeface="MS Gothic"/>
                <a:cs typeface="MS Gothic"/>
              </a:rPr>
              <a:t>・</a:t>
            </a:r>
            <a:r>
              <a:rPr lang="en-US" altLang="ja-JP" sz="2800" spc="-35" dirty="0">
                <a:solidFill>
                  <a:srgbClr val="FFFFFF"/>
                </a:solidFill>
                <a:latin typeface="MS Gothic"/>
                <a:cs typeface="MS Gothic"/>
              </a:rPr>
              <a:t>UI</a:t>
            </a:r>
          </a:p>
        </p:txBody>
      </p:sp>
      <p:sp>
        <p:nvSpPr>
          <p:cNvPr id="10" name="object 3">
            <a:extLst>
              <a:ext uri="{FF2B5EF4-FFF2-40B4-BE49-F238E27FC236}">
                <a16:creationId xmlns:a16="http://schemas.microsoft.com/office/drawing/2014/main" id="{DFA22F31-3BE1-D29A-4DE2-521354303591}"/>
              </a:ext>
            </a:extLst>
          </p:cNvPr>
          <p:cNvSpPr txBox="1">
            <a:spLocks/>
          </p:cNvSpPr>
          <p:nvPr/>
        </p:nvSpPr>
        <p:spPr>
          <a:xfrm>
            <a:off x="7680587" y="3795567"/>
            <a:ext cx="1600200" cy="396904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>
            <a:lvl1pPr marL="0">
              <a:defRPr sz="2800" b="0" i="0">
                <a:solidFill>
                  <a:schemeClr val="bg1"/>
                </a:solidFill>
                <a:latin typeface="MS Gothic"/>
                <a:ea typeface="+mn-ea"/>
                <a:cs typeface="MS Gothic"/>
              </a:defRPr>
            </a:lvl1pPr>
            <a:lvl2pPr marL="457200">
              <a:defRPr>
                <a:latin typeface="+mn-lt"/>
                <a:ea typeface="+mn-ea"/>
                <a:cs typeface="+mn-cs"/>
              </a:defRPr>
            </a:lvl2pPr>
            <a:lvl3pPr marL="914400">
              <a:defRPr>
                <a:latin typeface="+mn-lt"/>
                <a:ea typeface="+mn-ea"/>
                <a:cs typeface="+mn-cs"/>
              </a:defRPr>
            </a:lvl3pPr>
            <a:lvl4pPr marL="1371600">
              <a:defRPr>
                <a:latin typeface="+mn-lt"/>
                <a:ea typeface="+mn-ea"/>
                <a:cs typeface="+mn-cs"/>
              </a:defRPr>
            </a:lvl4pPr>
            <a:lvl5pPr marL="1828800">
              <a:defRPr>
                <a:latin typeface="+mn-lt"/>
                <a:ea typeface="+mn-ea"/>
                <a:cs typeface="+mn-cs"/>
              </a:defRPr>
            </a:lvl5pPr>
            <a:lvl6pPr marL="2286000">
              <a:defRPr>
                <a:latin typeface="+mn-lt"/>
                <a:ea typeface="+mn-ea"/>
                <a:cs typeface="+mn-cs"/>
              </a:defRPr>
            </a:lvl6pPr>
            <a:lvl7pPr marL="2743200">
              <a:defRPr>
                <a:latin typeface="+mn-lt"/>
                <a:ea typeface="+mn-ea"/>
                <a:cs typeface="+mn-cs"/>
              </a:defRPr>
            </a:lvl7pPr>
            <a:lvl8pPr marL="3200400">
              <a:defRPr>
                <a:latin typeface="+mn-lt"/>
                <a:ea typeface="+mn-ea"/>
                <a:cs typeface="+mn-cs"/>
              </a:defRPr>
            </a:lvl8pPr>
            <a:lvl9pPr marL="3657600">
              <a:defRPr>
                <a:latin typeface="+mn-lt"/>
                <a:ea typeface="+mn-ea"/>
                <a:cs typeface="+mn-cs"/>
              </a:defRPr>
            </a:lvl9pPr>
          </a:lstStyle>
          <a:p>
            <a:pPr marL="12700">
              <a:lnSpc>
                <a:spcPts val="3025"/>
              </a:lnSpc>
              <a:spcBef>
                <a:spcPts val="95"/>
              </a:spcBef>
            </a:pPr>
            <a:r>
              <a:rPr lang="en-US" altLang="ja-JP" spc="-40" dirty="0"/>
              <a:t>3</a:t>
            </a:r>
            <a:r>
              <a:rPr lang="ja-JP" altLang="en-US" spc="-40" dirty="0"/>
              <a:t>月以降</a:t>
            </a:r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968F957F-FC2C-5757-F534-06BF52578C69}"/>
              </a:ext>
            </a:extLst>
          </p:cNvPr>
          <p:cNvSpPr/>
          <p:nvPr/>
        </p:nvSpPr>
        <p:spPr>
          <a:xfrm>
            <a:off x="248265" y="1039999"/>
            <a:ext cx="6934200" cy="4482964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2" name="object 3">
            <a:extLst>
              <a:ext uri="{FF2B5EF4-FFF2-40B4-BE49-F238E27FC236}">
                <a16:creationId xmlns:a16="http://schemas.microsoft.com/office/drawing/2014/main" id="{1E3B75FD-F08B-F1E8-E06D-8B505986CFA1}"/>
              </a:ext>
            </a:extLst>
          </p:cNvPr>
          <p:cNvSpPr txBox="1">
            <a:spLocks/>
          </p:cNvSpPr>
          <p:nvPr/>
        </p:nvSpPr>
        <p:spPr>
          <a:xfrm>
            <a:off x="9585373" y="1039999"/>
            <a:ext cx="1539827" cy="396904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>
            <a:lvl1pPr marL="0">
              <a:defRPr sz="2800" b="0" i="0">
                <a:solidFill>
                  <a:schemeClr val="bg1"/>
                </a:solidFill>
                <a:latin typeface="MS Gothic"/>
                <a:ea typeface="+mn-ea"/>
                <a:cs typeface="MS Gothic"/>
              </a:defRPr>
            </a:lvl1pPr>
            <a:lvl2pPr marL="457200">
              <a:defRPr>
                <a:latin typeface="+mn-lt"/>
                <a:ea typeface="+mn-ea"/>
                <a:cs typeface="+mn-cs"/>
              </a:defRPr>
            </a:lvl2pPr>
            <a:lvl3pPr marL="914400">
              <a:defRPr>
                <a:latin typeface="+mn-lt"/>
                <a:ea typeface="+mn-ea"/>
                <a:cs typeface="+mn-cs"/>
              </a:defRPr>
            </a:lvl3pPr>
            <a:lvl4pPr marL="1371600">
              <a:defRPr>
                <a:latin typeface="+mn-lt"/>
                <a:ea typeface="+mn-ea"/>
                <a:cs typeface="+mn-cs"/>
              </a:defRPr>
            </a:lvl4pPr>
            <a:lvl5pPr marL="1828800">
              <a:defRPr>
                <a:latin typeface="+mn-lt"/>
                <a:ea typeface="+mn-ea"/>
                <a:cs typeface="+mn-cs"/>
              </a:defRPr>
            </a:lvl5pPr>
            <a:lvl6pPr marL="2286000">
              <a:defRPr>
                <a:latin typeface="+mn-lt"/>
                <a:ea typeface="+mn-ea"/>
                <a:cs typeface="+mn-cs"/>
              </a:defRPr>
            </a:lvl6pPr>
            <a:lvl7pPr marL="2743200">
              <a:defRPr>
                <a:latin typeface="+mn-lt"/>
                <a:ea typeface="+mn-ea"/>
                <a:cs typeface="+mn-cs"/>
              </a:defRPr>
            </a:lvl7pPr>
            <a:lvl8pPr marL="3200400">
              <a:defRPr>
                <a:latin typeface="+mn-lt"/>
                <a:ea typeface="+mn-ea"/>
                <a:cs typeface="+mn-cs"/>
              </a:defRPr>
            </a:lvl8pPr>
            <a:lvl9pPr marL="3657600">
              <a:defRPr>
                <a:latin typeface="+mn-lt"/>
                <a:ea typeface="+mn-ea"/>
                <a:cs typeface="+mn-cs"/>
              </a:defRPr>
            </a:lvl9pPr>
          </a:lstStyle>
          <a:p>
            <a:pPr marL="12700">
              <a:lnSpc>
                <a:spcPts val="3025"/>
              </a:lnSpc>
              <a:spcBef>
                <a:spcPts val="95"/>
              </a:spcBef>
            </a:pPr>
            <a:r>
              <a:rPr lang="ja-JP" altLang="en-US" spc="-40" dirty="0"/>
              <a:t>エフェクト</a:t>
            </a:r>
          </a:p>
        </p:txBody>
      </p:sp>
      <p:sp>
        <p:nvSpPr>
          <p:cNvPr id="13" name="object 4">
            <a:extLst>
              <a:ext uri="{FF2B5EF4-FFF2-40B4-BE49-F238E27FC236}">
                <a16:creationId xmlns:a16="http://schemas.microsoft.com/office/drawing/2014/main" id="{6026FFF4-12BE-D0E7-790B-D102E296491F}"/>
              </a:ext>
            </a:extLst>
          </p:cNvPr>
          <p:cNvSpPr txBox="1"/>
          <p:nvPr/>
        </p:nvSpPr>
        <p:spPr>
          <a:xfrm>
            <a:off x="7639665" y="1467071"/>
            <a:ext cx="3444827" cy="886781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ja-JP" altLang="en-US" sz="2800" dirty="0">
                <a:solidFill>
                  <a:schemeClr val="bg1"/>
                </a:solidFill>
                <a:latin typeface="Arial MT"/>
                <a:cs typeface="Arial MT"/>
              </a:rPr>
              <a:t>・ポストエフェクト</a:t>
            </a:r>
            <a:endParaRPr lang="en-US" altLang="ja-JP" sz="2800" dirty="0">
              <a:solidFill>
                <a:schemeClr val="bg1"/>
              </a:solidFill>
              <a:latin typeface="Arial MT"/>
              <a:cs typeface="Arial MT"/>
            </a:endParaRPr>
          </a:p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ja-JP" altLang="en-US" sz="2800" dirty="0">
                <a:solidFill>
                  <a:schemeClr val="bg1"/>
                </a:solidFill>
                <a:latin typeface="Arial MT"/>
                <a:cs typeface="Arial MT"/>
              </a:rPr>
              <a:t>・パーティクル</a:t>
            </a:r>
            <a:endParaRPr sz="2800" dirty="0">
              <a:solidFill>
                <a:schemeClr val="bg1"/>
              </a:solidFill>
              <a:latin typeface="Arial MT"/>
              <a:cs typeface="Arial MT"/>
            </a:endParaRPr>
          </a:p>
        </p:txBody>
      </p:sp>
      <p:sp>
        <p:nvSpPr>
          <p:cNvPr id="14" name="object 3">
            <a:extLst>
              <a:ext uri="{FF2B5EF4-FFF2-40B4-BE49-F238E27FC236}">
                <a16:creationId xmlns:a16="http://schemas.microsoft.com/office/drawing/2014/main" id="{0320F7B9-2955-57D2-8170-5E1EB895DDF1}"/>
              </a:ext>
            </a:extLst>
          </p:cNvPr>
          <p:cNvSpPr txBox="1">
            <a:spLocks/>
          </p:cNvSpPr>
          <p:nvPr/>
        </p:nvSpPr>
        <p:spPr>
          <a:xfrm>
            <a:off x="7776238" y="1039999"/>
            <a:ext cx="1600200" cy="396904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>
            <a:lvl1pPr marL="0">
              <a:defRPr sz="2800" b="0" i="0">
                <a:solidFill>
                  <a:schemeClr val="bg1"/>
                </a:solidFill>
                <a:latin typeface="MS Gothic"/>
                <a:ea typeface="+mn-ea"/>
                <a:cs typeface="MS Gothic"/>
              </a:defRPr>
            </a:lvl1pPr>
            <a:lvl2pPr marL="457200">
              <a:defRPr>
                <a:latin typeface="+mn-lt"/>
                <a:ea typeface="+mn-ea"/>
                <a:cs typeface="+mn-cs"/>
              </a:defRPr>
            </a:lvl2pPr>
            <a:lvl3pPr marL="914400">
              <a:defRPr>
                <a:latin typeface="+mn-lt"/>
                <a:ea typeface="+mn-ea"/>
                <a:cs typeface="+mn-cs"/>
              </a:defRPr>
            </a:lvl3pPr>
            <a:lvl4pPr marL="1371600">
              <a:defRPr>
                <a:latin typeface="+mn-lt"/>
                <a:ea typeface="+mn-ea"/>
                <a:cs typeface="+mn-cs"/>
              </a:defRPr>
            </a:lvl4pPr>
            <a:lvl5pPr marL="1828800">
              <a:defRPr>
                <a:latin typeface="+mn-lt"/>
                <a:ea typeface="+mn-ea"/>
                <a:cs typeface="+mn-cs"/>
              </a:defRPr>
            </a:lvl5pPr>
            <a:lvl6pPr marL="2286000">
              <a:defRPr>
                <a:latin typeface="+mn-lt"/>
                <a:ea typeface="+mn-ea"/>
                <a:cs typeface="+mn-cs"/>
              </a:defRPr>
            </a:lvl6pPr>
            <a:lvl7pPr marL="2743200">
              <a:defRPr>
                <a:latin typeface="+mn-lt"/>
                <a:ea typeface="+mn-ea"/>
                <a:cs typeface="+mn-cs"/>
              </a:defRPr>
            </a:lvl7pPr>
            <a:lvl8pPr marL="3200400">
              <a:defRPr>
                <a:latin typeface="+mn-lt"/>
                <a:ea typeface="+mn-ea"/>
                <a:cs typeface="+mn-cs"/>
              </a:defRPr>
            </a:lvl8pPr>
            <a:lvl9pPr marL="3657600">
              <a:defRPr>
                <a:latin typeface="+mn-lt"/>
                <a:ea typeface="+mn-ea"/>
                <a:cs typeface="+mn-cs"/>
              </a:defRPr>
            </a:lvl9pPr>
          </a:lstStyle>
          <a:p>
            <a:pPr marL="12700">
              <a:lnSpc>
                <a:spcPts val="3025"/>
              </a:lnSpc>
              <a:spcBef>
                <a:spcPts val="95"/>
              </a:spcBef>
            </a:pPr>
            <a:r>
              <a:rPr lang="en-US" altLang="ja-JP" spc="-40" dirty="0"/>
              <a:t>2</a:t>
            </a:r>
            <a:r>
              <a:rPr lang="ja-JP" altLang="en-US" spc="-40" dirty="0"/>
              <a:t>月以降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106</TotalTime>
  <Words>386</Words>
  <Application>Microsoft Office PowerPoint</Application>
  <PresentationFormat>ワイド画面</PresentationFormat>
  <Paragraphs>95</Paragraphs>
  <Slides>11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11</vt:i4>
      </vt:variant>
    </vt:vector>
  </HeadingPairs>
  <TitlesOfParts>
    <vt:vector size="15" baseType="lpstr">
      <vt:lpstr>Arial MT</vt:lpstr>
      <vt:lpstr>MS Gothic</vt:lpstr>
      <vt:lpstr>Arial</vt:lpstr>
      <vt:lpstr>Office Theme</vt:lpstr>
      <vt:lpstr>就職作品詳細アピール</vt:lpstr>
      <vt:lpstr>作品概要・開発目的</vt:lpstr>
      <vt:lpstr>PowerPoint プレゼンテーション</vt:lpstr>
      <vt:lpstr>プラットフォーム非依存設計</vt:lpstr>
      <vt:lpstr>プラットフォーム非依存設計</vt:lpstr>
      <vt:lpstr>リソース管理とマネージャー構成</vt:lpstr>
      <vt:lpstr>描画処理の流れ</vt:lpstr>
      <vt:lpstr>シェーダーのリフレクション</vt:lpstr>
      <vt:lpstr>当たり判定 AABBTree</vt:lpstr>
      <vt:lpstr>当たり判定 AABBTree</vt:lpstr>
      <vt:lpstr>１月末までに制作するもの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OHAT13B52932 松田健志</dc:creator>
  <cp:lastModifiedBy>OHAT13B52932 松田健志</cp:lastModifiedBy>
  <cp:revision>161</cp:revision>
  <dcterms:created xsi:type="dcterms:W3CDTF">2025-12-13T00:48:35Z</dcterms:created>
  <dcterms:modified xsi:type="dcterms:W3CDTF">2025-12-13T03:30:48Z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2025-10-11T00:00:00Z</vt:filetime>
  </property>
  <property fmtid="{D5CDD505-2E9C-101B-9397-08002B2CF9AE}" pid="3" name="Creator">
    <vt:lpwstr>Microsoft® PowerPoint® for Microsoft 365</vt:lpwstr>
  </property>
  <property fmtid="{D5CDD505-2E9C-101B-9397-08002B2CF9AE}" pid="4" name="LastSaved">
    <vt:filetime>2025-12-13T00:00:00Z</vt:filetime>
  </property>
  <property fmtid="{D5CDD505-2E9C-101B-9397-08002B2CF9AE}" pid="5" name="Producer">
    <vt:lpwstr>Microsoft® PowerPoint® for Microsoft 365</vt:lpwstr>
  </property>
</Properties>
</file>