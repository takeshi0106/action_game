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2671" y="482041"/>
            <a:ext cx="728725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3313" y="2137663"/>
            <a:ext cx="5001895" cy="2198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905000"/>
            <a:ext cx="1073658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6000" u="none" spc="-5" dirty="0" err="1"/>
              <a:t>就職</a:t>
            </a:r>
            <a:r>
              <a:rPr lang="ja-JP" altLang="en-US" sz="6000" u="none" spc="-5" dirty="0"/>
              <a:t>作品詳細アピール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9322054" y="5404603"/>
            <a:ext cx="2092960" cy="94297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AT-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13B-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529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32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2400" spc="-125" dirty="0">
                <a:solidFill>
                  <a:srgbClr val="FFFFFF"/>
                </a:solidFill>
                <a:latin typeface="MS Gothic"/>
                <a:cs typeface="MS Gothic"/>
              </a:rPr>
              <a:t>松田 健志</a:t>
            </a:r>
            <a:endParaRPr sz="2400">
              <a:latin typeface="MS Gothic"/>
              <a:cs typeface="MS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90173" y="3400603"/>
            <a:ext cx="3032633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ja-JP" altLang="en-US" sz="2400" spc="-5" dirty="0">
                <a:solidFill>
                  <a:srgbClr val="FFFFFF"/>
                </a:solidFill>
                <a:latin typeface="MS Gothic"/>
                <a:cs typeface="MS Gothic"/>
              </a:rPr>
              <a:t>無双ゲーム制作</a:t>
            </a:r>
            <a:endParaRPr lang="ja-JP" altLang="en-US" sz="2400" dirty="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61087"/>
            <a:ext cx="50539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作品概要・開発目的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9200"/>
            <a:ext cx="12077700" cy="49314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5765">
              <a:spcBef>
                <a:spcPts val="95"/>
              </a:spcBef>
              <a:tabLst>
                <a:tab pos="2539365" algn="l"/>
                <a:tab pos="6353175" algn="l"/>
              </a:tabLst>
            </a:pPr>
            <a:r>
              <a:rPr lang="ja-JP" altLang="en-US" sz="2800" spc="-25" dirty="0">
                <a:solidFill>
                  <a:srgbClr val="FFFFFF"/>
                </a:solidFill>
                <a:latin typeface="MS Gothic"/>
                <a:cs typeface="MS Gothic"/>
              </a:rPr>
              <a:t>大量のオブジェクトやパーティクルを描画して、</a:t>
            </a:r>
            <a:br>
              <a:rPr lang="en-US" altLang="ja-JP" sz="2800" spc="-25" dirty="0">
                <a:solidFill>
                  <a:srgbClr val="FFFFFF"/>
                </a:solidFill>
                <a:latin typeface="MS Gothic"/>
                <a:cs typeface="MS Gothic"/>
              </a:rPr>
            </a:br>
            <a:r>
              <a:rPr lang="en-US" altLang="ja-JP" sz="2800" b="1" dirty="0">
                <a:solidFill>
                  <a:schemeClr val="bg1"/>
                </a:solidFill>
              </a:rPr>
              <a:t>Vampire Survivors </a:t>
            </a:r>
            <a:r>
              <a:rPr lang="ja-JP" altLang="en-US" sz="2800" b="1" dirty="0">
                <a:solidFill>
                  <a:schemeClr val="bg1"/>
                </a:solidFill>
              </a:rPr>
              <a:t>の３</a:t>
            </a:r>
            <a:r>
              <a:rPr lang="en-US" altLang="ja-JP" sz="2800" b="1" dirty="0">
                <a:solidFill>
                  <a:schemeClr val="bg1"/>
                </a:solidFill>
              </a:rPr>
              <a:t>D</a:t>
            </a:r>
            <a:r>
              <a:rPr lang="ja-JP" altLang="en-US" sz="2800" b="1" dirty="0">
                <a:solidFill>
                  <a:schemeClr val="bg1"/>
                </a:solidFill>
              </a:rPr>
              <a:t>版のような</a:t>
            </a:r>
            <a:endParaRPr lang="en-US" altLang="ja-JP" sz="2800" b="1" dirty="0">
              <a:solidFill>
                <a:schemeClr val="bg1"/>
              </a:solidFill>
            </a:endParaRPr>
          </a:p>
          <a:p>
            <a:pPr marL="405765">
              <a:spcBef>
                <a:spcPts val="95"/>
              </a:spcBef>
              <a:tabLst>
                <a:tab pos="2539365" algn="l"/>
                <a:tab pos="6353175" algn="l"/>
              </a:tabLst>
            </a:pPr>
            <a:r>
              <a:rPr lang="ja-JP" altLang="en-US" sz="2800" b="1" dirty="0">
                <a:solidFill>
                  <a:schemeClr val="bg1"/>
                </a:solidFill>
                <a:latin typeface="MS Gothic"/>
                <a:cs typeface="MS Gothic"/>
              </a:rPr>
              <a:t>無双ゲーム制作を目指しています。</a:t>
            </a:r>
            <a:endParaRPr lang="en-US" altLang="ja-JP" sz="2800" b="1" dirty="0">
              <a:solidFill>
                <a:schemeClr val="bg1"/>
              </a:solidFill>
              <a:latin typeface="MS Gothic"/>
              <a:cs typeface="MS Gothic"/>
            </a:endParaRPr>
          </a:p>
          <a:p>
            <a:pPr marL="405765">
              <a:spcBef>
                <a:spcPts val="95"/>
              </a:spcBef>
              <a:tabLst>
                <a:tab pos="2539365" algn="l"/>
                <a:tab pos="6353175" algn="l"/>
              </a:tabLst>
            </a:pPr>
            <a:endParaRPr sz="2700" dirty="0">
              <a:solidFill>
                <a:schemeClr val="bg1"/>
              </a:solidFill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</a:pPr>
            <a:r>
              <a:rPr sz="44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S Gothic"/>
                <a:cs typeface="MS Gothic"/>
              </a:rPr>
              <a:t>開発環境</a:t>
            </a:r>
            <a:endParaRPr sz="4400" dirty="0">
              <a:latin typeface="MS Gothic"/>
              <a:cs typeface="MS Gothic"/>
            </a:endParaRPr>
          </a:p>
          <a:p>
            <a:pPr marL="405765">
              <a:lnSpc>
                <a:spcPct val="100000"/>
              </a:lnSpc>
              <a:spcBef>
                <a:spcPts val="1095"/>
              </a:spcBef>
            </a:pPr>
            <a:r>
              <a:rPr sz="2800" spc="-30" dirty="0">
                <a:solidFill>
                  <a:srgbClr val="FFFFFF"/>
                </a:solidFill>
                <a:latin typeface="Arial MT"/>
                <a:cs typeface="Arial MT"/>
              </a:rPr>
              <a:t>C++</a:t>
            </a:r>
            <a:r>
              <a:rPr lang="en-US" sz="2800" spc="-30" dirty="0">
                <a:solidFill>
                  <a:srgbClr val="FFFFFF"/>
                </a:solidFill>
                <a:latin typeface="MS Gothic"/>
                <a:cs typeface="Arial MT"/>
              </a:rPr>
              <a:t>20</a:t>
            </a:r>
            <a:r>
              <a:rPr sz="2800" spc="-590" dirty="0">
                <a:solidFill>
                  <a:srgbClr val="FFFFFF"/>
                </a:solidFill>
                <a:latin typeface="MS Gothic"/>
                <a:cs typeface="MS Gothic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28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DirectX11</a:t>
            </a:r>
            <a:endParaRPr sz="2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00"/>
              </a:spcBef>
            </a:pPr>
            <a:endParaRPr sz="2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4400" u="sng" spc="-20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S Gothic"/>
                <a:cs typeface="MS Gothic"/>
              </a:rPr>
              <a:t>開発期間</a:t>
            </a:r>
            <a:endParaRPr lang="ja-JP" altLang="en-US" sz="4400" u="sng" spc="-20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MS Gothic"/>
              <a:cs typeface="MS Gothic"/>
            </a:endParaRPr>
          </a:p>
          <a:p>
            <a:pPr marL="405765">
              <a:lnSpc>
                <a:spcPct val="100000"/>
              </a:lnSpc>
              <a:spcBef>
                <a:spcPts val="1245"/>
              </a:spcBef>
            </a:pPr>
            <a:r>
              <a:rPr lang="ja-JP" altLang="en-US" sz="2800" spc="-40" dirty="0">
                <a:solidFill>
                  <a:srgbClr val="FFFFFF"/>
                </a:solidFill>
                <a:latin typeface="MS Gothic"/>
                <a:cs typeface="MS Gothic"/>
              </a:rPr>
              <a:t>約３～４カ月くらい</a:t>
            </a:r>
            <a:endParaRPr lang="ja-JP" altLang="en-US" sz="2800" dirty="0">
              <a:latin typeface="MS Gothic"/>
              <a:cs typeface="MS Gothic"/>
            </a:endParaRPr>
          </a:p>
        </p:txBody>
      </p:sp>
      <p:pic>
        <p:nvPicPr>
          <p:cNvPr id="4" name="Picture 2" descr="配信開始】ゴシックホラーカジュアルゲーム『Vampire Survivors（ヴァンパイア・サバイバーズ）』がスマホアプリで登場 |  ファミ通App【スマホゲーム情報サイト】">
            <a:extLst>
              <a:ext uri="{FF2B5EF4-FFF2-40B4-BE49-F238E27FC236}">
                <a16:creationId xmlns:a16="http://schemas.microsoft.com/office/drawing/2014/main" id="{4188148E-7DF7-F9AF-9A08-9DF94B9B6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914400"/>
            <a:ext cx="3655061" cy="2059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スマホとゲーム機どっちで遊ぶ？#47】スマホ版は無料＆縦横表示を選択可能！あと1回では終われない『Vampire Survivors（ヴァンパイア・ サバイバーズ）』 | ファミ通App【スマホゲーム情報サイト】">
            <a:extLst>
              <a:ext uri="{FF2B5EF4-FFF2-40B4-BE49-F238E27FC236}">
                <a16:creationId xmlns:a16="http://schemas.microsoft.com/office/drawing/2014/main" id="{5C5C4AA6-DB43-D55D-236C-5453BA580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684939"/>
            <a:ext cx="5715000" cy="263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7217" y="609600"/>
            <a:ext cx="8457565" cy="1445267"/>
          </a:xfrm>
          <a:prstGeom prst="rect">
            <a:avLst/>
          </a:prstGeom>
          <a:ln w="38100">
            <a:solidFill>
              <a:srgbClr val="FFFFFF"/>
            </a:solidFill>
          </a:ln>
        </p:spPr>
        <p:txBody>
          <a:bodyPr vert="horz" wrap="square" lIns="0" tIns="212090" rIns="0" bIns="0" rtlCol="0">
            <a:spAutoFit/>
          </a:bodyPr>
          <a:lstStyle/>
          <a:p>
            <a:pPr marL="1707514" marR="584200" indent="-1120775" algn="l">
              <a:lnSpc>
                <a:spcPts val="4750"/>
              </a:lnSpc>
              <a:spcBef>
                <a:spcPts val="1670"/>
              </a:spcBef>
            </a:pPr>
            <a:r>
              <a:rPr lang="ja-JP" altLang="en-US" u="heavy" spc="-5" dirty="0">
                <a:uFill>
                  <a:solidFill>
                    <a:srgbClr val="FFFFFF"/>
                  </a:solidFill>
                </a:uFill>
              </a:rPr>
              <a:t>この</a:t>
            </a:r>
            <a:r>
              <a:rPr u="heavy" spc="-5" dirty="0" err="1">
                <a:uFill>
                  <a:solidFill>
                    <a:srgbClr val="FFFFFF"/>
                  </a:solidFill>
                </a:uFill>
              </a:rPr>
              <a:t>ゲームを作成するう</a:t>
            </a:r>
            <a:r>
              <a:rPr lang="ja-JP" altLang="en-US" u="heavy" spc="-5" dirty="0">
                <a:uFill>
                  <a:solidFill>
                    <a:srgbClr val="FFFFFF"/>
                  </a:solidFill>
                </a:uFill>
              </a:rPr>
              <a:t>えで</a:t>
            </a:r>
            <a:r>
              <a:rPr lang="ja-JP" altLang="en-US" u="heavy" spc="-10" dirty="0">
                <a:uFill>
                  <a:solidFill>
                    <a:srgbClr val="FFFFFF"/>
                  </a:solidFill>
                </a:uFill>
              </a:rPr>
              <a:t>大事にしたいこと</a:t>
            </a:r>
            <a:endParaRPr u="heavy" spc="-10" dirty="0"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010C25A-082A-556F-570D-8A6F63D98806}"/>
              </a:ext>
            </a:extLst>
          </p:cNvPr>
          <p:cNvSpPr/>
          <p:nvPr/>
        </p:nvSpPr>
        <p:spPr>
          <a:xfrm>
            <a:off x="1143000" y="2669533"/>
            <a:ext cx="2704783" cy="685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ja-JP" altLang="en-US" dirty="0">
                <a:ln>
                  <a:solidFill>
                    <a:schemeClr val="bg1"/>
                  </a:solidFill>
                </a:ln>
              </a:rPr>
              <a:t>１．重たくならない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659" y="437133"/>
            <a:ext cx="22631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-15" dirty="0"/>
              <a:t>技術選定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2338" y="1455204"/>
            <a:ext cx="11021060" cy="1007135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563880" marR="3319779" indent="-358140">
              <a:lnSpc>
                <a:spcPct val="119600"/>
              </a:lnSpc>
              <a:spcBef>
                <a:spcPts val="325"/>
              </a:spcBef>
            </a:pPr>
            <a:r>
              <a:rPr lang="ja-JP" altLang="en-US" sz="2800" spc="-35" dirty="0">
                <a:solidFill>
                  <a:srgbClr val="FFFFFF"/>
                </a:solidFill>
                <a:latin typeface="MS Gothic"/>
                <a:cs typeface="MS Gothic"/>
              </a:rPr>
              <a:t>こ</a:t>
            </a:r>
            <a:r>
              <a:rPr sz="2800" spc="-35" dirty="0" err="1">
                <a:solidFill>
                  <a:srgbClr val="FFFFFF"/>
                </a:solidFill>
                <a:latin typeface="MS Gothic"/>
                <a:cs typeface="MS Gothic"/>
              </a:rPr>
              <a:t>のゲームで一番大事だと思っている技術は、フレームレートとロードだと思っています</a:t>
            </a:r>
            <a:r>
              <a:rPr sz="2800" spc="-35" dirty="0">
                <a:solidFill>
                  <a:srgbClr val="FFFFFF"/>
                </a:solidFill>
                <a:latin typeface="MS Gothic"/>
                <a:cs typeface="MS Gothic"/>
              </a:rPr>
              <a:t>。</a:t>
            </a:r>
            <a:endParaRPr sz="2800" dirty="0">
              <a:latin typeface="MS Gothic"/>
              <a:cs typeface="MS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2338" y="4166933"/>
            <a:ext cx="11021060" cy="2358390"/>
          </a:xfrm>
          <a:custGeom>
            <a:avLst/>
            <a:gdLst/>
            <a:ahLst/>
            <a:cxnLst/>
            <a:rect l="l" t="t" r="r" b="b"/>
            <a:pathLst>
              <a:path w="11021060" h="2358390">
                <a:moveTo>
                  <a:pt x="0" y="2357881"/>
                </a:moveTo>
                <a:lnTo>
                  <a:pt x="11020679" y="2357881"/>
                </a:lnTo>
                <a:lnTo>
                  <a:pt x="11020679" y="0"/>
                </a:lnTo>
                <a:lnTo>
                  <a:pt x="0" y="0"/>
                </a:lnTo>
                <a:lnTo>
                  <a:pt x="0" y="2357881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6851" y="3524250"/>
            <a:ext cx="11080115" cy="2741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800" spc="-40" dirty="0">
                <a:solidFill>
                  <a:srgbClr val="FFFFFF"/>
                </a:solidFill>
                <a:latin typeface="MS Gothic"/>
                <a:cs typeface="MS Gothic"/>
              </a:rPr>
              <a:t>フレームレートのための技術</a:t>
            </a:r>
            <a:endParaRPr sz="2800" dirty="0">
              <a:latin typeface="MS Gothic"/>
              <a:cs typeface="MS Gothic"/>
            </a:endParaRPr>
          </a:p>
          <a:p>
            <a:pPr marL="260985">
              <a:lnSpc>
                <a:spcPct val="100000"/>
              </a:lnSpc>
              <a:spcBef>
                <a:spcPts val="2590"/>
              </a:spcBef>
            </a:pPr>
            <a:r>
              <a:rPr sz="2800" spc="-35" dirty="0">
                <a:solidFill>
                  <a:srgbClr val="FFFFFF"/>
                </a:solidFill>
                <a:latin typeface="MS Gothic"/>
                <a:cs typeface="MS Gothic"/>
              </a:rPr>
              <a:t>コンピュートシェーダーでメッシュレット、</a:t>
            </a:r>
            <a:endParaRPr sz="2800" dirty="0">
              <a:latin typeface="MS Gothic"/>
              <a:cs typeface="MS Gothic"/>
            </a:endParaRPr>
          </a:p>
          <a:p>
            <a:pPr marL="260985" marR="1637030">
              <a:lnSpc>
                <a:spcPct val="119600"/>
              </a:lnSpc>
              <a:spcBef>
                <a:spcPts val="5"/>
              </a:spcBef>
            </a:pPr>
            <a:r>
              <a:rPr sz="2800" spc="-30" dirty="0">
                <a:solidFill>
                  <a:srgbClr val="FFFFFF"/>
                </a:solidFill>
                <a:latin typeface="MS Gothic"/>
                <a:cs typeface="MS Gothic"/>
              </a:rPr>
              <a:t>描画マネージャーでバッチ処理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2800" spc="-30" dirty="0">
                <a:solidFill>
                  <a:srgbClr val="FFFFFF"/>
                </a:solidFill>
                <a:latin typeface="MS Gothic"/>
                <a:cs typeface="MS Gothic"/>
              </a:rPr>
              <a:t>インスタンシングの予定</a:t>
            </a:r>
            <a:r>
              <a:rPr sz="28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800" spc="-40" dirty="0">
                <a:solidFill>
                  <a:srgbClr val="FFFFFF"/>
                </a:solidFill>
                <a:latin typeface="MS Gothic"/>
                <a:cs typeface="MS Gothic"/>
              </a:rPr>
              <a:t>フラスタムカリングを実装したいと思っています。</a:t>
            </a:r>
            <a:endParaRPr sz="2800" dirty="0">
              <a:latin typeface="MS Gothic"/>
              <a:cs typeface="MS Gothic"/>
            </a:endParaRPr>
          </a:p>
          <a:p>
            <a:pPr marL="260985">
              <a:lnSpc>
                <a:spcPct val="100000"/>
              </a:lnSpc>
              <a:spcBef>
                <a:spcPts val="670"/>
              </a:spcBef>
            </a:pPr>
            <a:r>
              <a:rPr sz="2800" spc="-30" dirty="0">
                <a:solidFill>
                  <a:srgbClr val="FFFFFF"/>
                </a:solidFill>
                <a:latin typeface="MS Gothic"/>
                <a:cs typeface="MS Gothic"/>
              </a:rPr>
              <a:t>もし、❦れでも重たい場合</a:t>
            </a:r>
            <a:r>
              <a:rPr sz="2800" b="1" spc="-30" dirty="0">
                <a:solidFill>
                  <a:srgbClr val="FFFFFF"/>
                </a:solidFill>
                <a:latin typeface="Arial"/>
                <a:cs typeface="Arial"/>
              </a:rPr>
              <a:t>(LOD)</a:t>
            </a:r>
            <a:r>
              <a:rPr sz="2800" spc="-80" dirty="0">
                <a:solidFill>
                  <a:srgbClr val="FFFFFF"/>
                </a:solidFill>
                <a:latin typeface="MS Gothic"/>
                <a:cs typeface="MS Gothic"/>
              </a:rPr>
              <a:t>を実装予定です。</a:t>
            </a:r>
            <a:r>
              <a:rPr sz="2100" spc="-15" baseline="-21825" dirty="0">
                <a:solidFill>
                  <a:srgbClr val="FFFFFF"/>
                </a:solidFill>
                <a:latin typeface="Arial MT"/>
                <a:cs typeface="Arial MT"/>
              </a:rPr>
              <a:t>LOD</a:t>
            </a:r>
            <a:r>
              <a:rPr sz="2100" spc="-30" baseline="-21825" dirty="0">
                <a:solidFill>
                  <a:srgbClr val="FFFFFF"/>
                </a:solidFill>
                <a:latin typeface="MS Gothic"/>
                <a:cs typeface="MS Gothic"/>
              </a:rPr>
              <a:t>の勉✲はまだできていません</a:t>
            </a:r>
            <a:endParaRPr sz="2100" baseline="-21825" dirty="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659" y="437133"/>
            <a:ext cx="22631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-15" dirty="0"/>
              <a:t>技術選定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7921" y="2850133"/>
            <a:ext cx="11021060" cy="1850389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205740" marR="822960">
              <a:lnSpc>
                <a:spcPct val="119700"/>
              </a:lnSpc>
              <a:spcBef>
                <a:spcPts val="320"/>
              </a:spcBef>
            </a:pPr>
            <a:r>
              <a:rPr sz="2800" spc="-35" dirty="0">
                <a:solidFill>
                  <a:srgbClr val="FFFFFF"/>
                </a:solidFill>
                <a:latin typeface="MS Gothic"/>
                <a:cs typeface="MS Gothic"/>
              </a:rPr>
              <a:t>自作モデルフォーマットを作成して、バイナリーデータで持つ</a:t>
            </a:r>
            <a:r>
              <a:rPr sz="2800" spc="-15" dirty="0">
                <a:solidFill>
                  <a:srgbClr val="FFFFFF"/>
                </a:solidFill>
                <a:latin typeface="MS Gothic"/>
                <a:cs typeface="MS Gothic"/>
              </a:rPr>
              <a:t>スレッド処理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2800" spc="-35" dirty="0">
                <a:solidFill>
                  <a:srgbClr val="FFFFFF"/>
                </a:solidFill>
                <a:latin typeface="MS Gothic"/>
                <a:cs typeface="MS Gothic"/>
              </a:rPr>
              <a:t>バッファの生成とオブジェクトロードを</a:t>
            </a:r>
            <a:endParaRPr sz="2800">
              <a:latin typeface="MS Gothic"/>
              <a:cs typeface="MS Gothic"/>
            </a:endParaRPr>
          </a:p>
          <a:p>
            <a:pPr marL="5422900">
              <a:lnSpc>
                <a:spcPts val="3025"/>
              </a:lnSpc>
            </a:pPr>
            <a:r>
              <a:rPr sz="2800" spc="-30" dirty="0">
                <a:solidFill>
                  <a:srgbClr val="FFFFFF"/>
                </a:solidFill>
                <a:latin typeface="MS Gothic"/>
                <a:cs typeface="MS Gothic"/>
              </a:rPr>
              <a:t>別スレッドで行うようにしたい</a:t>
            </a:r>
            <a:r>
              <a:rPr sz="28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5109" y="2207132"/>
            <a:ext cx="42913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40" dirty="0">
                <a:solidFill>
                  <a:srgbClr val="FFFFFF"/>
                </a:solidFill>
                <a:latin typeface="MS Gothic"/>
                <a:cs typeface="MS Gothic"/>
              </a:rPr>
              <a:t>ロード最適化のための技術</a:t>
            </a:r>
            <a:endParaRPr sz="2800">
              <a:latin typeface="MS Gothic"/>
              <a:cs typeface="MS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93970" y="2459227"/>
            <a:ext cx="26936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solidFill>
                  <a:srgbClr val="FFFFFF"/>
                </a:solidFill>
                <a:latin typeface="MS Gothic"/>
                <a:cs typeface="MS Gothic"/>
              </a:rPr>
              <a:t>❦ちらは全然勉✲できていません</a:t>
            </a:r>
            <a:endParaRPr sz="14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7535" y="2172970"/>
            <a:ext cx="8457565" cy="1631950"/>
          </a:xfrm>
          <a:prstGeom prst="rect">
            <a:avLst/>
          </a:prstGeom>
          <a:ln w="38100">
            <a:solidFill>
              <a:srgbClr val="FFFFFF"/>
            </a:solidFill>
          </a:ln>
        </p:spPr>
        <p:txBody>
          <a:bodyPr vert="horz" wrap="square" lIns="0" tIns="267335" rIns="0" bIns="0" rtlCol="0">
            <a:spAutoFit/>
          </a:bodyPr>
          <a:lstStyle/>
          <a:p>
            <a:pPr marL="1681480" marR="151130" indent="-1529080">
              <a:lnSpc>
                <a:spcPts val="4320"/>
              </a:lnSpc>
              <a:spcBef>
                <a:spcPts val="2105"/>
              </a:spcBef>
            </a:pPr>
            <a:r>
              <a:rPr sz="4000" u="heavy" spc="-45" dirty="0">
                <a:uFill>
                  <a:solidFill>
                    <a:srgbClr val="FFFFFF"/>
                  </a:solidFill>
                </a:uFill>
              </a:rPr>
              <a:t>今制作している描画マネージャーの</a:t>
            </a:r>
            <a:r>
              <a:rPr sz="4000" u="heavy" spc="1000" dirty="0">
                <a:uFill>
                  <a:solidFill>
                    <a:srgbClr val="FFFFFF"/>
                  </a:solidFill>
                </a:uFill>
              </a:rPr>
              <a:t>            </a:t>
            </a:r>
            <a:r>
              <a:rPr sz="4000" u="heavy" spc="-40" dirty="0">
                <a:uFill>
                  <a:solidFill>
                    <a:srgbClr val="FFFFFF"/>
                  </a:solidFill>
                </a:uFill>
              </a:rPr>
              <a:t>アピールポイント紹介</a:t>
            </a:r>
            <a:endParaRPr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603884"/>
            <a:ext cx="72885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プラットフォーム非依存設計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2134075"/>
            <a:ext cx="9776460" cy="394906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200" spc="-35" dirty="0">
                <a:solidFill>
                  <a:srgbClr val="FFFFFF"/>
                </a:solidFill>
                <a:latin typeface="MS Gothic"/>
                <a:cs typeface="MS Gothic"/>
              </a:rPr>
              <a:t>プラットフォーム固有の要素をラッパー構造体として定義する❦とで、</a:t>
            </a:r>
            <a:endParaRPr sz="22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35" dirty="0">
                <a:solidFill>
                  <a:srgbClr val="FFFFFF"/>
                </a:solidFill>
                <a:latin typeface="MS Gothic"/>
                <a:cs typeface="MS Gothic"/>
              </a:rPr>
              <a:t>プラットフォームが変更されても</a:t>
            </a:r>
            <a:endParaRPr sz="22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spc="-20" dirty="0">
                <a:solidFill>
                  <a:srgbClr val="FFFFFF"/>
                </a:solidFill>
                <a:latin typeface="MS Gothic"/>
                <a:cs typeface="MS Gothic"/>
              </a:rPr>
              <a:t>ゲーム基盤</a:t>
            </a:r>
            <a:r>
              <a:rPr sz="2200" spc="-25" dirty="0">
                <a:solidFill>
                  <a:srgbClr val="FFFFFF"/>
                </a:solidFill>
                <a:latin typeface="MS Gothic"/>
                <a:cs typeface="MS Gothic"/>
              </a:rPr>
              <a:t>（</a:t>
            </a:r>
            <a:r>
              <a:rPr sz="2200" spc="-25" dirty="0">
                <a:solidFill>
                  <a:srgbClr val="FFFFFF"/>
                </a:solidFill>
                <a:latin typeface="Arial MT"/>
                <a:cs typeface="Arial MT"/>
              </a:rPr>
              <a:t>GameMain</a:t>
            </a:r>
            <a:r>
              <a:rPr sz="2200" spc="-25" dirty="0">
                <a:solidFill>
                  <a:srgbClr val="FFFFFF"/>
                </a:solidFill>
                <a:latin typeface="MS Gothic"/>
                <a:cs typeface="MS Gothic"/>
              </a:rPr>
              <a:t>）</a:t>
            </a:r>
            <a:r>
              <a:rPr sz="2200" spc="-35" dirty="0">
                <a:solidFill>
                  <a:srgbClr val="FFFFFF"/>
                </a:solidFill>
                <a:latin typeface="MS Gothic"/>
                <a:cs typeface="MS Gothic"/>
              </a:rPr>
              <a:t>を改修せずに動作させる❦とを可能にしています。</a:t>
            </a:r>
            <a:endParaRPr sz="2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22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spc="-35" dirty="0">
                <a:solidFill>
                  <a:srgbClr val="FFFFFF"/>
                </a:solidFill>
                <a:latin typeface="MS Gothic"/>
                <a:cs typeface="MS Gothic"/>
              </a:rPr>
              <a:t>計算用構造体は共通のデータ形式を保持し、</a:t>
            </a:r>
            <a:endParaRPr sz="22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35" dirty="0">
                <a:solidFill>
                  <a:srgbClr val="FFFFFF"/>
                </a:solidFill>
                <a:latin typeface="MS Gothic"/>
                <a:cs typeface="MS Gothic"/>
              </a:rPr>
              <a:t>処理部分をプラットフォーム依存として分離する❦とで、</a:t>
            </a:r>
            <a:endParaRPr sz="2200">
              <a:latin typeface="MS Gothic"/>
              <a:cs typeface="MS Gothic"/>
            </a:endParaRPr>
          </a:p>
          <a:p>
            <a:pPr marL="12700" marR="4448810">
              <a:lnSpc>
                <a:spcPct val="105000"/>
              </a:lnSpc>
            </a:pPr>
            <a:r>
              <a:rPr sz="2200" spc="-35" dirty="0">
                <a:solidFill>
                  <a:srgbClr val="FFFFFF"/>
                </a:solidFill>
                <a:latin typeface="MS Gothic"/>
                <a:cs typeface="MS Gothic"/>
              </a:rPr>
              <a:t>各プラットフォームに最適化された実装へ容易に切り替えられる設計としています。</a:t>
            </a:r>
            <a:endParaRPr sz="2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2490"/>
              </a:spcBef>
            </a:pPr>
            <a:endParaRPr sz="22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</a:pPr>
            <a:r>
              <a:rPr sz="2200" spc="-35" dirty="0">
                <a:solidFill>
                  <a:srgbClr val="FFFFFF"/>
                </a:solidFill>
                <a:latin typeface="MS Gothic"/>
                <a:cs typeface="MS Gothic"/>
              </a:rPr>
              <a:t>入力情報なども同じように制作予定です。</a:t>
            </a:r>
            <a:endParaRPr sz="2200">
              <a:latin typeface="MS Gothic"/>
              <a:cs typeface="MS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4930" y="3271240"/>
            <a:ext cx="2640329" cy="33850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603884"/>
            <a:ext cx="72885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プラットフォーム非依存設計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697" y="1665280"/>
            <a:ext cx="11824970" cy="3581400"/>
          </a:xfrm>
          <a:prstGeom prst="rect">
            <a:avLst/>
          </a:prstGeom>
        </p:spPr>
        <p:txBody>
          <a:bodyPr vert="horz" wrap="square" lIns="0" tIns="220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400" spc="-5" dirty="0">
                <a:solidFill>
                  <a:srgbClr val="FFFFFF"/>
                </a:solidFill>
                <a:latin typeface="MS Gothic"/>
                <a:cs typeface="MS Gothic"/>
              </a:rPr>
              <a:t>描画マネージャーは基底クラスを抽象インターフェイスとして定義し、</a:t>
            </a:r>
            <a:endParaRPr sz="24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635"/>
              </a:spcBef>
            </a:pP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GameMain</a:t>
            </a:r>
            <a:r>
              <a:rPr sz="2400" dirty="0">
                <a:solidFill>
                  <a:srgbClr val="FFFFFF"/>
                </a:solidFill>
                <a:latin typeface="MS Gothic"/>
                <a:cs typeface="MS Gothic"/>
              </a:rPr>
              <a:t>が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DirectX</a:t>
            </a:r>
            <a:r>
              <a:rPr sz="2400" spc="-5" dirty="0">
                <a:solidFill>
                  <a:srgbClr val="FFFFFF"/>
                </a:solidFill>
                <a:latin typeface="MS Gothic"/>
                <a:cs typeface="MS Gothic"/>
              </a:rPr>
              <a:t>などの具体的な実装を意識せずに動作できるようにしています。</a:t>
            </a:r>
            <a:endParaRPr sz="24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2640"/>
              </a:spcBef>
            </a:pPr>
            <a:endParaRPr sz="2400">
              <a:latin typeface="MS Gothic"/>
              <a:cs typeface="MS Gothic"/>
            </a:endParaRPr>
          </a:p>
          <a:p>
            <a:pPr marL="12700" marR="5708015">
              <a:lnSpc>
                <a:spcPct val="114999"/>
              </a:lnSpc>
            </a:pPr>
            <a:r>
              <a:rPr sz="2400" spc="-5" dirty="0">
                <a:solidFill>
                  <a:srgbClr val="FFFFFF"/>
                </a:solidFill>
                <a:latin typeface="MS Gothic"/>
                <a:cs typeface="MS Gothic"/>
              </a:rPr>
              <a:t>プラットフォームごとに描画マネージャーを</a:t>
            </a:r>
            <a:r>
              <a:rPr sz="2400" dirty="0">
                <a:solidFill>
                  <a:srgbClr val="FFFFFF"/>
                </a:solidFill>
                <a:latin typeface="MS Gothic"/>
                <a:cs typeface="MS Gothic"/>
              </a:rPr>
              <a:t>変更する仕組みにし、新しい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2400" spc="-50" dirty="0">
                <a:solidFill>
                  <a:srgbClr val="FFFFFF"/>
                </a:solidFill>
                <a:latin typeface="MS Gothic"/>
                <a:cs typeface="MS Gothic"/>
              </a:rPr>
              <a:t>を</a:t>
            </a:r>
            <a:endParaRPr sz="24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400" spc="-5" dirty="0">
                <a:solidFill>
                  <a:srgbClr val="FFFFFF"/>
                </a:solidFill>
                <a:latin typeface="MS Gothic"/>
                <a:cs typeface="MS Gothic"/>
              </a:rPr>
              <a:t>追加する際も、既存のゲーム基盤を</a:t>
            </a:r>
            <a:endParaRPr sz="24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400" spc="-5" dirty="0">
                <a:solidFill>
                  <a:srgbClr val="FFFFFF"/>
                </a:solidFill>
                <a:latin typeface="MS Gothic"/>
                <a:cs typeface="MS Gothic"/>
              </a:rPr>
              <a:t>改修せずに拡張できる設計になっています。</a:t>
            </a:r>
            <a:endParaRPr sz="2400">
              <a:latin typeface="MS Gothic"/>
              <a:cs typeface="MS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5473" y="2996298"/>
            <a:ext cx="4423156" cy="37150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671" y="482041"/>
            <a:ext cx="84042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リソース管理とマネージャー構成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5985" y="1708149"/>
            <a:ext cx="7132955" cy="39789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spc="-40" dirty="0">
                <a:solidFill>
                  <a:srgbClr val="FFFFFF"/>
                </a:solidFill>
                <a:latin typeface="MS Gothic"/>
                <a:cs typeface="MS Gothic"/>
              </a:rPr>
              <a:t>同じリソースを重複して作成しないように</a:t>
            </a:r>
            <a:r>
              <a:rPr sz="2800" spc="-50" dirty="0">
                <a:solidFill>
                  <a:srgbClr val="FFFFFF"/>
                </a:solidFill>
                <a:latin typeface="MS Gothic"/>
                <a:cs typeface="MS Gothic"/>
              </a:rPr>
              <a:t> </a:t>
            </a:r>
            <a:r>
              <a:rPr sz="2800" spc="-40" dirty="0">
                <a:solidFill>
                  <a:srgbClr val="FFFFFF"/>
                </a:solidFill>
                <a:latin typeface="MS Gothic"/>
                <a:cs typeface="MS Gothic"/>
              </a:rPr>
              <a:t>名前をキーにして保持する設計しています。</a:t>
            </a:r>
            <a:endParaRPr sz="28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450"/>
              </a:spcBef>
            </a:pPr>
            <a:endParaRPr sz="2800">
              <a:latin typeface="MS Gothic"/>
              <a:cs typeface="MS Gothic"/>
            </a:endParaRPr>
          </a:p>
          <a:p>
            <a:pPr marL="12700" marR="2136140">
              <a:lnSpc>
                <a:spcPts val="3020"/>
              </a:lnSpc>
            </a:pPr>
            <a:r>
              <a:rPr sz="2800" spc="-40" dirty="0">
                <a:solidFill>
                  <a:srgbClr val="FFFFFF"/>
                </a:solidFill>
                <a:latin typeface="MS Gothic"/>
                <a:cs typeface="MS Gothic"/>
              </a:rPr>
              <a:t>リソースごとにマネージャーを作成して管理させています。</a:t>
            </a:r>
            <a:endParaRPr sz="28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2800">
              <a:latin typeface="MS Gothic"/>
              <a:cs typeface="MS Gothic"/>
            </a:endParaRPr>
          </a:p>
          <a:p>
            <a:pPr marL="12700">
              <a:lnSpc>
                <a:spcPts val="3190"/>
              </a:lnSpc>
            </a:pPr>
            <a:r>
              <a:rPr sz="2800" spc="-40" dirty="0">
                <a:solidFill>
                  <a:srgbClr val="FFFFFF"/>
                </a:solidFill>
                <a:latin typeface="MS Gothic"/>
                <a:cs typeface="MS Gothic"/>
              </a:rPr>
              <a:t>一度作成したリソースを</a:t>
            </a:r>
            <a:endParaRPr sz="2800">
              <a:latin typeface="MS Gothic"/>
              <a:cs typeface="MS Gothic"/>
            </a:endParaRPr>
          </a:p>
          <a:p>
            <a:pPr marL="12700" marR="1781175">
              <a:lnSpc>
                <a:spcPts val="3020"/>
              </a:lnSpc>
              <a:spcBef>
                <a:spcPts val="215"/>
              </a:spcBef>
            </a:pPr>
            <a:r>
              <a:rPr sz="2800" spc="-40" dirty="0">
                <a:solidFill>
                  <a:srgbClr val="FFFFFF"/>
                </a:solidFill>
                <a:latin typeface="MS Gothic"/>
                <a:cs typeface="MS Gothic"/>
              </a:rPr>
              <a:t>再利用させて、不必要なメモリを取らないようにしています。</a:t>
            </a:r>
            <a:endParaRPr sz="2800">
              <a:latin typeface="MS Gothic"/>
              <a:cs typeface="MS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4940" y="2611498"/>
            <a:ext cx="5503672" cy="42464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671" y="482041"/>
            <a:ext cx="39363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描画処理の流れ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7432" y="1355597"/>
            <a:ext cx="1517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GameMain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0416" y="1719833"/>
            <a:ext cx="327660" cy="79375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2400" spc="-965" dirty="0">
                <a:solidFill>
                  <a:srgbClr val="FFFFFF"/>
                </a:solidFill>
                <a:latin typeface="Arial MT"/>
                <a:cs typeface="Arial MT"/>
              </a:rPr>
              <a:t>│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▼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7432" y="2504389"/>
            <a:ext cx="4629785" cy="192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BaseDrawManager</a:t>
            </a:r>
            <a:r>
              <a:rPr sz="2400" spc="-25" dirty="0">
                <a:solidFill>
                  <a:srgbClr val="FFFFFF"/>
                </a:solidFill>
                <a:latin typeface="MS Gothic"/>
                <a:cs typeface="MS Gothic"/>
              </a:rPr>
              <a:t>（</a:t>
            </a:r>
            <a:r>
              <a:rPr sz="2400" spc="-10" dirty="0">
                <a:solidFill>
                  <a:srgbClr val="FFFFFF"/>
                </a:solidFill>
                <a:latin typeface="MS Gothic"/>
                <a:cs typeface="MS Gothic"/>
              </a:rPr>
              <a:t>抽象層</a:t>
            </a:r>
            <a:r>
              <a:rPr sz="2400" spc="-50" dirty="0">
                <a:solidFill>
                  <a:srgbClr val="FFFFFF"/>
                </a:solidFill>
                <a:latin typeface="MS Gothic"/>
                <a:cs typeface="MS Gothic"/>
              </a:rPr>
              <a:t>）</a:t>
            </a:r>
            <a:endParaRPr sz="2400">
              <a:latin typeface="MS Gothic"/>
              <a:cs typeface="MS Gothic"/>
            </a:endParaRPr>
          </a:p>
          <a:p>
            <a:pPr marL="265430">
              <a:lnSpc>
                <a:spcPct val="100000"/>
              </a:lnSpc>
              <a:spcBef>
                <a:spcPts val="135"/>
              </a:spcBef>
            </a:pPr>
            <a:r>
              <a:rPr sz="2400" spc="-965" dirty="0">
                <a:solidFill>
                  <a:srgbClr val="FFFFFF"/>
                </a:solidFill>
                <a:latin typeface="Arial MT"/>
                <a:cs typeface="Arial MT"/>
              </a:rPr>
              <a:t>│</a:t>
            </a:r>
            <a:endParaRPr sz="24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145"/>
              </a:spcBef>
            </a:pP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▼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DirectX_DrawManager</a:t>
            </a:r>
            <a:r>
              <a:rPr sz="2400" spc="-20" dirty="0">
                <a:solidFill>
                  <a:srgbClr val="FFFFFF"/>
                </a:solidFill>
                <a:latin typeface="MS Gothic"/>
                <a:cs typeface="MS Gothic"/>
              </a:rPr>
              <a:t>（</a:t>
            </a:r>
            <a:r>
              <a:rPr sz="2400" spc="-10" dirty="0">
                <a:solidFill>
                  <a:srgbClr val="FFFFFF"/>
                </a:solidFill>
                <a:latin typeface="MS Gothic"/>
                <a:cs typeface="MS Gothic"/>
              </a:rPr>
              <a:t>実装層</a:t>
            </a:r>
            <a:r>
              <a:rPr sz="2400" spc="-50" dirty="0">
                <a:solidFill>
                  <a:srgbClr val="FFFFFF"/>
                </a:solidFill>
                <a:latin typeface="MS Gothic"/>
                <a:cs typeface="MS Gothic"/>
              </a:rPr>
              <a:t>）</a:t>
            </a:r>
            <a:endParaRPr sz="2400">
              <a:latin typeface="MS Gothic"/>
              <a:cs typeface="MS Gothic"/>
            </a:endParaRPr>
          </a:p>
          <a:p>
            <a:pPr marL="265430">
              <a:lnSpc>
                <a:spcPct val="100000"/>
              </a:lnSpc>
              <a:spcBef>
                <a:spcPts val="135"/>
              </a:spcBef>
            </a:pPr>
            <a:r>
              <a:rPr sz="2400" spc="-965" dirty="0">
                <a:solidFill>
                  <a:srgbClr val="FFFFFF"/>
                </a:solidFill>
                <a:latin typeface="Arial MT"/>
                <a:cs typeface="Arial MT"/>
              </a:rPr>
              <a:t>│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0416" y="4420870"/>
            <a:ext cx="7108190" cy="1923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15" dirty="0">
                <a:solidFill>
                  <a:srgbClr val="FFFFFF"/>
                </a:solidFill>
                <a:latin typeface="Arial MT"/>
                <a:cs typeface="Arial MT"/>
              </a:rPr>
              <a:t>├──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ShaderManager(</a:t>
            </a:r>
            <a:r>
              <a:rPr sz="2400" dirty="0">
                <a:solidFill>
                  <a:srgbClr val="FFFFFF"/>
                </a:solidFill>
                <a:latin typeface="MS Gothic"/>
                <a:cs typeface="MS Gothic"/>
              </a:rPr>
              <a:t>リフレクション情報を取得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-480" dirty="0">
                <a:solidFill>
                  <a:srgbClr val="FFFFFF"/>
                </a:solidFill>
                <a:latin typeface="Arial MT"/>
                <a:cs typeface="Arial MT"/>
              </a:rPr>
              <a:t>├──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ConstantBufferManager(Shader</a:t>
            </a:r>
            <a:r>
              <a:rPr sz="2400" dirty="0">
                <a:solidFill>
                  <a:srgbClr val="FFFFFF"/>
                </a:solidFill>
                <a:latin typeface="MS Gothic"/>
                <a:cs typeface="MS Gothic"/>
              </a:rPr>
              <a:t>から名前検索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-490" dirty="0">
                <a:solidFill>
                  <a:srgbClr val="FFFFFF"/>
                </a:solidFill>
                <a:latin typeface="Arial MT"/>
                <a:cs typeface="Arial MT"/>
              </a:rPr>
              <a:t>├──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VertexBufferManager</a:t>
            </a:r>
            <a:r>
              <a:rPr sz="2400" spc="-20" dirty="0">
                <a:solidFill>
                  <a:srgbClr val="FFFFFF"/>
                </a:solidFill>
                <a:latin typeface="MS Gothic"/>
                <a:cs typeface="MS Gothic"/>
              </a:rPr>
              <a:t>（</a:t>
            </a:r>
            <a:r>
              <a:rPr sz="2400" spc="-10" dirty="0">
                <a:solidFill>
                  <a:srgbClr val="FFFFFF"/>
                </a:solidFill>
                <a:latin typeface="MS Gothic"/>
                <a:cs typeface="MS Gothic"/>
              </a:rPr>
              <a:t>頂点シェーダ名で検索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2400" spc="-535" dirty="0">
                <a:solidFill>
                  <a:srgbClr val="FFFFFF"/>
                </a:solidFill>
                <a:latin typeface="Arial MT"/>
                <a:cs typeface="Arial MT"/>
              </a:rPr>
              <a:t>└──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ViewManager</a:t>
            </a:r>
            <a:r>
              <a:rPr sz="2400" spc="-20" dirty="0">
                <a:solidFill>
                  <a:srgbClr val="FFFFFF"/>
                </a:solidFill>
                <a:latin typeface="MS Gothic"/>
                <a:cs typeface="MS Gothic"/>
              </a:rPr>
              <a:t>（</a:t>
            </a:r>
            <a:r>
              <a:rPr sz="2400" dirty="0">
                <a:solidFill>
                  <a:srgbClr val="FFFFFF"/>
                </a:solidFill>
                <a:latin typeface="MS Gothic"/>
                <a:cs typeface="MS Gothic"/>
              </a:rPr>
              <a:t>テクスチャ名から取得</a:t>
            </a:r>
            <a:r>
              <a:rPr sz="2400" spc="-50" dirty="0">
                <a:solidFill>
                  <a:srgbClr val="FFFFFF"/>
                </a:solidFill>
                <a:latin typeface="MS Gothic"/>
                <a:cs typeface="MS Gothic"/>
              </a:rPr>
              <a:t>）</a:t>
            </a:r>
            <a:endParaRPr sz="24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-720" dirty="0">
                <a:solidFill>
                  <a:srgbClr val="FFFFFF"/>
                </a:solidFill>
                <a:latin typeface="Arial MT"/>
                <a:cs typeface="Arial MT"/>
              </a:rPr>
              <a:t>└──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TextureManager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15560" y="886764"/>
            <a:ext cx="7576820" cy="647065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GameMain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MS Gothic"/>
                <a:cs typeface="MS Gothic"/>
              </a:rPr>
              <a:t>から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MS Gothic"/>
                <a:cs typeface="MS Gothic"/>
              </a:rPr>
              <a:t>非依存の描画命令を送信</a:t>
            </a:r>
            <a:endParaRPr sz="1800">
              <a:latin typeface="MS Gothic"/>
              <a:cs typeface="MS Gothic"/>
            </a:endParaRPr>
          </a:p>
          <a:p>
            <a:pPr marL="9207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MS Gothic"/>
                <a:cs typeface="MS Gothic"/>
              </a:rPr>
              <a:t>❦の流れを共通化し、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1800" spc="-15" dirty="0">
                <a:solidFill>
                  <a:srgbClr val="FFFFFF"/>
                </a:solidFill>
                <a:latin typeface="MS Gothic"/>
                <a:cs typeface="MS Gothic"/>
              </a:rPr>
              <a:t>差し替えを容易にできるように設計しました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5511" y="2967240"/>
            <a:ext cx="5614670" cy="923925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2075" marR="256540">
              <a:lnSpc>
                <a:spcPct val="100000"/>
              </a:lnSpc>
              <a:spcBef>
                <a:spcPts val="330"/>
              </a:spcBef>
            </a:pPr>
            <a:r>
              <a:rPr sz="1800" spc="-5" dirty="0">
                <a:solidFill>
                  <a:srgbClr val="FFFFFF"/>
                </a:solidFill>
                <a:latin typeface="MS Gothic"/>
                <a:cs typeface="MS Gothic"/>
              </a:rPr>
              <a:t>現在は、描画に必要な名前を引数で渡しているが、</a:t>
            </a:r>
            <a:r>
              <a:rPr sz="1800" dirty="0">
                <a:solidFill>
                  <a:srgbClr val="FFFFFF"/>
                </a:solidFill>
                <a:latin typeface="MS Gothic"/>
                <a:cs typeface="MS Gothic"/>
              </a:rPr>
              <a:t>将来的には、描画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ID</a:t>
            </a:r>
            <a:r>
              <a:rPr sz="1800" spc="-5" dirty="0">
                <a:solidFill>
                  <a:srgbClr val="FFFFFF"/>
                </a:solidFill>
                <a:latin typeface="MS Gothic"/>
                <a:cs typeface="MS Gothic"/>
              </a:rPr>
              <a:t>で描画してオブジェクトが</a:t>
            </a:r>
            <a:endParaRPr sz="1800">
              <a:latin typeface="MS Gothic"/>
              <a:cs typeface="MS Gothic"/>
            </a:endParaRPr>
          </a:p>
          <a:p>
            <a:pPr marL="92075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MS Gothic"/>
                <a:cs typeface="MS Gothic"/>
              </a:rPr>
              <a:t>知らないようにしたいと思っています。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53083" y="1806917"/>
            <a:ext cx="3062605" cy="650875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91440" marR="219710">
              <a:lnSpc>
                <a:spcPts val="2060"/>
              </a:lnSpc>
              <a:spcBef>
                <a:spcPts val="935"/>
              </a:spcBef>
            </a:pPr>
            <a:r>
              <a:rPr sz="1800" spc="-5" dirty="0">
                <a:solidFill>
                  <a:srgbClr val="FFFFFF"/>
                </a:solidFill>
                <a:latin typeface="MS Gothic"/>
                <a:cs typeface="MS Gothic"/>
              </a:rPr>
              <a:t>シェーダー名、テクスチャ</a:t>
            </a:r>
            <a:r>
              <a:rPr sz="1800" spc="-10" dirty="0">
                <a:solidFill>
                  <a:srgbClr val="FFFFFF"/>
                </a:solidFill>
                <a:latin typeface="MS Gothic"/>
                <a:cs typeface="MS Gothic"/>
              </a:rPr>
              <a:t>名、モデル名を渡す</a:t>
            </a:r>
            <a:endParaRPr sz="18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シェーダーのリフレクション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5985" y="1509724"/>
            <a:ext cx="11420475" cy="2627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40" dirty="0">
                <a:solidFill>
                  <a:srgbClr val="FFFFFF"/>
                </a:solidFill>
                <a:latin typeface="MS Gothic"/>
                <a:cs typeface="MS Gothic"/>
              </a:rPr>
              <a:t>シェーダーリフレクションによる自動バインド設計</a:t>
            </a:r>
            <a:endParaRPr sz="28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2800">
              <a:latin typeface="MS Gothic"/>
              <a:cs typeface="MS Gothic"/>
            </a:endParaRPr>
          </a:p>
          <a:p>
            <a:pPr marL="12700">
              <a:lnSpc>
                <a:spcPts val="3190"/>
              </a:lnSpc>
            </a:pPr>
            <a:r>
              <a:rPr sz="2800" spc="-40" dirty="0">
                <a:solidFill>
                  <a:srgbClr val="FFFFFF"/>
                </a:solidFill>
                <a:latin typeface="MS Gothic"/>
                <a:cs typeface="MS Gothic"/>
              </a:rPr>
              <a:t>シェーダーファイルをリフレクション解析して、</a:t>
            </a:r>
            <a:endParaRPr sz="2800">
              <a:latin typeface="MS Gothic"/>
              <a:cs typeface="MS Gothic"/>
            </a:endParaRPr>
          </a:p>
          <a:p>
            <a:pPr marL="12700" marR="1091565">
              <a:lnSpc>
                <a:spcPts val="3030"/>
              </a:lnSpc>
              <a:spcBef>
                <a:spcPts val="204"/>
              </a:spcBef>
            </a:pPr>
            <a:r>
              <a:rPr sz="2800" spc="-40" dirty="0">
                <a:solidFill>
                  <a:srgbClr val="FFFFFF"/>
                </a:solidFill>
                <a:latin typeface="MS Gothic"/>
                <a:cs typeface="MS Gothic"/>
              </a:rPr>
              <a:t>各シェーダーが使用する定数バッファ名・スロット番号を自動で取得しています。❦れにより、描画時に手動でスロットを</a:t>
            </a:r>
            <a:endParaRPr sz="2800">
              <a:latin typeface="MS Gothic"/>
              <a:cs typeface="MS Gothic"/>
            </a:endParaRPr>
          </a:p>
          <a:p>
            <a:pPr marL="12700">
              <a:lnSpc>
                <a:spcPts val="2975"/>
              </a:lnSpc>
            </a:pPr>
            <a:r>
              <a:rPr sz="2800" spc="-40" dirty="0">
                <a:solidFill>
                  <a:srgbClr val="FFFFFF"/>
                </a:solidFill>
                <a:latin typeface="MS Gothic"/>
                <a:cs typeface="MS Gothic"/>
              </a:rPr>
              <a:t>設定する手間を省き、定数バッファの自動バインドを実現しています。</a:t>
            </a:r>
            <a:endParaRPr sz="2800">
              <a:latin typeface="MS Gothic"/>
              <a:cs typeface="MS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3850" y="4286248"/>
            <a:ext cx="8058150" cy="25717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意識して開発していると❦ろ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9236" y="2033142"/>
            <a:ext cx="7133590" cy="12204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68935" marR="360045" indent="-356870">
              <a:lnSpc>
                <a:spcPts val="3020"/>
              </a:lnSpc>
              <a:spcBef>
                <a:spcPts val="480"/>
              </a:spcBef>
            </a:pPr>
            <a:r>
              <a:rPr sz="2800" spc="-40" dirty="0">
                <a:solidFill>
                  <a:srgbClr val="FFFFFF"/>
                </a:solidFill>
                <a:latin typeface="MS Gothic"/>
                <a:cs typeface="MS Gothic"/>
              </a:rPr>
              <a:t>スレッドの勉✲を全くできていないため、オブジェクト指向を✲く意識して、</a:t>
            </a:r>
            <a:endParaRPr sz="2800">
              <a:latin typeface="MS Gothic"/>
              <a:cs typeface="MS Gothic"/>
            </a:endParaRPr>
          </a:p>
          <a:p>
            <a:pPr marL="723900">
              <a:lnSpc>
                <a:spcPts val="2985"/>
              </a:lnSpc>
            </a:pPr>
            <a:r>
              <a:rPr sz="2800" spc="-40" dirty="0">
                <a:solidFill>
                  <a:srgbClr val="FFFFFF"/>
                </a:solidFill>
                <a:latin typeface="MS Gothic"/>
                <a:cs typeface="MS Gothic"/>
              </a:rPr>
              <a:t>後から修正しやすいようにしています。</a:t>
            </a:r>
            <a:endParaRPr sz="2800">
              <a:latin typeface="MS Gothic"/>
              <a:cs typeface="MS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6750" y="3969829"/>
            <a:ext cx="3955161" cy="20671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3313" y="547877"/>
            <a:ext cx="44970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今後制作するもの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025"/>
              </a:lnSpc>
              <a:spcBef>
                <a:spcPts val="95"/>
              </a:spcBef>
            </a:pPr>
            <a:r>
              <a:rPr spc="-40" dirty="0"/>
              <a:t>・描画マネージャー</a:t>
            </a:r>
          </a:p>
          <a:p>
            <a:pPr marL="368935">
              <a:lnSpc>
                <a:spcPts val="3025"/>
              </a:lnSpc>
            </a:pPr>
            <a:r>
              <a:rPr spc="-40" dirty="0"/>
              <a:t>・自作フォーマアットモデル</a:t>
            </a:r>
          </a:p>
          <a:p>
            <a:pPr marL="368935">
              <a:lnSpc>
                <a:spcPct val="100000"/>
              </a:lnSpc>
              <a:spcBef>
                <a:spcPts val="335"/>
              </a:spcBef>
            </a:pPr>
            <a:r>
              <a:rPr spc="-40" dirty="0"/>
              <a:t>・モデルロードモジュール</a:t>
            </a:r>
          </a:p>
          <a:p>
            <a:pPr marL="368935">
              <a:lnSpc>
                <a:spcPct val="100000"/>
              </a:lnSpc>
              <a:spcBef>
                <a:spcPts val="325"/>
              </a:spcBef>
            </a:pPr>
            <a:r>
              <a:rPr spc="-40" dirty="0"/>
              <a:t>・モデルマネージャー</a:t>
            </a:r>
          </a:p>
          <a:p>
            <a:pPr marL="368935">
              <a:lnSpc>
                <a:spcPct val="100000"/>
              </a:lnSpc>
              <a:spcBef>
                <a:spcPts val="325"/>
              </a:spcBef>
            </a:pPr>
            <a:r>
              <a:rPr spc="-40" dirty="0"/>
              <a:t>・モデルデータクラス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405" y="4353509"/>
            <a:ext cx="63138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solidFill>
                  <a:srgbClr val="FFFFFF"/>
                </a:solidFill>
                <a:latin typeface="MS Gothic"/>
                <a:cs typeface="MS Gothic"/>
              </a:rPr>
              <a:t>・バッチ処理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sz="2800" spc="-35" dirty="0">
                <a:solidFill>
                  <a:srgbClr val="FFFFFF"/>
                </a:solidFill>
                <a:latin typeface="MS Gothic"/>
                <a:cs typeface="MS Gothic"/>
              </a:rPr>
              <a:t>インスタンシングの予定</a:t>
            </a:r>
            <a:r>
              <a:rPr sz="2800" spc="-5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1935" y="5630455"/>
            <a:ext cx="4904105" cy="369570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4254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4"/>
              </a:spcBef>
            </a:pPr>
            <a:r>
              <a:rPr sz="1800" dirty="0">
                <a:solidFill>
                  <a:srgbClr val="FFFFFF"/>
                </a:solidFill>
                <a:latin typeface="MS Gothic"/>
                <a:cs typeface="MS Gothic"/>
              </a:rPr>
              <a:t>ロード読込みの開発が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1800" spc="-5" dirty="0">
                <a:solidFill>
                  <a:srgbClr val="FFFFFF"/>
                </a:solidFill>
                <a:latin typeface="MS Gothic"/>
                <a:cs typeface="MS Gothic"/>
              </a:rPr>
              <a:t>つも進んでいません。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03797" y="3198253"/>
            <a:ext cx="6054725" cy="923925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 marR="696595" algn="just">
              <a:lnSpc>
                <a:spcPct val="100000"/>
              </a:lnSpc>
              <a:spcBef>
                <a:spcPts val="325"/>
              </a:spcBef>
            </a:pPr>
            <a:r>
              <a:rPr sz="1800" spc="-15" dirty="0">
                <a:solidFill>
                  <a:srgbClr val="FFFFFF"/>
                </a:solidFill>
                <a:latin typeface="MS Gothic"/>
                <a:cs typeface="MS Gothic"/>
              </a:rPr>
              <a:t>まだモデルのロードと、サンプラーマネージャーが</a:t>
            </a:r>
            <a:r>
              <a:rPr sz="1800" spc="-5" dirty="0">
                <a:solidFill>
                  <a:srgbClr val="FFFFFF"/>
                </a:solidFill>
                <a:latin typeface="MS Gothic"/>
                <a:cs typeface="MS Gothic"/>
              </a:rPr>
              <a:t>ないためサンプラーを共有する❦とが出来ないためそ❦を制作したいと思っています。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03797" y="2068245"/>
            <a:ext cx="6054725" cy="647065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1800" spc="-20" dirty="0">
                <a:solidFill>
                  <a:srgbClr val="FFFFFF"/>
                </a:solidFill>
                <a:latin typeface="MS Gothic"/>
                <a:cs typeface="MS Gothic"/>
              </a:rPr>
              <a:t>バグ修正</a:t>
            </a:r>
            <a:endParaRPr sz="1800">
              <a:latin typeface="MS Gothic"/>
              <a:cs typeface="MS Gothic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FFFFFF"/>
                </a:solidFill>
                <a:latin typeface="MS Gothic"/>
                <a:cs typeface="MS Gothic"/>
              </a:rPr>
              <a:t>・テクスチャのロード時にテクスチャを取得できない</a:t>
            </a:r>
            <a:endParaRPr sz="18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285</Words>
  <Application>Microsoft Office PowerPoint</Application>
  <PresentationFormat>ワイド画面</PresentationFormat>
  <Paragraphs>90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Arial MT</vt:lpstr>
      <vt:lpstr>MS Gothic</vt:lpstr>
      <vt:lpstr>Arial</vt:lpstr>
      <vt:lpstr>Office Theme</vt:lpstr>
      <vt:lpstr>就職作品詳細アピール</vt:lpstr>
      <vt:lpstr>作品概要・開発目的</vt:lpstr>
      <vt:lpstr>このゲームを作成するうえで大事にしたいこと</vt:lpstr>
      <vt:lpstr>技術選定</vt:lpstr>
      <vt:lpstr>技術選定</vt:lpstr>
      <vt:lpstr>今制作している描画マネージャーの            アピールポイント紹介</vt:lpstr>
      <vt:lpstr>プラットフォーム非依存設計</vt:lpstr>
      <vt:lpstr>プラットフォーム非依存設計</vt:lpstr>
      <vt:lpstr>リソース管理とマネージャー構成</vt:lpstr>
      <vt:lpstr>描画処理の流れ</vt:lpstr>
      <vt:lpstr>シェーダーのリフレクション</vt:lpstr>
      <vt:lpstr>意識して開発していると❦ろ</vt:lpstr>
      <vt:lpstr>今後制作するもの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OHAT13B52932 松田健志</dc:creator>
  <cp:lastModifiedBy>OHAT13B52932 松田健志</cp:lastModifiedBy>
  <cp:revision>59</cp:revision>
  <dcterms:created xsi:type="dcterms:W3CDTF">2025-12-13T00:48:35Z</dcterms:created>
  <dcterms:modified xsi:type="dcterms:W3CDTF">2025-12-13T01:41:08Z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2025-12-13T00:00:00Z</vt:filetime>
  </property>
  <property fmtid="{D5CDD505-2E9C-101B-9397-08002B2CF9AE}" pid="5" name="Producer">
    <vt:lpwstr>Microsoft® PowerPoint® for Microsoft 365</vt:lpwstr>
  </property>
</Properties>
</file>