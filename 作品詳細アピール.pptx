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3" r:id="rId4"/>
    <p:sldId id="264" r:id="rId5"/>
    <p:sldId id="265" r:id="rId6"/>
    <p:sldId id="266" r:id="rId7"/>
    <p:sldId id="267" r:id="rId8"/>
    <p:sldId id="268" r:id="rId9"/>
    <p:sldId id="271" r:id="rId10"/>
    <p:sldId id="270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1905000"/>
            <a:ext cx="1073658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6000" u="none" spc="-5" dirty="0" err="1"/>
              <a:t>就職</a:t>
            </a:r>
            <a:r>
              <a:rPr lang="ja-JP" altLang="en-US" sz="6000" u="none" spc="-5" dirty="0"/>
              <a:t>作品詳細アピール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9322054" y="5404603"/>
            <a:ext cx="2092960" cy="94297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25"/>
              </a:spcBef>
            </a:pP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AT-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13B-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529</a:t>
            </a:r>
            <a:r>
              <a:rPr sz="24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32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sz="2400" spc="-125" dirty="0">
                <a:solidFill>
                  <a:srgbClr val="FFFFFF"/>
                </a:solidFill>
                <a:latin typeface="MS Gothic"/>
                <a:cs typeface="MS Gothic"/>
              </a:rPr>
              <a:t>松田 健志</a:t>
            </a:r>
            <a:endParaRPr sz="2400">
              <a:latin typeface="MS Gothic"/>
              <a:cs typeface="MS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690173" y="3400603"/>
            <a:ext cx="3032633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2400" spc="-5" dirty="0">
                <a:solidFill>
                  <a:srgbClr val="FFFFFF"/>
                </a:solidFill>
                <a:latin typeface="MS Gothic"/>
                <a:cs typeface="MS Gothic"/>
              </a:rPr>
              <a:t>無双ゲーム制作</a:t>
            </a:r>
            <a:endParaRPr lang="ja-JP" altLang="en-US" sz="24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1087"/>
            <a:ext cx="505396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作品概要・開発目的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200"/>
            <a:ext cx="12077700" cy="49314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spc="-25" dirty="0">
                <a:solidFill>
                  <a:srgbClr val="FFFFFF"/>
                </a:solidFill>
                <a:latin typeface="MS Gothic"/>
                <a:cs typeface="MS Gothic"/>
              </a:rPr>
              <a:t>大量のオブジェクトやパーティクルを描画して、</a:t>
            </a:r>
            <a:br>
              <a:rPr lang="en-US" altLang="ja-JP" sz="2800" spc="-25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en-US" altLang="ja-JP" sz="2800" b="1" dirty="0">
                <a:solidFill>
                  <a:schemeClr val="bg1"/>
                </a:solidFill>
              </a:rPr>
              <a:t>Vampire Survivors </a:t>
            </a:r>
            <a:r>
              <a:rPr lang="ja-JP" altLang="en-US" sz="2800" b="1" dirty="0">
                <a:solidFill>
                  <a:schemeClr val="bg1"/>
                </a:solidFill>
              </a:rPr>
              <a:t>の３</a:t>
            </a:r>
            <a:r>
              <a:rPr lang="en-US" altLang="ja-JP" sz="2800" b="1" dirty="0">
                <a:solidFill>
                  <a:schemeClr val="bg1"/>
                </a:solidFill>
              </a:rPr>
              <a:t>D</a:t>
            </a:r>
            <a:r>
              <a:rPr lang="ja-JP" altLang="en-US" sz="2800" b="1" dirty="0">
                <a:solidFill>
                  <a:schemeClr val="bg1"/>
                </a:solidFill>
              </a:rPr>
              <a:t>版のような</a:t>
            </a:r>
            <a:endParaRPr lang="en-US" altLang="ja-JP" sz="2800" b="1" dirty="0">
              <a:solidFill>
                <a:schemeClr val="bg1"/>
              </a:solidFill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b="1" dirty="0">
                <a:solidFill>
                  <a:schemeClr val="bg1"/>
                </a:solidFill>
                <a:latin typeface="MS Gothic"/>
                <a:cs typeface="MS Gothic"/>
              </a:rPr>
              <a:t>無双ゲーム制作を目指しています。</a:t>
            </a:r>
            <a:endParaRPr lang="en-US" altLang="ja-JP" sz="2800" b="1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endParaRPr sz="27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</a:pPr>
            <a:r>
              <a:rPr sz="4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開発環境</a:t>
            </a:r>
            <a:endParaRPr sz="4400" dirty="0"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095"/>
              </a:spcBef>
            </a:pPr>
            <a:r>
              <a:rPr sz="2800" spc="-30" dirty="0">
                <a:solidFill>
                  <a:srgbClr val="FFFFFF"/>
                </a:solidFill>
                <a:latin typeface="Arial MT"/>
                <a:cs typeface="Arial MT"/>
              </a:rPr>
              <a:t>C++</a:t>
            </a:r>
            <a:r>
              <a:rPr lang="en-US" sz="2800" spc="-30" dirty="0">
                <a:solidFill>
                  <a:srgbClr val="FFFFFF"/>
                </a:solidFill>
                <a:latin typeface="MS Gothic"/>
                <a:cs typeface="Arial MT"/>
              </a:rPr>
              <a:t>20</a:t>
            </a:r>
            <a:r>
              <a:rPr sz="2800" spc="-590" dirty="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sz="2800" dirty="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sz="2800" spc="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DirectX11</a:t>
            </a:r>
            <a:endParaRPr sz="2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900"/>
              </a:spcBef>
            </a:pPr>
            <a:endParaRPr sz="2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4400" u="sng" spc="-20" dirty="0" err="1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開発期間</a:t>
            </a:r>
            <a:endParaRPr lang="ja-JP" altLang="en-US" sz="4400" u="sng" spc="-20" dirty="0">
              <a:solidFill>
                <a:srgbClr val="FFFFFF"/>
              </a:solidFill>
              <a:uFill>
                <a:solidFill>
                  <a:srgbClr val="FFFFFF"/>
                </a:solidFill>
              </a:uFill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245"/>
              </a:spcBef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約３～４カ月くらい</a:t>
            </a:r>
            <a:endParaRPr lang="ja-JP" altLang="en-US" sz="2800" dirty="0">
              <a:latin typeface="MS Gothic"/>
              <a:cs typeface="MS Gothic"/>
            </a:endParaRPr>
          </a:p>
        </p:txBody>
      </p:sp>
      <p:pic>
        <p:nvPicPr>
          <p:cNvPr id="4" name="Picture 2" descr="配信開始】ゴシックホラーカジュアルゲーム『Vampire Survivors（ヴァンパイア・サバイバーズ）』がスマホアプリで登場 |  ファミ通App【スマホゲーム情報サイト】">
            <a:extLst>
              <a:ext uri="{FF2B5EF4-FFF2-40B4-BE49-F238E27FC236}">
                <a16:creationId xmlns:a16="http://schemas.microsoft.com/office/drawing/2014/main" id="{4188148E-7DF7-F9AF-9A08-9DF94B9B6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914400"/>
            <a:ext cx="3655061" cy="205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スマホとゲーム機どっちで遊ぶ？#47】スマホ版は無料＆縦横表示を選択可能！あと1回では終われない『Vampire Survivors（ヴァンパイア・ サバイバーズ）』 | ファミ通App【スマホゲーム情報サイト】">
            <a:extLst>
              <a:ext uri="{FF2B5EF4-FFF2-40B4-BE49-F238E27FC236}">
                <a16:creationId xmlns:a16="http://schemas.microsoft.com/office/drawing/2014/main" id="{5C5C4AA6-DB43-D55D-236C-5453BA5809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3684939"/>
            <a:ext cx="5715000" cy="2638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FB25B17-844E-2C98-643A-4861163F8BA8}"/>
              </a:ext>
            </a:extLst>
          </p:cNvPr>
          <p:cNvSpPr/>
          <p:nvPr/>
        </p:nvSpPr>
        <p:spPr>
          <a:xfrm>
            <a:off x="2209800" y="2133600"/>
            <a:ext cx="8305800" cy="213360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4400" u="heavy" spc="-45" dirty="0">
                <a:uFill>
                  <a:solidFill>
                    <a:srgbClr val="FFFFFF"/>
                  </a:solidFill>
                </a:uFill>
              </a:rPr>
              <a:t>今制作し終わっている作品の</a:t>
            </a:r>
            <a:endParaRPr lang="en-US" altLang="ja-JP" sz="4400" u="heavy" spc="-45" dirty="0">
              <a:uFill>
                <a:solidFill>
                  <a:srgbClr val="FFFFFF"/>
                </a:solidFill>
              </a:uFill>
            </a:endParaRPr>
          </a:p>
          <a:p>
            <a:pPr algn="ctr"/>
            <a:r>
              <a:rPr lang="ja-JP" altLang="en-US" sz="4400" u="heavy" spc="-40" dirty="0">
                <a:uFill>
                  <a:solidFill>
                    <a:srgbClr val="FFFFFF"/>
                  </a:solidFill>
                </a:uFill>
              </a:rPr>
              <a:t>アピールポイント紹介</a:t>
            </a:r>
            <a:endParaRPr kumimoji="1" lang="ja-JP" alt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03884"/>
            <a:ext cx="728853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プラットフォーム非依存設計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4800" y="1832210"/>
            <a:ext cx="9776460" cy="2884443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プラットフォーム固有の要素をラッパー構造体として定義する</a:t>
            </a:r>
            <a:r>
              <a:rPr lang="ja-JP" altLang="en-US" sz="2200" spc="-35" dirty="0">
                <a:solidFill>
                  <a:srgbClr val="FFFFFF"/>
                </a:solidFill>
                <a:latin typeface="MS Gothic"/>
                <a:cs typeface="MS Gothic"/>
              </a:rPr>
              <a:t>こ</a:t>
            </a: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とで</a:t>
            </a: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、</a:t>
            </a:r>
            <a:endParaRPr sz="2200" dirty="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プラットフォームが変更されても</a:t>
            </a:r>
            <a:endParaRPr sz="2200" dirty="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20" dirty="0" err="1">
                <a:solidFill>
                  <a:srgbClr val="FFFFFF"/>
                </a:solidFill>
                <a:latin typeface="MS Gothic"/>
                <a:cs typeface="MS Gothic"/>
              </a:rPr>
              <a:t>ゲーム基盤</a:t>
            </a:r>
            <a:r>
              <a:rPr sz="2200" spc="-25" dirty="0" err="1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200" spc="-25" dirty="0" err="1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r>
              <a:rPr sz="2200" spc="-25" dirty="0" err="1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を改修せずに動作</a:t>
            </a:r>
            <a:r>
              <a:rPr lang="ja-JP" altLang="en-US" sz="2200" spc="-35" dirty="0">
                <a:solidFill>
                  <a:srgbClr val="FFFFFF"/>
                </a:solidFill>
                <a:latin typeface="MS Gothic"/>
                <a:cs typeface="MS Gothic"/>
              </a:rPr>
              <a:t>します。</a:t>
            </a:r>
            <a:endParaRPr sz="2200" dirty="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850"/>
              </a:spcBef>
            </a:pPr>
            <a:endParaRPr sz="2200" dirty="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計算用構造体は共通のデータ形式を保持し、</a:t>
            </a:r>
            <a:endParaRPr sz="2200" dirty="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処理部分をプラットフォーム依存として分離する</a:t>
            </a:r>
            <a:r>
              <a:rPr lang="ja-JP" altLang="en-US" sz="2200" spc="-35" dirty="0">
                <a:solidFill>
                  <a:srgbClr val="FFFFFF"/>
                </a:solidFill>
                <a:latin typeface="MS Gothic"/>
                <a:cs typeface="MS Gothic"/>
              </a:rPr>
              <a:t>こと</a:t>
            </a: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で、</a:t>
            </a:r>
            <a:endParaRPr sz="2200" dirty="0">
              <a:latin typeface="MS Gothic"/>
              <a:cs typeface="MS Gothic"/>
            </a:endParaRPr>
          </a:p>
          <a:p>
            <a:pPr marL="12700" marR="4448810">
              <a:lnSpc>
                <a:spcPct val="105000"/>
              </a:lnSpc>
            </a:pPr>
            <a:r>
              <a:rPr sz="2200" spc="-35" dirty="0" err="1">
                <a:solidFill>
                  <a:srgbClr val="FFFFFF"/>
                </a:solidFill>
                <a:latin typeface="MS Gothic"/>
                <a:cs typeface="MS Gothic"/>
              </a:rPr>
              <a:t>各プラットフォームに最適化された実装へ容易に切り替えられる設計としています</a:t>
            </a:r>
            <a:r>
              <a:rPr sz="2200" spc="-35" dirty="0">
                <a:solidFill>
                  <a:srgbClr val="FFFFFF"/>
                </a:solidFill>
                <a:latin typeface="MS Gothic"/>
                <a:cs typeface="MS Gothic"/>
              </a:rPr>
              <a:t>。</a:t>
            </a:r>
            <a:endParaRPr sz="2200" dirty="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64930" y="3271240"/>
            <a:ext cx="2640329" cy="3385058"/>
          </a:xfrm>
          <a:prstGeom prst="rect">
            <a:avLst/>
          </a:prstGeom>
        </p:spPr>
      </p:pic>
      <p:sp>
        <p:nvSpPr>
          <p:cNvPr id="5" name="object 3">
            <a:extLst>
              <a:ext uri="{FF2B5EF4-FFF2-40B4-BE49-F238E27FC236}">
                <a16:creationId xmlns:a16="http://schemas.microsoft.com/office/drawing/2014/main" id="{54197A98-C48B-E701-616F-0DDFF2502C3D}"/>
              </a:ext>
            </a:extLst>
          </p:cNvPr>
          <p:cNvSpPr txBox="1"/>
          <p:nvPr/>
        </p:nvSpPr>
        <p:spPr>
          <a:xfrm>
            <a:off x="304800" y="5167495"/>
            <a:ext cx="9776460" cy="1096453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lang="ja-JP" altLang="en-US" sz="2200" dirty="0">
                <a:solidFill>
                  <a:schemeClr val="bg1"/>
                </a:solidFill>
                <a:latin typeface="MS Gothic"/>
                <a:cs typeface="MS Gothic"/>
              </a:rPr>
              <a:t>修正予定があり</a:t>
            </a:r>
            <a:endParaRPr lang="en-US" altLang="ja-JP" sz="22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lang="ja-JP" altLang="en-US" sz="2200" dirty="0">
                <a:solidFill>
                  <a:schemeClr val="bg1"/>
                </a:solidFill>
                <a:latin typeface="MS Gothic"/>
                <a:cs typeface="MS Gothic"/>
              </a:rPr>
              <a:t>コマンドリストをゲーム内で作成し、プラットフォーム階層に</a:t>
            </a:r>
            <a:endParaRPr lang="en-US" altLang="ja-JP" sz="22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lang="ja-JP" altLang="en-US" sz="2200" dirty="0">
                <a:solidFill>
                  <a:schemeClr val="bg1"/>
                </a:solidFill>
                <a:latin typeface="MS Gothic"/>
                <a:cs typeface="MS Gothic"/>
              </a:rPr>
              <a:t>上げて、描画マネージャー内で最適化して描画するように修正予定</a:t>
            </a:r>
            <a:endParaRPr sz="2200" dirty="0">
              <a:solidFill>
                <a:schemeClr val="bg1"/>
              </a:solidFill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03884"/>
            <a:ext cx="728853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プラットフォーム非依存設計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6697" y="1665280"/>
            <a:ext cx="11824970" cy="3581400"/>
          </a:xfrm>
          <a:prstGeom prst="rect">
            <a:avLst/>
          </a:prstGeom>
        </p:spPr>
        <p:txBody>
          <a:bodyPr vert="horz" wrap="square" lIns="0" tIns="2203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35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描画マネージャーは基底クラスを抽象インターフェイスとして定義し、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635"/>
              </a:spcBef>
            </a:pPr>
            <a:r>
              <a:rPr sz="2400" b="1" spc="-20" dirty="0">
                <a:solidFill>
                  <a:srgbClr val="FFFFFF"/>
                </a:solidFill>
                <a:latin typeface="Arial"/>
                <a:cs typeface="Arial"/>
              </a:rPr>
              <a:t>GameMain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が</a:t>
            </a:r>
            <a:r>
              <a:rPr sz="2400" b="1" spc="-20" dirty="0">
                <a:solidFill>
                  <a:srgbClr val="FFFFFF"/>
                </a:solidFill>
                <a:latin typeface="Arial"/>
                <a:cs typeface="Arial"/>
              </a:rPr>
              <a:t>DirectX</a:t>
            </a: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などの具体的な実装を意識せずに動作できるようにしています。</a:t>
            </a:r>
            <a:endParaRPr sz="24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2640"/>
              </a:spcBef>
            </a:pPr>
            <a:endParaRPr sz="2400">
              <a:latin typeface="MS Gothic"/>
              <a:cs typeface="MS Gothic"/>
            </a:endParaRPr>
          </a:p>
          <a:p>
            <a:pPr marL="12700" marR="5708015">
              <a:lnSpc>
                <a:spcPct val="114999"/>
              </a:lnSpc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プラットフォームごとに描画マネージャーを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変更する仕組みにし、新しい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を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追加する際も、既存のゲーム基盤を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2400" spc="-5" dirty="0">
                <a:solidFill>
                  <a:srgbClr val="FFFFFF"/>
                </a:solidFill>
                <a:latin typeface="MS Gothic"/>
                <a:cs typeface="MS Gothic"/>
              </a:rPr>
              <a:t>改修せずに拡張できる設計になっています。</a:t>
            </a:r>
            <a:endParaRPr sz="24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75473" y="2996298"/>
            <a:ext cx="4423156" cy="37150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840422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リソース管理とマネージャー構成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95985" y="1708149"/>
            <a:ext cx="7132955" cy="397891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同じリソースを重複して作成しないように</a:t>
            </a:r>
            <a:r>
              <a:rPr sz="2800" spc="-50" dirty="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名前をキーにして保持する設計しています。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1450"/>
              </a:spcBef>
            </a:pPr>
            <a:endParaRPr sz="2800">
              <a:latin typeface="MS Gothic"/>
              <a:cs typeface="MS Gothic"/>
            </a:endParaRPr>
          </a:p>
          <a:p>
            <a:pPr marL="12700" marR="2136140">
              <a:lnSpc>
                <a:spcPts val="302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リソースごとにマネージャーを作成して管理させています。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635"/>
              </a:spcBef>
            </a:pPr>
            <a:endParaRPr sz="280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一度作成したリソースを</a:t>
            </a:r>
            <a:endParaRPr sz="2800">
              <a:latin typeface="MS Gothic"/>
              <a:cs typeface="MS Gothic"/>
            </a:endParaRPr>
          </a:p>
          <a:p>
            <a:pPr marL="12700" marR="1781175">
              <a:lnSpc>
                <a:spcPts val="3020"/>
              </a:lnSpc>
              <a:spcBef>
                <a:spcPts val="215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再利用させて、不必要なメモリを取らないようにしています。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04940" y="2611498"/>
            <a:ext cx="5503672" cy="42464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393636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描画処理の流れ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7432" y="1355597"/>
            <a:ext cx="1517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50416" y="1719833"/>
            <a:ext cx="327660" cy="793750"/>
          </a:xfrm>
          <a:prstGeom prst="rect">
            <a:avLst/>
          </a:prstGeom>
        </p:spPr>
        <p:txBody>
          <a:bodyPr vert="horz" wrap="square" lIns="0" tIns="311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4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▼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7432" y="2504389"/>
            <a:ext cx="4629785" cy="1924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BaseDrawManager</a:t>
            </a:r>
            <a:r>
              <a:rPr sz="2400" spc="-25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抽象層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265430">
              <a:lnSpc>
                <a:spcPct val="100000"/>
              </a:lnSpc>
              <a:spcBef>
                <a:spcPts val="135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  <a:p>
            <a:pPr marL="265430">
              <a:lnSpc>
                <a:spcPct val="100000"/>
              </a:lnSpc>
              <a:spcBef>
                <a:spcPts val="145"/>
              </a:spcBef>
            </a:pP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▼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DirectX_DrawManager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実装層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265430">
              <a:lnSpc>
                <a:spcPct val="100000"/>
              </a:lnSpc>
              <a:spcBef>
                <a:spcPts val="135"/>
              </a:spcBef>
            </a:pPr>
            <a:r>
              <a:rPr sz="2400" spc="-965" dirty="0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50416" y="4420870"/>
            <a:ext cx="7108190" cy="1923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15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ShaderManager(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リフレクション情報を取得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480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ConstantBufferManager(Shader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から名前検索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490" dirty="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VertexBufferManager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spc="-10" dirty="0">
                <a:solidFill>
                  <a:srgbClr val="FFFFFF"/>
                </a:solidFill>
                <a:latin typeface="MS Gothic"/>
                <a:cs typeface="MS Gothic"/>
              </a:rPr>
              <a:t>頂点シェーダ名で検索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sz="2400" spc="-535" dirty="0">
                <a:solidFill>
                  <a:srgbClr val="FFFFFF"/>
                </a:solidFill>
                <a:latin typeface="Arial MT"/>
                <a:cs typeface="Arial MT"/>
              </a:rPr>
              <a:t>└──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ViewManager</a:t>
            </a:r>
            <a:r>
              <a:rPr sz="2400" spc="-20" dirty="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sz="2400" dirty="0">
                <a:solidFill>
                  <a:srgbClr val="FFFFFF"/>
                </a:solidFill>
                <a:latin typeface="MS Gothic"/>
                <a:cs typeface="MS Gothic"/>
              </a:rPr>
              <a:t>テクスチャ名から取得</a:t>
            </a:r>
            <a:r>
              <a:rPr sz="2400" spc="-50" dirty="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00" spc="-720" dirty="0">
                <a:solidFill>
                  <a:srgbClr val="FFFFFF"/>
                </a:solidFill>
                <a:latin typeface="Arial MT"/>
                <a:cs typeface="Arial MT"/>
              </a:rPr>
              <a:t>└──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TextureManager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15560" y="886764"/>
            <a:ext cx="7576820" cy="64706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27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5"/>
              </a:spcBef>
            </a:pPr>
            <a:r>
              <a:rPr sz="1800" dirty="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r>
              <a:rPr sz="18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00" spc="-135" dirty="0">
                <a:solidFill>
                  <a:srgbClr val="FFFFFF"/>
                </a:solidFill>
                <a:latin typeface="MS Gothic"/>
                <a:cs typeface="MS Gothic"/>
              </a:rPr>
              <a:t>から </a:t>
            </a:r>
            <a:r>
              <a:rPr sz="180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18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非依存の描画命令を送信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</a:pPr>
            <a:r>
              <a:rPr sz="1800" spc="-10" dirty="0">
                <a:solidFill>
                  <a:srgbClr val="FFFFFF"/>
                </a:solidFill>
                <a:latin typeface="MS Gothic"/>
                <a:cs typeface="MS Gothic"/>
              </a:rPr>
              <a:t>❦の流れを共通化し、</a:t>
            </a:r>
            <a:r>
              <a:rPr sz="1800" spc="-1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1800" spc="-15" dirty="0">
                <a:solidFill>
                  <a:srgbClr val="FFFFFF"/>
                </a:solidFill>
                <a:latin typeface="MS Gothic"/>
                <a:cs typeface="MS Gothic"/>
              </a:rPr>
              <a:t>差し替えを容易にできるように設計しました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55511" y="2967240"/>
            <a:ext cx="5614670" cy="92392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41910" rIns="0" bIns="0" rtlCol="0">
            <a:spAutoFit/>
          </a:bodyPr>
          <a:lstStyle/>
          <a:p>
            <a:pPr marL="92075" marR="256540">
              <a:lnSpc>
                <a:spcPct val="100000"/>
              </a:lnSpc>
              <a:spcBef>
                <a:spcPts val="330"/>
              </a:spcBef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現在は、描画に必要な名前を引数で渡しているが、</a:t>
            </a:r>
            <a:r>
              <a:rPr sz="1800" dirty="0">
                <a:solidFill>
                  <a:srgbClr val="FFFFFF"/>
                </a:solidFill>
                <a:latin typeface="MS Gothic"/>
                <a:cs typeface="MS Gothic"/>
              </a:rPr>
              <a:t>将来的には、描画</a:t>
            </a:r>
            <a:r>
              <a:rPr sz="1800" spc="-10" dirty="0">
                <a:solidFill>
                  <a:srgbClr val="FFFFFF"/>
                </a:solidFill>
                <a:latin typeface="Arial MT"/>
                <a:cs typeface="Arial MT"/>
              </a:rPr>
              <a:t>ID</a:t>
            </a: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で描画してオブジェクトが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知らないようにしたいと思っています。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53083" y="1806917"/>
            <a:ext cx="3062605" cy="65087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vert="horz" wrap="square" lIns="0" tIns="118745" rIns="0" bIns="0" rtlCol="0">
            <a:spAutoFit/>
          </a:bodyPr>
          <a:lstStyle/>
          <a:p>
            <a:pPr marL="91440" marR="219710">
              <a:lnSpc>
                <a:spcPts val="2060"/>
              </a:lnSpc>
              <a:spcBef>
                <a:spcPts val="935"/>
              </a:spcBef>
            </a:pPr>
            <a:r>
              <a:rPr sz="1800" spc="-5" dirty="0">
                <a:solidFill>
                  <a:srgbClr val="FFFFFF"/>
                </a:solidFill>
                <a:latin typeface="MS Gothic"/>
                <a:cs typeface="MS Gothic"/>
              </a:rPr>
              <a:t>シェーダー名、テクスチャ</a:t>
            </a:r>
            <a:r>
              <a:rPr sz="1800" spc="-10" dirty="0">
                <a:solidFill>
                  <a:srgbClr val="FFFFFF"/>
                </a:solidFill>
                <a:latin typeface="MS Gothic"/>
                <a:cs typeface="MS Gothic"/>
              </a:rPr>
              <a:t>名、モデル名を渡す</a:t>
            </a:r>
            <a:endParaRPr sz="18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シェーダーのリフレクション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95985" y="1509724"/>
            <a:ext cx="11420475" cy="262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シェーダーリフレクションによる自動バインド設計</a:t>
            </a:r>
            <a:endParaRPr sz="2800" dirty="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1110"/>
              </a:spcBef>
            </a:pPr>
            <a:endParaRPr sz="2800" dirty="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シェーダーファイルをリフレクション解析して、</a:t>
            </a:r>
            <a:endParaRPr sz="2800" dirty="0">
              <a:latin typeface="MS Gothic"/>
              <a:cs typeface="MS Gothic"/>
            </a:endParaRPr>
          </a:p>
          <a:p>
            <a:pPr marL="12700" marR="1091565">
              <a:lnSpc>
                <a:spcPts val="3030"/>
              </a:lnSpc>
              <a:spcBef>
                <a:spcPts val="204"/>
              </a:spcBef>
            </a:pPr>
            <a:r>
              <a:rPr sz="2800" spc="-40" dirty="0" err="1">
                <a:solidFill>
                  <a:srgbClr val="FFFFFF"/>
                </a:solidFill>
                <a:latin typeface="MS Gothic"/>
                <a:cs typeface="MS Gothic"/>
              </a:rPr>
              <a:t>各シェーダーが使用する定数バッファ名・スロット番号を自動で取得しています</a:t>
            </a: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。</a:t>
            </a: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こ</a:t>
            </a:r>
            <a:r>
              <a:rPr sz="2800" spc="-40" dirty="0" err="1">
                <a:solidFill>
                  <a:srgbClr val="FFFFFF"/>
                </a:solidFill>
                <a:latin typeface="MS Gothic"/>
                <a:cs typeface="MS Gothic"/>
              </a:rPr>
              <a:t>れにより、描画時に手動でスロットを</a:t>
            </a:r>
            <a:endParaRPr sz="2800" dirty="0">
              <a:latin typeface="MS Gothic"/>
              <a:cs typeface="MS Gothic"/>
            </a:endParaRPr>
          </a:p>
          <a:p>
            <a:pPr marL="12700">
              <a:lnSpc>
                <a:spcPts val="2975"/>
              </a:lnSpc>
            </a:pPr>
            <a:r>
              <a:rPr sz="2800" spc="-40" dirty="0">
                <a:solidFill>
                  <a:srgbClr val="FFFFFF"/>
                </a:solidFill>
                <a:latin typeface="MS Gothic"/>
                <a:cs typeface="MS Gothic"/>
              </a:rPr>
              <a:t>設定する手間を省き、定数バッファの自動バインドを実現しています。</a:t>
            </a:r>
            <a:endParaRPr sz="2800" dirty="0">
              <a:latin typeface="MS Gothic"/>
              <a:cs typeface="MS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33850" y="4286248"/>
            <a:ext cx="8058150" cy="25717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9078-C6B6-73FD-F90E-D2386614B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B491F53-2077-DD43-6445-047B82C38A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81000"/>
            <a:ext cx="728725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25" dirty="0"/>
              <a:t>当たり判定 </a:t>
            </a:r>
            <a:r>
              <a:rPr lang="en-US" altLang="ja-JP" spc="-25" dirty="0" err="1"/>
              <a:t>AABBTree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CEC2C75-85EC-B2A5-3DBC-9BB607FB4E78}"/>
              </a:ext>
            </a:extLst>
          </p:cNvPr>
          <p:cNvSpPr txBox="1"/>
          <p:nvPr/>
        </p:nvSpPr>
        <p:spPr>
          <a:xfrm>
            <a:off x="595985" y="1509724"/>
            <a:ext cx="11420475" cy="485453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当たり判定を高速化するために、</a:t>
            </a: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を使用しました。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altLang="ja-JP" sz="2800" dirty="0">
                <a:solidFill>
                  <a:schemeClr val="bg1"/>
                </a:solidFill>
                <a:latin typeface="MS Gothic"/>
                <a:cs typeface="MS Gothic"/>
              </a:rPr>
              <a:t>Grid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ではなく</a:t>
            </a: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を使用した理由は、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３つあります。</a:t>
            </a:r>
            <a:br>
              <a:rPr lang="en-US" altLang="ja-JP" sz="2800" dirty="0">
                <a:solidFill>
                  <a:schemeClr val="bg1"/>
                </a:solidFill>
                <a:latin typeface="MS Gothic"/>
                <a:cs typeface="MS Gothic"/>
              </a:rPr>
            </a:b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１つ目は、特定のセルの判定数が増えてしまう点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２つ目は、当たり判定の回数などが開発者が想定しにくい点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３つ目は、マルチスレッドに対応したときに</a:t>
            </a:r>
            <a:br>
              <a:rPr lang="en-US" altLang="ja-JP" sz="2800" dirty="0">
                <a:solidFill>
                  <a:schemeClr val="bg1"/>
                </a:solidFill>
                <a:latin typeface="MS Gothic"/>
                <a:cs typeface="MS Gothic"/>
              </a:rPr>
            </a:b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　　　　　　　　　　特定のセルに偏りが出て遅くなってしまう点。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が</a:t>
            </a: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を使用することにした理由です。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</p:txBody>
      </p:sp>
    </p:spTree>
    <p:extLst>
      <p:ext uri="{BB962C8B-B14F-4D97-AF65-F5344CB8AC3E}">
        <p14:creationId xmlns:p14="http://schemas.microsoft.com/office/powerpoint/2010/main" val="34872752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6777" y="1206876"/>
            <a:ext cx="6533287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15" dirty="0"/>
              <a:t>１月末までに</a:t>
            </a:r>
            <a:r>
              <a:rPr spc="-15" dirty="0" err="1"/>
              <a:t>制作するもの</a:t>
            </a:r>
            <a:endParaRPr spc="-15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9489722" y="3795567"/>
            <a:ext cx="1269493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ja-JP" altLang="en-US" spc="-40" dirty="0"/>
              <a:t>最適化</a:t>
            </a:r>
            <a:endParaRPr spc="-40" dirty="0"/>
          </a:p>
        </p:txBody>
      </p:sp>
      <p:sp>
        <p:nvSpPr>
          <p:cNvPr id="4" name="object 4"/>
          <p:cNvSpPr txBox="1"/>
          <p:nvPr/>
        </p:nvSpPr>
        <p:spPr>
          <a:xfrm>
            <a:off x="7432322" y="4192471"/>
            <a:ext cx="4591750" cy="133049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・コマンドリスト</a:t>
            </a:r>
            <a:endParaRPr lang="en-US" sz="2800" spc="-3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</a:t>
            </a:r>
            <a:r>
              <a:rPr sz="2800" spc="-35" dirty="0" err="1">
                <a:solidFill>
                  <a:srgbClr val="FFFFFF"/>
                </a:solidFill>
                <a:latin typeface="MS Gothic"/>
                <a:cs typeface="MS Gothic"/>
              </a:rPr>
              <a:t>インスタンシング</a:t>
            </a:r>
            <a:endParaRPr lang="en-US" sz="2800" spc="-5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50" dirty="0">
                <a:solidFill>
                  <a:srgbClr val="FFFFFF"/>
                </a:solidFill>
                <a:latin typeface="Arial MT"/>
                <a:cs typeface="Arial MT"/>
              </a:rPr>
              <a:t>・オブジェクトの更新間引き</a:t>
            </a:r>
            <a:endParaRPr sz="2800" dirty="0">
              <a:latin typeface="Arial MT"/>
              <a:cs typeface="Arial MT"/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10859274-81C9-FA5C-2553-45800861C883}"/>
              </a:ext>
            </a:extLst>
          </p:cNvPr>
          <p:cNvSpPr txBox="1">
            <a:spLocks/>
          </p:cNvSpPr>
          <p:nvPr/>
        </p:nvSpPr>
        <p:spPr>
          <a:xfrm>
            <a:off x="501694" y="2330340"/>
            <a:ext cx="5001895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0">
              <a:defRPr sz="2800" b="0" i="0">
                <a:solidFill>
                  <a:schemeClr val="bg1"/>
                </a:solidFill>
                <a:latin typeface="MS Gothic"/>
                <a:ea typeface="+mn-ea"/>
                <a:cs typeface="MS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ja-JP" altLang="en-US" spc="-40" dirty="0"/>
              <a:t>ゲーム制作</a:t>
            </a: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4846F6A8-9E61-7214-27ED-9D49DE5EFAAB}"/>
              </a:ext>
            </a:extLst>
          </p:cNvPr>
          <p:cNvSpPr txBox="1"/>
          <p:nvPr/>
        </p:nvSpPr>
        <p:spPr>
          <a:xfrm>
            <a:off x="503038" y="2768203"/>
            <a:ext cx="6313805" cy="26359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・ゲーム制作</a:t>
            </a:r>
            <a:br>
              <a:rPr lang="en-US" altLang="ja-JP" sz="2800" spc="-35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　　（プレイヤー 球を飛ばす）</a:t>
            </a:r>
            <a:endParaRPr lang="en-US" altLang="ja-JP" sz="2800" spc="-3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　　（スキル２つ）</a:t>
            </a:r>
            <a:br>
              <a:rPr lang="en-US" altLang="ja-JP" sz="2800" spc="-35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　　（敵１種類）</a:t>
            </a:r>
            <a:endParaRPr lang="en-US" altLang="ja-JP" sz="2800" spc="-3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・フェード</a:t>
            </a:r>
            <a:endParaRPr lang="en-US" altLang="ja-JP" sz="2800" spc="-3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35" dirty="0">
                <a:solidFill>
                  <a:srgbClr val="FFFFFF"/>
                </a:solidFill>
                <a:latin typeface="MS Gothic"/>
                <a:cs typeface="MS Gothic"/>
              </a:rPr>
              <a:t>・</a:t>
            </a:r>
            <a:r>
              <a:rPr lang="en-US" altLang="ja-JP" sz="2800" spc="-35" dirty="0">
                <a:solidFill>
                  <a:srgbClr val="FFFFFF"/>
                </a:solidFill>
                <a:latin typeface="MS Gothic"/>
                <a:cs typeface="MS Gothic"/>
              </a:rPr>
              <a:t>UI</a:t>
            </a: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DFA22F31-3BE1-D29A-4DE2-521354303591}"/>
              </a:ext>
            </a:extLst>
          </p:cNvPr>
          <p:cNvSpPr txBox="1">
            <a:spLocks/>
          </p:cNvSpPr>
          <p:nvPr/>
        </p:nvSpPr>
        <p:spPr>
          <a:xfrm>
            <a:off x="7680587" y="3795567"/>
            <a:ext cx="16002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0">
              <a:defRPr sz="2800" b="0" i="0">
                <a:solidFill>
                  <a:schemeClr val="bg1"/>
                </a:solidFill>
                <a:latin typeface="MS Gothic"/>
                <a:ea typeface="+mn-ea"/>
                <a:cs typeface="MS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en-US" altLang="ja-JP" spc="-40" dirty="0"/>
              <a:t>3</a:t>
            </a:r>
            <a:r>
              <a:rPr lang="ja-JP" altLang="en-US" spc="-40" dirty="0"/>
              <a:t>月以降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8F957F-FC2C-5757-F534-06BF52578C69}"/>
              </a:ext>
            </a:extLst>
          </p:cNvPr>
          <p:cNvSpPr/>
          <p:nvPr/>
        </p:nvSpPr>
        <p:spPr>
          <a:xfrm>
            <a:off x="248265" y="1039999"/>
            <a:ext cx="6934200" cy="448296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1E3B75FD-F08B-F1E8-E06D-8B505986CFA1}"/>
              </a:ext>
            </a:extLst>
          </p:cNvPr>
          <p:cNvSpPr txBox="1">
            <a:spLocks/>
          </p:cNvSpPr>
          <p:nvPr/>
        </p:nvSpPr>
        <p:spPr>
          <a:xfrm>
            <a:off x="9585373" y="1039999"/>
            <a:ext cx="1539827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0">
              <a:defRPr sz="2800" b="0" i="0">
                <a:solidFill>
                  <a:schemeClr val="bg1"/>
                </a:solidFill>
                <a:latin typeface="MS Gothic"/>
                <a:ea typeface="+mn-ea"/>
                <a:cs typeface="MS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ja-JP" altLang="en-US" spc="-40" dirty="0"/>
              <a:t>エフェクト</a:t>
            </a:r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6026FFF4-12BE-D0E7-790B-D102E296491F}"/>
              </a:ext>
            </a:extLst>
          </p:cNvPr>
          <p:cNvSpPr txBox="1"/>
          <p:nvPr/>
        </p:nvSpPr>
        <p:spPr>
          <a:xfrm>
            <a:off x="7639665" y="1467071"/>
            <a:ext cx="3444827" cy="8867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Arial MT"/>
                <a:cs typeface="Arial MT"/>
              </a:rPr>
              <a:t>・ポストエフェクト</a:t>
            </a:r>
            <a:endParaRPr lang="en-US" altLang="ja-JP" sz="2800" dirty="0">
              <a:solidFill>
                <a:schemeClr val="bg1"/>
              </a:solidFill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Arial MT"/>
                <a:cs typeface="Arial MT"/>
              </a:rPr>
              <a:t>・パーティクル</a:t>
            </a:r>
            <a:endParaRPr sz="2800" dirty="0">
              <a:solidFill>
                <a:schemeClr val="bg1"/>
              </a:solidFill>
              <a:latin typeface="Arial MT"/>
              <a:cs typeface="Arial MT"/>
            </a:endParaRPr>
          </a:p>
        </p:txBody>
      </p:sp>
      <p:sp>
        <p:nvSpPr>
          <p:cNvPr id="14" name="object 3">
            <a:extLst>
              <a:ext uri="{FF2B5EF4-FFF2-40B4-BE49-F238E27FC236}">
                <a16:creationId xmlns:a16="http://schemas.microsoft.com/office/drawing/2014/main" id="{0320F7B9-2955-57D2-8170-5E1EB895DDF1}"/>
              </a:ext>
            </a:extLst>
          </p:cNvPr>
          <p:cNvSpPr txBox="1">
            <a:spLocks/>
          </p:cNvSpPr>
          <p:nvPr/>
        </p:nvSpPr>
        <p:spPr>
          <a:xfrm>
            <a:off x="7776238" y="1039999"/>
            <a:ext cx="16002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 marL="0">
              <a:defRPr sz="2800" b="0" i="0">
                <a:solidFill>
                  <a:schemeClr val="bg1"/>
                </a:solidFill>
                <a:latin typeface="MS Gothic"/>
                <a:ea typeface="+mn-ea"/>
                <a:cs typeface="MS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lang="en-US" altLang="ja-JP" spc="-40" dirty="0"/>
              <a:t>2</a:t>
            </a:r>
            <a:r>
              <a:rPr lang="ja-JP" altLang="en-US" spc="-40" dirty="0"/>
              <a:t>月以降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</TotalTime>
  <Words>363</Words>
  <Application>Microsoft Office PowerPoint</Application>
  <PresentationFormat>ワイド画面</PresentationFormat>
  <Paragraphs>90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Arial MT</vt:lpstr>
      <vt:lpstr>MS Gothic</vt:lpstr>
      <vt:lpstr>Arial</vt:lpstr>
      <vt:lpstr>Office Theme</vt:lpstr>
      <vt:lpstr>就職作品詳細アピール</vt:lpstr>
      <vt:lpstr>作品概要・開発目的</vt:lpstr>
      <vt:lpstr>PowerPoint プレゼンテーション</vt:lpstr>
      <vt:lpstr>プラットフォーム非依存設計</vt:lpstr>
      <vt:lpstr>プラットフォーム非依存設計</vt:lpstr>
      <vt:lpstr>リソース管理とマネージャー構成</vt:lpstr>
      <vt:lpstr>描画処理の流れ</vt:lpstr>
      <vt:lpstr>シェーダーのリフレクション</vt:lpstr>
      <vt:lpstr>当たり判定 AABBTree</vt:lpstr>
      <vt:lpstr>１月末までに制作するもの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162</cp:revision>
  <dcterms:created xsi:type="dcterms:W3CDTF">2025-12-13T00:48:35Z</dcterms:created>
  <dcterms:modified xsi:type="dcterms:W3CDTF">2025-12-13T03:54:51Z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