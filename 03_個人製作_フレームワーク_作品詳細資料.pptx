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2" r:id="rId4"/>
    <p:sldId id="259" r:id="rId5"/>
    <p:sldId id="260" r:id="rId6"/>
    <p:sldId id="281" r:id="rId7"/>
    <p:sldId id="277" r:id="rId8"/>
    <p:sldId id="278" r:id="rId9"/>
    <p:sldId id="265" r:id="rId10"/>
    <p:sldId id="280" r:id="rId11"/>
    <p:sldId id="279" r:id="rId12"/>
    <p:sldId id="267" r:id="rId13"/>
    <p:sldId id="268" r:id="rId14"/>
    <p:sldId id="269" r:id="rId15"/>
    <p:sldId id="283" r:id="rId16"/>
    <p:sldId id="270" r:id="rId17"/>
    <p:sldId id="284" r:id="rId18"/>
    <p:sldId id="285" r:id="rId19"/>
    <p:sldId id="287" r:id="rId20"/>
    <p:sldId id="288" r:id="rId21"/>
    <p:sldId id="289" r:id="rId22"/>
    <p:sldId id="271" r:id="rId23"/>
    <p:sldId id="273" r:id="rId24"/>
    <p:sldId id="286" r:id="rId25"/>
    <p:sldId id="274" r:id="rId26"/>
    <p:sldId id="275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34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4CC07-7CCF-4856-941D-F16981C68265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6A4E-7012-4A9C-843C-6443E265FB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6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53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980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4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355" y="1905000"/>
            <a:ext cx="65112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就職作品詳細資料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914650" y="5791200"/>
            <a:ext cx="6362700" cy="5366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　ゲーム４年制学科　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25146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作品概要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コンセプト実現に向けて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4267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問題点と今後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B3CEB0-D8D3-663C-5C83-549AC5C5149F}"/>
              </a:ext>
            </a:extLst>
          </p:cNvPr>
          <p:cNvSpPr txBox="1"/>
          <p:nvPr/>
        </p:nvSpPr>
        <p:spPr>
          <a:xfrm>
            <a:off x="6059129" y="1981199"/>
            <a:ext cx="11430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b="1" u="sng" dirty="0">
                <a:solidFill>
                  <a:schemeClr val="bg1"/>
                </a:solidFill>
                <a:latin typeface="+mj-ea"/>
                <a:ea typeface="+mj-ea"/>
              </a:rPr>
              <a:t>P.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３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535FB3-E837-CA56-E648-FB3E54279418}"/>
              </a:ext>
            </a:extLst>
          </p:cNvPr>
          <p:cNvSpPr txBox="1"/>
          <p:nvPr/>
        </p:nvSpPr>
        <p:spPr>
          <a:xfrm>
            <a:off x="6096000" y="2844225"/>
            <a:ext cx="11430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b="1" u="sng" dirty="0">
                <a:solidFill>
                  <a:schemeClr val="bg1"/>
                </a:solidFill>
                <a:latin typeface="+mj-ea"/>
                <a:ea typeface="+mj-ea"/>
              </a:rPr>
              <a:t>P.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６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2E66A4-5215-B9B6-05BC-CA15DDCF131D}"/>
              </a:ext>
            </a:extLst>
          </p:cNvPr>
          <p:cNvSpPr txBox="1"/>
          <p:nvPr/>
        </p:nvSpPr>
        <p:spPr>
          <a:xfrm>
            <a:off x="6096000" y="3707249"/>
            <a:ext cx="11430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b="1" u="sng" dirty="0">
                <a:solidFill>
                  <a:schemeClr val="bg1"/>
                </a:solidFill>
                <a:latin typeface="+mj-ea"/>
                <a:ea typeface="+mj-ea"/>
              </a:rPr>
              <a:t>P.15</a:t>
            </a:r>
            <a:endParaRPr kumimoji="1" lang="ja-JP" altLang="en-US" sz="3200" b="1" u="sng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DEE4-4C2C-5DBC-E420-4CC86F95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B7BD7-2336-C027-28CB-B188A815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505670"/>
            <a:ext cx="4441108" cy="923330"/>
          </a:xfrm>
        </p:spPr>
        <p:txBody>
          <a:bodyPr/>
          <a:lstStyle/>
          <a:p>
            <a:r>
              <a:rPr kumimoji="1" lang="ja-JP" altLang="en-US" sz="6000" u="none" dirty="0"/>
              <a:t>①　</a:t>
            </a:r>
            <a:r>
              <a:rPr kumimoji="1" lang="ja-JP" altLang="en-US" sz="6000" dirty="0"/>
              <a:t>作品概要</a:t>
            </a:r>
          </a:p>
        </p:txBody>
      </p:sp>
    </p:spTree>
    <p:extLst>
      <p:ext uri="{BB962C8B-B14F-4D97-AF65-F5344CB8AC3E}">
        <p14:creationId xmlns:p14="http://schemas.microsoft.com/office/powerpoint/2010/main" val="230723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3134032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63795" y="1910588"/>
            <a:ext cx="11053916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作品名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　</a:t>
            </a:r>
            <a:r>
              <a:rPr kumimoji="1" lang="ja-JP" altLang="en-US" sz="2800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ja-JP" sz="2800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591FF-3C66-76C9-7DB1-C9FD342DC09F}"/>
              </a:ext>
            </a:extLst>
          </p:cNvPr>
          <p:cNvSpPr txBox="1"/>
          <p:nvPr/>
        </p:nvSpPr>
        <p:spPr>
          <a:xfrm>
            <a:off x="371169" y="3755760"/>
            <a:ext cx="4734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制作期間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en-US" sz="2800" dirty="0">
                <a:solidFill>
                  <a:schemeClr val="bg1"/>
                </a:solidFill>
              </a:rPr>
              <a:t>約３～４か月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3ED28E-B2D5-C64C-E143-47076CA1F52A}"/>
              </a:ext>
            </a:extLst>
          </p:cNvPr>
          <p:cNvSpPr txBox="1"/>
          <p:nvPr/>
        </p:nvSpPr>
        <p:spPr>
          <a:xfrm>
            <a:off x="371169" y="2792564"/>
            <a:ext cx="5877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開発環境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C++20 </a:t>
            </a:r>
            <a:r>
              <a:rPr kumimoji="1" lang="ja-JP" altLang="en-US" sz="2800" dirty="0">
                <a:solidFill>
                  <a:schemeClr val="bg1"/>
                </a:solidFill>
              </a:rPr>
              <a:t>・ </a:t>
            </a:r>
            <a:r>
              <a:rPr kumimoji="1" lang="en-US" altLang="ja-JP" sz="2800" dirty="0">
                <a:solidFill>
                  <a:schemeClr val="bg1"/>
                </a:solidFill>
              </a:rPr>
              <a:t>DirectX11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5EB103-E022-71F1-C4DA-50FA9BB056C9}"/>
              </a:ext>
            </a:extLst>
          </p:cNvPr>
          <p:cNvSpPr txBox="1"/>
          <p:nvPr/>
        </p:nvSpPr>
        <p:spPr>
          <a:xfrm>
            <a:off x="373626" y="4640277"/>
            <a:ext cx="42770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使用したライブラリー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686F3-4DCA-0446-F882-162AAF7222AC}"/>
              </a:ext>
            </a:extLst>
          </p:cNvPr>
          <p:cNvSpPr txBox="1"/>
          <p:nvPr/>
        </p:nvSpPr>
        <p:spPr>
          <a:xfrm>
            <a:off x="363794" y="5239635"/>
            <a:ext cx="253180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assimp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>
                <a:solidFill>
                  <a:schemeClr val="bg1"/>
                </a:solidFill>
              </a:rPr>
              <a:t>DirectX Tex</a:t>
            </a:r>
          </a:p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imgui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4EAA75-4092-A1EE-C8AE-D8D3A74CD589}"/>
              </a:ext>
            </a:extLst>
          </p:cNvPr>
          <p:cNvSpPr txBox="1"/>
          <p:nvPr/>
        </p:nvSpPr>
        <p:spPr>
          <a:xfrm>
            <a:off x="3679724" y="5239635"/>
            <a:ext cx="253180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>
                <a:solidFill>
                  <a:schemeClr val="bg1"/>
                </a:solidFill>
              </a:rPr>
              <a:t>DXC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spirv_reflect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B2D-7334-4B27-5A11-5C018C38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A2789-DDC9-EA5E-D3D6-9256DF56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66F244-B60D-B801-2968-736AB6FA8A3F}"/>
              </a:ext>
            </a:extLst>
          </p:cNvPr>
          <p:cNvSpPr txBox="1"/>
          <p:nvPr/>
        </p:nvSpPr>
        <p:spPr>
          <a:xfrm>
            <a:off x="371168" y="2187313"/>
            <a:ext cx="107540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</a:rPr>
              <a:t>ゲーム本体だけでなく、開発現場においてもデザイナーをはじめとした多職種が</a:t>
            </a:r>
            <a:r>
              <a:rPr lang="en-US" altLang="ja-JP" sz="2400" dirty="0">
                <a:solidFill>
                  <a:schemeClr val="bg1"/>
                </a:solidFill>
              </a:rPr>
              <a:t>Mac</a:t>
            </a:r>
            <a:r>
              <a:rPr lang="ja-JP" altLang="en-US" sz="2400" dirty="0">
                <a:solidFill>
                  <a:schemeClr val="bg1"/>
                </a:solidFill>
              </a:rPr>
              <a:t>など多様な環境を利用することが一般的になっている。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このような、</a:t>
            </a:r>
            <a:r>
              <a:rPr lang="ja-JP" altLang="en-US" sz="2400" u="sng" dirty="0">
                <a:solidFill>
                  <a:srgbClr val="FF0000"/>
                </a:solidFill>
              </a:rPr>
              <a:t>開発環境の多様化に対応することが、円滑なゲーム開発を行う上で</a:t>
            </a:r>
            <a:r>
              <a:rPr lang="ja-JP" altLang="en-US" sz="2400" b="1" u="sng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</a:rPr>
              <a:t>重要</a:t>
            </a:r>
            <a:r>
              <a:rPr lang="ja-JP" altLang="en-US" sz="2400" dirty="0">
                <a:solidFill>
                  <a:schemeClr val="bg1"/>
                </a:solidFill>
              </a:rPr>
              <a:t>だと考えました。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6019FD-93D9-34F8-F4FD-5F32F857CF05}"/>
              </a:ext>
            </a:extLst>
          </p:cNvPr>
          <p:cNvSpPr txBox="1"/>
          <p:nvPr/>
        </p:nvSpPr>
        <p:spPr>
          <a:xfrm>
            <a:off x="371168" y="1562972"/>
            <a:ext cx="114398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dirty="0">
                <a:solidFill>
                  <a:schemeClr val="bg1"/>
                </a:solidFill>
              </a:rPr>
              <a:t>作品名 </a:t>
            </a:r>
            <a:r>
              <a:rPr kumimoji="1" lang="en-US" altLang="ja-JP" sz="2800" b="1" dirty="0">
                <a:solidFill>
                  <a:schemeClr val="bg1"/>
                </a:solidFill>
              </a:rPr>
              <a:t>: </a:t>
            </a:r>
            <a:r>
              <a:rPr kumimoji="1" lang="ja-JP" altLang="ja-JP" sz="2800" b="1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D7AAF5-A2A1-C3D5-B707-264CF4610733}"/>
              </a:ext>
            </a:extLst>
          </p:cNvPr>
          <p:cNvSpPr txBox="1"/>
          <p:nvPr/>
        </p:nvSpPr>
        <p:spPr>
          <a:xfrm>
            <a:off x="371168" y="4099037"/>
            <a:ext cx="4810432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コンセプトに必要なこと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3B68A5-EBB3-BDF5-7243-C1311556DFDD}"/>
              </a:ext>
            </a:extLst>
          </p:cNvPr>
          <p:cNvSpPr txBox="1"/>
          <p:nvPr/>
        </p:nvSpPr>
        <p:spPr>
          <a:xfrm>
            <a:off x="371168" y="4663492"/>
            <a:ext cx="58772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データ構造の統一化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ゲーム層とプラットフォーム層の分離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 責任の明確化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インターフェイス 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(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仲介役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40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A703-B661-4A6A-4F49-E296E797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B38C1-B203-3843-8821-1569391E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292" y="2505670"/>
            <a:ext cx="9339416" cy="923330"/>
          </a:xfrm>
        </p:spPr>
        <p:txBody>
          <a:bodyPr/>
          <a:lstStyle/>
          <a:p>
            <a:r>
              <a:rPr kumimoji="1" lang="ja-JP" altLang="en-US" sz="6000" u="none" dirty="0"/>
              <a:t>②　</a:t>
            </a:r>
            <a:r>
              <a:rPr kumimoji="1" lang="ja-JP" altLang="en-US" sz="6000" dirty="0"/>
              <a:t>コンセプト実現に向けて</a:t>
            </a:r>
          </a:p>
        </p:txBody>
      </p:sp>
    </p:spTree>
    <p:extLst>
      <p:ext uri="{BB962C8B-B14F-4D97-AF65-F5344CB8AC3E}">
        <p14:creationId xmlns:p14="http://schemas.microsoft.com/office/powerpoint/2010/main" val="318226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099E-7ECF-5AD9-E1E9-37A8706C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255E2-5C6A-FB90-4930-04535392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1640D1-AED1-D28A-B534-D29873A00783}"/>
              </a:ext>
            </a:extLst>
          </p:cNvPr>
          <p:cNvSpPr txBox="1"/>
          <p:nvPr/>
        </p:nvSpPr>
        <p:spPr>
          <a:xfrm>
            <a:off x="371168" y="1670339"/>
            <a:ext cx="5724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データ構造の統一化 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: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 数学系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6E9848-65E4-574B-51C3-62AB7AE9BF34}"/>
              </a:ext>
            </a:extLst>
          </p:cNvPr>
          <p:cNvSpPr txBox="1"/>
          <p:nvPr/>
        </p:nvSpPr>
        <p:spPr>
          <a:xfrm>
            <a:off x="376084" y="2621122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ゲーム層のコードを一切変更せず、他の</a:t>
            </a:r>
            <a:r>
              <a:rPr lang="en-US" altLang="ja-JP" sz="2800" b="1" dirty="0">
                <a:solidFill>
                  <a:schemeClr val="bg1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などに移植するために</a:t>
            </a:r>
            <a:endParaRPr lang="en-US" altLang="ja-JP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データ構造を統一化する自作ライブラリ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を作成しました。</a:t>
            </a:r>
            <a:endParaRPr kumimoji="0" lang="en-US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数学系は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内部では、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依存の最適化を使用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しています。</a:t>
            </a:r>
            <a:endParaRPr lang="en-US" altLang="ja-JP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行列は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列優先、列ベクトル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をルールにしています。</a:t>
            </a:r>
            <a:endParaRPr kumimoji="0" lang="ja-JP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E0A3369-F7C4-BA17-65EB-8625592D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936778"/>
            <a:ext cx="1981200" cy="259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5EA80-6FE9-0B21-9F97-7FF8C421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6DB29B-32E9-26B1-66FF-72089ADDD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C5F011-9D70-71E0-E04C-789D91CE9759}"/>
              </a:ext>
            </a:extLst>
          </p:cNvPr>
          <p:cNvSpPr txBox="1"/>
          <p:nvPr/>
        </p:nvSpPr>
        <p:spPr>
          <a:xfrm>
            <a:off x="371168" y="1670339"/>
            <a:ext cx="5572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データ構造の統一化 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: 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文字列</a:t>
            </a:r>
          </a:p>
        </p:txBody>
      </p:sp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A0B6D19-2D65-5A62-F2C0-14A5B9C90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4724400"/>
            <a:ext cx="2319184" cy="192679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9E4224-A8A9-9FC8-58B4-66D98C445565}"/>
              </a:ext>
            </a:extLst>
          </p:cNvPr>
          <p:cNvSpPr txBox="1"/>
          <p:nvPr/>
        </p:nvSpPr>
        <p:spPr>
          <a:xfrm>
            <a:off x="376084" y="2621122"/>
            <a:ext cx="10754032" cy="32441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800" b="1" dirty="0">
                <a:solidFill>
                  <a:schemeClr val="bg1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や</a:t>
            </a:r>
            <a:r>
              <a:rPr lang="en-US" altLang="ja-JP" sz="2800" b="1" dirty="0">
                <a:solidFill>
                  <a:schemeClr val="bg1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の差異を排除するために、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UTF-8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文字列のラッパー自作文字列ライブラリ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を作成しました。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インターフェイスの引数を自作文字列にすることで、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プラットフォーム層に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UTF-8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しか渡せないようにして、文字コードの混在などを防いでいます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ja-JP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6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29DF-10D4-BFA7-2DC7-28F641D5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445E2-CC42-ECD3-FCF6-7EDD5DC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34D5E0-6B66-028D-0DCD-1D888E2DD470}"/>
              </a:ext>
            </a:extLst>
          </p:cNvPr>
          <p:cNvSpPr txBox="1"/>
          <p:nvPr/>
        </p:nvSpPr>
        <p:spPr>
          <a:xfrm>
            <a:off x="371167" y="1670339"/>
            <a:ext cx="2756959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関数切り替え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C9A0F4-CB67-EF81-EDCA-8E9D4C6724DE}"/>
              </a:ext>
            </a:extLst>
          </p:cNvPr>
          <p:cNvSpPr txBox="1"/>
          <p:nvPr/>
        </p:nvSpPr>
        <p:spPr>
          <a:xfrm>
            <a:off x="374121" y="2618762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複数の</a:t>
            </a: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OS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、</a:t>
            </a: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に対応するために、</a:t>
            </a: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I/O 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や ログ・メッセージ出力を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OS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、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ごとに実装して用意することでビルド時にファイルを切り替え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て、対応させています。</a:t>
            </a:r>
            <a:endParaRPr kumimoji="0" lang="ja-JP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771792-CFC1-A612-1DE5-D50543967F92}"/>
              </a:ext>
            </a:extLst>
          </p:cNvPr>
          <p:cNvSpPr/>
          <p:nvPr/>
        </p:nvSpPr>
        <p:spPr>
          <a:xfrm>
            <a:off x="7808537" y="4819822"/>
            <a:ext cx="2057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ReportMessage.h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73E2AD-AD8B-DEC5-389B-EEF1EAAD578F}"/>
              </a:ext>
            </a:extLst>
          </p:cNvPr>
          <p:cNvSpPr/>
          <p:nvPr/>
        </p:nvSpPr>
        <p:spPr>
          <a:xfrm>
            <a:off x="6861927" y="6009967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DX_RM.cpp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AE3F4B-E235-BF8D-9A42-17634D194937}"/>
              </a:ext>
            </a:extLst>
          </p:cNvPr>
          <p:cNvSpPr/>
          <p:nvPr/>
        </p:nvSpPr>
        <p:spPr>
          <a:xfrm>
            <a:off x="8991600" y="6009967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OGL_RM.cpp</a:t>
            </a:r>
            <a:endParaRPr kumimoji="1" lang="ja-JP" altLang="en-US" dirty="0"/>
          </a:p>
        </p:txBody>
      </p:sp>
      <p:pic>
        <p:nvPicPr>
          <p:cNvPr id="15" name="図 1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47A4EB1-5FF5-CEBA-88BB-B75BEF460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228600"/>
            <a:ext cx="2063813" cy="2390162"/>
          </a:xfrm>
          <a:prstGeom prst="rect">
            <a:avLst/>
          </a:prstGeom>
        </p:spPr>
      </p:pic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00CA6DE-813D-7FDD-4F33-88AAAC71247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7902210" y="5074939"/>
            <a:ext cx="732945" cy="1137110"/>
          </a:xfrm>
          <a:prstGeom prst="bentConnector3">
            <a:avLst>
              <a:gd name="adj1" fmla="val 7146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C5D3992-D935-FCCF-1F41-663A796E801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16200000" flipH="1">
            <a:off x="8967046" y="5147212"/>
            <a:ext cx="732945" cy="992563"/>
          </a:xfrm>
          <a:prstGeom prst="bentConnector3">
            <a:avLst>
              <a:gd name="adj1" fmla="val 7012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9C88A72-144D-0F1C-0A4A-D35BE03E1C38}"/>
              </a:ext>
            </a:extLst>
          </p:cNvPr>
          <p:cNvSpPr/>
          <p:nvPr/>
        </p:nvSpPr>
        <p:spPr>
          <a:xfrm>
            <a:off x="8877360" y="5339130"/>
            <a:ext cx="2057280" cy="400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dirty="0"/>
              <a:t>ビルド時に切り替え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97CD7E-25DF-E392-F429-C0B28B51A748}"/>
              </a:ext>
            </a:extLst>
          </p:cNvPr>
          <p:cNvSpPr/>
          <p:nvPr/>
        </p:nvSpPr>
        <p:spPr>
          <a:xfrm>
            <a:off x="6629400" y="4419601"/>
            <a:ext cx="4498753" cy="228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0C348-D429-FB97-9D84-A10A46AB15D5}"/>
              </a:ext>
            </a:extLst>
          </p:cNvPr>
          <p:cNvSpPr txBox="1"/>
          <p:nvPr/>
        </p:nvSpPr>
        <p:spPr>
          <a:xfrm>
            <a:off x="7999037" y="4197079"/>
            <a:ext cx="1676400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切り替え</a:t>
            </a:r>
          </a:p>
        </p:txBody>
      </p:sp>
    </p:spTree>
    <p:extLst>
      <p:ext uri="{BB962C8B-B14F-4D97-AF65-F5344CB8AC3E}">
        <p14:creationId xmlns:p14="http://schemas.microsoft.com/office/powerpoint/2010/main" val="158948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7710-823B-F80E-5B8A-3FB38240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32804-9672-89B7-3099-C69F3482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B0580C7-D878-02EF-025A-AF812D878BB2}"/>
              </a:ext>
            </a:extLst>
          </p:cNvPr>
          <p:cNvSpPr txBox="1"/>
          <p:nvPr/>
        </p:nvSpPr>
        <p:spPr>
          <a:xfrm>
            <a:off x="371168" y="1670339"/>
            <a:ext cx="3515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インターフェイス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2B16F8-763C-2642-C524-9470B6C3EB25}"/>
              </a:ext>
            </a:extLst>
          </p:cNvPr>
          <p:cNvSpPr txBox="1"/>
          <p:nvPr/>
        </p:nvSpPr>
        <p:spPr>
          <a:xfrm>
            <a:off x="376084" y="2621122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現在は、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描画マネージャーと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オブジェクト作成をまとめたクラスをインターフェイス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としてゲーム層に渡すことで、ゲーム層が</a:t>
            </a:r>
            <a:r>
              <a:rPr lang="en-US" altLang="ja-JP" sz="2800" b="1" dirty="0">
                <a:solidFill>
                  <a:schemeClr val="bg1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や</a:t>
            </a:r>
            <a:r>
              <a:rPr lang="en-US" altLang="ja-JP" sz="2800" b="1" dirty="0">
                <a:solidFill>
                  <a:schemeClr val="bg1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を知らずに描画マネージャーを使用することができるようにしています。</a:t>
            </a:r>
            <a:endParaRPr kumimoji="0" lang="en-US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9EF287C-943D-7F6A-A93B-7FA17FC1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55542"/>
            <a:ext cx="25717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66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1D01-5886-D4E9-91C1-4C05CE8B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E247A-7B72-CA54-2366-0371DCC5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1061E-B112-E6DC-75F4-F306663BD086}"/>
              </a:ext>
            </a:extLst>
          </p:cNvPr>
          <p:cNvSpPr txBox="1"/>
          <p:nvPr/>
        </p:nvSpPr>
        <p:spPr>
          <a:xfrm>
            <a:off x="371168" y="1670339"/>
            <a:ext cx="5191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リソース管理マネージャー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E58584-0EE7-42CA-5AC6-A4989A4BDC39}"/>
              </a:ext>
            </a:extLst>
          </p:cNvPr>
          <p:cNvSpPr txBox="1"/>
          <p:nvPr/>
        </p:nvSpPr>
        <p:spPr>
          <a:xfrm>
            <a:off x="371168" y="2255114"/>
            <a:ext cx="109826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各</a:t>
            </a: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オブジェクトを管理しているマネージャー、今現在のは</a:t>
            </a:r>
            <a:b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ハッシュ値を保持する文字列を使用して、</a:t>
            </a:r>
            <a:b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ハッシュマップから取得・管理を行っています。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DE55793C-5870-7CB0-C394-FB984A7F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43400"/>
            <a:ext cx="8305800" cy="2449382"/>
          </a:xfrm>
          <a:prstGeom prst="rect">
            <a:avLst/>
          </a:prstGeom>
        </p:spPr>
      </p:pic>
      <p:pic>
        <p:nvPicPr>
          <p:cNvPr id="6" name="図 5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B10A929D-979A-884B-EF79-578C03598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745" y="5025166"/>
            <a:ext cx="2085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5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C273-3BF3-11C8-794E-5A89FB38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F1C00-D7CE-F059-1BE3-177E133C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4BA5B1-1AA4-D293-0061-3A0D4BBDDE66}"/>
              </a:ext>
            </a:extLst>
          </p:cNvPr>
          <p:cNvSpPr txBox="1"/>
          <p:nvPr/>
        </p:nvSpPr>
        <p:spPr>
          <a:xfrm>
            <a:off x="371168" y="1670339"/>
            <a:ext cx="2295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11CF534-4526-C3EB-E7FB-5C4BF067762C}"/>
              </a:ext>
            </a:extLst>
          </p:cNvPr>
          <p:cNvSpPr txBox="1"/>
          <p:nvPr/>
        </p:nvSpPr>
        <p:spPr>
          <a:xfrm>
            <a:off x="371167" y="2621122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オブジェクトに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シェーダー固有の情報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定数バッファのバインド情報など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を持たせたくなかった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ため、シェーダーの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リフレクション情報を取得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して、参照するようにしています。</a:t>
            </a:r>
            <a:endParaRPr kumimoji="0" lang="en-US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現在のは、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DirectX11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のリフレクション</a:t>
            </a:r>
            <a:r>
              <a:rPr lang="ja-JP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を使用しています。</a:t>
            </a:r>
            <a:endParaRPr kumimoji="0" lang="ja-JP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0E91340-CF82-BEE3-EFBD-43AE761D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073057"/>
            <a:ext cx="1308396" cy="27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19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778F-F635-0616-B585-7716CA1C0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26341-98AF-0E9C-4437-65316181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41FC28-02CD-E182-1342-CF3FB1CB8771}"/>
              </a:ext>
            </a:extLst>
          </p:cNvPr>
          <p:cNvSpPr txBox="1"/>
          <p:nvPr/>
        </p:nvSpPr>
        <p:spPr>
          <a:xfrm>
            <a:off x="371168" y="1670339"/>
            <a:ext cx="1686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3200" dirty="0" err="1">
                <a:solidFill>
                  <a:schemeClr val="bg1"/>
                </a:solidFill>
              </a:rPr>
              <a:t>CMake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391546-A754-DD6D-302A-C86B444F8767}"/>
              </a:ext>
            </a:extLst>
          </p:cNvPr>
          <p:cNvSpPr txBox="1"/>
          <p:nvPr/>
        </p:nvSpPr>
        <p:spPr>
          <a:xfrm>
            <a:off x="371168" y="2645138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800" b="1" u="sng" dirty="0" err="1">
                <a:solidFill>
                  <a:schemeClr val="bg1"/>
                </a:solidFill>
                <a:latin typeface="Arial" panose="020B0604020202020204" pitchFamily="34" charset="0"/>
              </a:rPr>
              <a:t>Cmake</a:t>
            </a:r>
            <a:r>
              <a:rPr lang="ja-JP" altLang="en-US" sz="2800" b="1" u="sng" dirty="0">
                <a:solidFill>
                  <a:schemeClr val="bg1"/>
                </a:solidFill>
                <a:latin typeface="Arial" panose="020B0604020202020204" pitchFamily="34" charset="0"/>
              </a:rPr>
              <a:t>を使用することで、ビルド設定を共有化でき、</a:t>
            </a:r>
            <a:br>
              <a:rPr lang="en-US" altLang="ja-JP" sz="2800" b="1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や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が異なる環境でもビルドが行える</a:t>
            </a:r>
            <a:r>
              <a:rPr lang="ja-JP" altLang="en-US" sz="2800" b="1" u="sng" dirty="0">
                <a:solidFill>
                  <a:schemeClr val="bg1"/>
                </a:solidFill>
                <a:latin typeface="Arial" panose="020B0604020202020204" pitchFamily="34" charset="0"/>
              </a:rPr>
              <a:t>ため使用しています。</a:t>
            </a:r>
            <a:endParaRPr lang="en-US" altLang="ja-JP" sz="2800" b="1" u="sng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5A12992-FB76-D612-8CDD-0BADB4BE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056605"/>
            <a:ext cx="2716359" cy="24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2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5B7D-D9BF-A27C-3DFF-F3E67B75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2688C-0B15-1DF2-C15E-73345C42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2B3AA5-8889-FC69-C336-FD952CCBE9B4}"/>
              </a:ext>
            </a:extLst>
          </p:cNvPr>
          <p:cNvSpPr txBox="1"/>
          <p:nvPr/>
        </p:nvSpPr>
        <p:spPr>
          <a:xfrm>
            <a:off x="371168" y="1670339"/>
            <a:ext cx="2372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コンパイル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944BB5-297B-AAEF-858A-EA307D884FE6}"/>
              </a:ext>
            </a:extLst>
          </p:cNvPr>
          <p:cNvSpPr txBox="1"/>
          <p:nvPr/>
        </p:nvSpPr>
        <p:spPr>
          <a:xfrm>
            <a:off x="278991" y="2651391"/>
            <a:ext cx="10754032" cy="1951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マルチプラットフォームで同じソースをそのまま他の</a:t>
            </a: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OS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などでも使用したいため、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標準準拠の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Clang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を基準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にしています。</a:t>
            </a:r>
            <a:b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では、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Clang-CL</a:t>
            </a:r>
            <a:r>
              <a:rPr kumimoji="0" lang="ja-JP" altLang="en-US" sz="2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を使用しています。</a:t>
            </a:r>
            <a:endParaRPr kumimoji="0" lang="en-US" altLang="ja-JP" sz="28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404B61A-4545-0E5B-7446-B6D5B6B2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4343400"/>
            <a:ext cx="4557252" cy="22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09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B2FB-06C1-7529-F6F4-DDFEA204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6247B3-7806-3337-10BD-81E10E62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646" y="2503212"/>
            <a:ext cx="5812708" cy="923330"/>
          </a:xfrm>
        </p:spPr>
        <p:txBody>
          <a:bodyPr/>
          <a:lstStyle/>
          <a:p>
            <a:r>
              <a:rPr kumimoji="1" lang="ja-JP" altLang="en-US" sz="6000" u="none" dirty="0"/>
              <a:t>③　</a:t>
            </a:r>
            <a:r>
              <a:rPr kumimoji="1" lang="ja-JP" altLang="en-US" sz="6000" dirty="0"/>
              <a:t>問題点と今後</a:t>
            </a:r>
          </a:p>
        </p:txBody>
      </p:sp>
    </p:spTree>
    <p:extLst>
      <p:ext uri="{BB962C8B-B14F-4D97-AF65-F5344CB8AC3E}">
        <p14:creationId xmlns:p14="http://schemas.microsoft.com/office/powerpoint/2010/main" val="3525556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7372-ED01-E531-666C-D915BB10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0B677F-6748-6461-8629-A772D11B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8FB8C-D07F-2C9F-3D46-FE119165A1FE}"/>
              </a:ext>
            </a:extLst>
          </p:cNvPr>
          <p:cNvSpPr txBox="1"/>
          <p:nvPr/>
        </p:nvSpPr>
        <p:spPr>
          <a:xfrm>
            <a:off x="371168" y="1625024"/>
            <a:ext cx="5115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インターフェイスの問題点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4874A6-9524-92A0-D25C-436FA0850661}"/>
              </a:ext>
            </a:extLst>
          </p:cNvPr>
          <p:cNvSpPr txBox="1"/>
          <p:nvPr/>
        </p:nvSpPr>
        <p:spPr>
          <a:xfrm>
            <a:off x="371168" y="2350152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現在のインターフェイスは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描画マネージャーと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オブジェクト作成ができるクラス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を渡しているため、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単一責任になっておらず拡張性や保守性が低く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なってしまっています。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CDD45B-4DE5-64B7-839A-F395C775856A}"/>
              </a:ext>
            </a:extLst>
          </p:cNvPr>
          <p:cNvSpPr/>
          <p:nvPr/>
        </p:nvSpPr>
        <p:spPr>
          <a:xfrm>
            <a:off x="8501216" y="4838375"/>
            <a:ext cx="20574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5FE0F82-2CE0-E9BE-2B47-22D4D0260BC0}"/>
              </a:ext>
            </a:extLst>
          </p:cNvPr>
          <p:cNvSpPr/>
          <p:nvPr/>
        </p:nvSpPr>
        <p:spPr>
          <a:xfrm>
            <a:off x="8496758" y="5902585"/>
            <a:ext cx="2057279" cy="69163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描画マネージャー</a:t>
            </a:r>
            <a:br>
              <a:rPr kumimoji="1" lang="en-US" altLang="ja-JP" dirty="0"/>
            </a:br>
            <a:r>
              <a:rPr kumimoji="1" lang="ja-JP" altLang="en-US" dirty="0"/>
              <a:t>インターフェイス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322CE181-9090-72BA-667C-6FF46F9511AB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V="1">
            <a:off x="8496758" y="5066974"/>
            <a:ext cx="4458" cy="1181427"/>
          </a:xfrm>
          <a:prstGeom prst="bentConnector3">
            <a:avLst>
              <a:gd name="adj1" fmla="val 2088714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1A9272F2-9CA2-8B9A-C79D-65AA139DCC87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>
          <a:xfrm flipH="1">
            <a:off x="10554037" y="5066975"/>
            <a:ext cx="4579" cy="1181427"/>
          </a:xfrm>
          <a:prstGeom prst="bentConnector3">
            <a:avLst>
              <a:gd name="adj1" fmla="val -1615806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E0DCB97-08E9-3172-0F6D-DED92EA01E21}"/>
              </a:ext>
            </a:extLst>
          </p:cNvPr>
          <p:cNvSpPr/>
          <p:nvPr/>
        </p:nvSpPr>
        <p:spPr>
          <a:xfrm>
            <a:off x="10880684" y="5477917"/>
            <a:ext cx="816077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2278195-50D8-86C0-F4A8-20D67963C5E3}"/>
              </a:ext>
            </a:extLst>
          </p:cNvPr>
          <p:cNvSpPr/>
          <p:nvPr/>
        </p:nvSpPr>
        <p:spPr>
          <a:xfrm>
            <a:off x="7322079" y="4438154"/>
            <a:ext cx="4498753" cy="228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D4F9A8-278A-F6BB-B702-5881AD9C3CFB}"/>
              </a:ext>
            </a:extLst>
          </p:cNvPr>
          <p:cNvSpPr txBox="1"/>
          <p:nvPr/>
        </p:nvSpPr>
        <p:spPr>
          <a:xfrm>
            <a:off x="8440993" y="4006157"/>
            <a:ext cx="2204884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現在の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インターフェイス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31DD00B-A48F-1245-2702-159E2E08F531}"/>
              </a:ext>
            </a:extLst>
          </p:cNvPr>
          <p:cNvSpPr/>
          <p:nvPr/>
        </p:nvSpPr>
        <p:spPr>
          <a:xfrm>
            <a:off x="6553200" y="5457578"/>
            <a:ext cx="2200305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API</a:t>
            </a:r>
            <a:r>
              <a:rPr kumimoji="1" lang="ja-JP" altLang="en-US" dirty="0"/>
              <a:t>オブジェクト作成</a:t>
            </a:r>
          </a:p>
        </p:txBody>
      </p:sp>
    </p:spTree>
    <p:extLst>
      <p:ext uri="{BB962C8B-B14F-4D97-AF65-F5344CB8AC3E}">
        <p14:creationId xmlns:p14="http://schemas.microsoft.com/office/powerpoint/2010/main" val="3932587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6AE0-C4EA-3B0E-6C69-A5F7B26B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FFF008-D956-AEED-4911-FC0D7FC4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26BB90-7944-F892-4477-755E24E4DE86}"/>
              </a:ext>
            </a:extLst>
          </p:cNvPr>
          <p:cNvSpPr txBox="1"/>
          <p:nvPr/>
        </p:nvSpPr>
        <p:spPr>
          <a:xfrm>
            <a:off x="383458" y="1625024"/>
            <a:ext cx="670314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インターフェイス・描画処理の改善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72B438-163E-2686-0963-8E193AB8E743}"/>
              </a:ext>
            </a:extLst>
          </p:cNvPr>
          <p:cNvSpPr txBox="1"/>
          <p:nvPr/>
        </p:nvSpPr>
        <p:spPr>
          <a:xfrm>
            <a:off x="371168" y="2667000"/>
            <a:ext cx="11592232" cy="32403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将来の拡張性・保守のために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描画コマンドリスト方式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に置き換えています。描画コマンドリスト方式とは、一度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描画情報をコマンドとして保存して、まとめて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GPU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に送る方式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です。これを使用して、描画コマンド作成を</a:t>
            </a: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Game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層、描画をプラットフォーム層で行うことで、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単一責任と処理の分離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を行いたいと思っています。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849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146AD-4E9B-9157-F002-0B4E1B9C4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F02E7105-7FD7-90BD-A2DB-2803B82B18D1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9637929" y="4838492"/>
            <a:ext cx="1438407" cy="692368"/>
          </a:xfrm>
          <a:prstGeom prst="bentConnector3">
            <a:avLst>
              <a:gd name="adj1" fmla="val 9989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B034A726-4B21-9AB8-8916-BDD6C48CF573}"/>
              </a:ext>
            </a:extLst>
          </p:cNvPr>
          <p:cNvCxnSpPr>
            <a:cxnSpLocks/>
          </p:cNvCxnSpPr>
          <p:nvPr/>
        </p:nvCxnSpPr>
        <p:spPr>
          <a:xfrm flipV="1">
            <a:off x="8615260" y="2776790"/>
            <a:ext cx="0" cy="30396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09F772A4-AF90-DE43-9547-18B00347B5C0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8821117" y="4626602"/>
            <a:ext cx="1350958" cy="1028700"/>
          </a:xfrm>
          <a:prstGeom prst="bentConnector3">
            <a:avLst>
              <a:gd name="adj1" fmla="val 87845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コネクタ: カギ線 69">
            <a:extLst>
              <a:ext uri="{FF2B5EF4-FFF2-40B4-BE49-F238E27FC236}">
                <a16:creationId xmlns:a16="http://schemas.microsoft.com/office/drawing/2014/main" id="{179F8531-D335-9306-134B-B098D57A3F6D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V="1">
            <a:off x="8652255" y="3106782"/>
            <a:ext cx="1688683" cy="1028700"/>
          </a:xfrm>
          <a:prstGeom prst="bentConnector3">
            <a:avLst>
              <a:gd name="adj1" fmla="val 5349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5AC9EF64-6E25-3798-6F44-397591F9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FA1A96-FDCA-F8EA-2439-C6573189238B}"/>
              </a:ext>
            </a:extLst>
          </p:cNvPr>
          <p:cNvSpPr txBox="1"/>
          <p:nvPr/>
        </p:nvSpPr>
        <p:spPr>
          <a:xfrm>
            <a:off x="383458" y="1625024"/>
            <a:ext cx="670314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インターフェイス・描画処理の改善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FBC056-3D8F-6051-6B7E-16366CAD2790}"/>
              </a:ext>
            </a:extLst>
          </p:cNvPr>
          <p:cNvSpPr/>
          <p:nvPr/>
        </p:nvSpPr>
        <p:spPr>
          <a:xfrm>
            <a:off x="2245937" y="3753021"/>
            <a:ext cx="20574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ゲーム層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74A5C-D240-09FA-C45F-33C402723461}"/>
              </a:ext>
            </a:extLst>
          </p:cNvPr>
          <p:cNvSpPr/>
          <p:nvPr/>
        </p:nvSpPr>
        <p:spPr>
          <a:xfrm>
            <a:off x="2241479" y="4817231"/>
            <a:ext cx="2057279" cy="69163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描画マネージャー</a:t>
            </a:r>
            <a:br>
              <a:rPr kumimoji="1" lang="en-US" altLang="ja-JP" dirty="0"/>
            </a:br>
            <a:r>
              <a:rPr kumimoji="1" lang="ja-JP" altLang="en-US" dirty="0"/>
              <a:t>インターフェイス</a:t>
            </a:r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32BD5FC8-86A0-214D-5A69-FD643D330A4D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V="1">
            <a:off x="2241479" y="3981620"/>
            <a:ext cx="4458" cy="1181427"/>
          </a:xfrm>
          <a:prstGeom prst="bentConnector3">
            <a:avLst>
              <a:gd name="adj1" fmla="val 2088714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32E08231-FD2A-1257-0537-95D6111B0625}"/>
              </a:ext>
            </a:extLst>
          </p:cNvPr>
          <p:cNvCxnSpPr>
            <a:cxnSpLocks/>
            <a:stCxn id="3" idx="3"/>
            <a:endCxn id="4" idx="3"/>
          </p:cNvCxnSpPr>
          <p:nvPr/>
        </p:nvCxnSpPr>
        <p:spPr>
          <a:xfrm flipH="1">
            <a:off x="4298758" y="3981621"/>
            <a:ext cx="4579" cy="1181427"/>
          </a:xfrm>
          <a:prstGeom prst="bentConnector3">
            <a:avLst>
              <a:gd name="adj1" fmla="val -1615806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1C51389-D3F8-2397-7C40-846FFFA0D29D}"/>
              </a:ext>
            </a:extLst>
          </p:cNvPr>
          <p:cNvSpPr/>
          <p:nvPr/>
        </p:nvSpPr>
        <p:spPr>
          <a:xfrm>
            <a:off x="4625405" y="4392563"/>
            <a:ext cx="816077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F8219E-A7D1-B2FC-0CC8-DA9F53824ED8}"/>
              </a:ext>
            </a:extLst>
          </p:cNvPr>
          <p:cNvSpPr/>
          <p:nvPr/>
        </p:nvSpPr>
        <p:spPr>
          <a:xfrm>
            <a:off x="1066800" y="3352800"/>
            <a:ext cx="4498753" cy="228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D9DB5F-7F6B-9AC2-A4CB-4B2FC72CC2DB}"/>
              </a:ext>
            </a:extLst>
          </p:cNvPr>
          <p:cNvSpPr txBox="1"/>
          <p:nvPr/>
        </p:nvSpPr>
        <p:spPr>
          <a:xfrm>
            <a:off x="2185714" y="2920803"/>
            <a:ext cx="2204884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現在の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描画処理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2F6E026-8752-2D9E-4882-1914E565B051}"/>
              </a:ext>
            </a:extLst>
          </p:cNvPr>
          <p:cNvSpPr/>
          <p:nvPr/>
        </p:nvSpPr>
        <p:spPr>
          <a:xfrm>
            <a:off x="297921" y="4372224"/>
            <a:ext cx="2200305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API</a:t>
            </a:r>
            <a:r>
              <a:rPr kumimoji="1" lang="ja-JP" altLang="en-US" dirty="0"/>
              <a:t>オブジェクト作成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AE28B5-2FCF-CF94-9EEA-B0A6D7B83E27}"/>
              </a:ext>
            </a:extLst>
          </p:cNvPr>
          <p:cNvSpPr/>
          <p:nvPr/>
        </p:nvSpPr>
        <p:spPr>
          <a:xfrm>
            <a:off x="7953546" y="2319590"/>
            <a:ext cx="205740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36A050A-F1DE-8D2F-F274-74C89DD5932D}"/>
              </a:ext>
            </a:extLst>
          </p:cNvPr>
          <p:cNvSpPr/>
          <p:nvPr/>
        </p:nvSpPr>
        <p:spPr>
          <a:xfrm>
            <a:off x="9603163" y="3773839"/>
            <a:ext cx="2200305" cy="69163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API</a:t>
            </a:r>
            <a:r>
              <a:rPr kumimoji="1" lang="ja-JP" altLang="en-US" dirty="0"/>
              <a:t>オブジェクト作成</a:t>
            </a:r>
            <a:br>
              <a:rPr kumimoji="1" lang="en-US" altLang="ja-JP" dirty="0"/>
            </a:br>
            <a:r>
              <a:rPr kumimoji="1" lang="ja-JP" altLang="en-US" dirty="0"/>
              <a:t>インターフェイス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681DBEF7-6C2B-406C-6C23-FEC98D9EED95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10010946" y="2548190"/>
            <a:ext cx="692370" cy="1225649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5D2E5F2-D81E-BD6A-0DDF-9A4B55443A7F}"/>
              </a:ext>
            </a:extLst>
          </p:cNvPr>
          <p:cNvSpPr/>
          <p:nvPr/>
        </p:nvSpPr>
        <p:spPr>
          <a:xfrm>
            <a:off x="9529660" y="2957511"/>
            <a:ext cx="2200305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API</a:t>
            </a:r>
            <a:r>
              <a:rPr kumimoji="1" lang="ja-JP" altLang="en-US" dirty="0"/>
              <a:t>オブジェクト作成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28DDA3-FD10-BAA4-4854-DDAEBA59A3A0}"/>
              </a:ext>
            </a:extLst>
          </p:cNvPr>
          <p:cNvSpPr/>
          <p:nvPr/>
        </p:nvSpPr>
        <p:spPr>
          <a:xfrm>
            <a:off x="7953546" y="5816431"/>
            <a:ext cx="2057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プラットフォーム層</a:t>
            </a: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B5830985-AED9-2B51-C8D8-023136B821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53622" y="4735050"/>
            <a:ext cx="1734582" cy="1219931"/>
          </a:xfrm>
          <a:prstGeom prst="bentConnector3">
            <a:avLst>
              <a:gd name="adj1" fmla="val 181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589DC92-40C0-77D1-0CE0-86663A4C849D}"/>
              </a:ext>
            </a:extLst>
          </p:cNvPr>
          <p:cNvSpPr/>
          <p:nvPr/>
        </p:nvSpPr>
        <p:spPr>
          <a:xfrm>
            <a:off x="10270986" y="4681471"/>
            <a:ext cx="823076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仲介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43DA26E7-75EF-0CFC-8436-911E93CEECD9}"/>
              </a:ext>
            </a:extLst>
          </p:cNvPr>
          <p:cNvSpPr/>
          <p:nvPr/>
        </p:nvSpPr>
        <p:spPr>
          <a:xfrm>
            <a:off x="7673823" y="4718451"/>
            <a:ext cx="2200305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ゲーム層に渡す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78E5BAE1-A8C0-15D4-6B2C-83C089FD9110}"/>
              </a:ext>
            </a:extLst>
          </p:cNvPr>
          <p:cNvSpPr/>
          <p:nvPr/>
        </p:nvSpPr>
        <p:spPr>
          <a:xfrm>
            <a:off x="7503542" y="3779964"/>
            <a:ext cx="1873718" cy="69163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描画コマンド配列</a:t>
            </a:r>
            <a:br>
              <a:rPr kumimoji="1" lang="en-US" altLang="ja-JP" dirty="0"/>
            </a:br>
            <a:r>
              <a:rPr kumimoji="1" lang="ja-JP" altLang="en-US" dirty="0"/>
              <a:t>参照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22CB2CE-25E1-72C8-6057-5BA3BD799902}"/>
              </a:ext>
            </a:extLst>
          </p:cNvPr>
          <p:cNvSpPr/>
          <p:nvPr/>
        </p:nvSpPr>
        <p:spPr>
          <a:xfrm>
            <a:off x="7395326" y="1876655"/>
            <a:ext cx="4498753" cy="46671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7AD5B8-6108-5AC4-EB57-69271A76E806}"/>
              </a:ext>
            </a:extLst>
          </p:cNvPr>
          <p:cNvSpPr txBox="1"/>
          <p:nvPr/>
        </p:nvSpPr>
        <p:spPr>
          <a:xfrm>
            <a:off x="8514240" y="1444658"/>
            <a:ext cx="2204884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新しい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描画処理</a:t>
            </a:r>
          </a:p>
        </p:txBody>
      </p: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CE0C4802-D18F-1774-495E-1EEDF304B293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7694290" y="2548189"/>
            <a:ext cx="259256" cy="1225649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B24C6FD-9AC8-9BF8-0ED5-7D874841DA4A}"/>
              </a:ext>
            </a:extLst>
          </p:cNvPr>
          <p:cNvSpPr/>
          <p:nvPr/>
        </p:nvSpPr>
        <p:spPr>
          <a:xfrm>
            <a:off x="6978784" y="2990877"/>
            <a:ext cx="1431010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コマンド作成</a:t>
            </a:r>
          </a:p>
        </p:txBody>
      </p:sp>
      <p:cxnSp>
        <p:nvCxnSpPr>
          <p:cNvPr id="93" name="コネクタ: カギ線 92">
            <a:extLst>
              <a:ext uri="{FF2B5EF4-FFF2-40B4-BE49-F238E27FC236}">
                <a16:creationId xmlns:a16="http://schemas.microsoft.com/office/drawing/2014/main" id="{7988A044-779A-88C0-6D40-B1A22C5DF766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7044523" y="5136007"/>
            <a:ext cx="1567305" cy="250741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3AB4C153-A9D9-0F99-F20C-B7C2AEAB88E0}"/>
              </a:ext>
            </a:extLst>
          </p:cNvPr>
          <p:cNvSpPr/>
          <p:nvPr/>
        </p:nvSpPr>
        <p:spPr>
          <a:xfrm>
            <a:off x="7009391" y="5289915"/>
            <a:ext cx="1431010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描画処理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6012B5B4-7B14-9F5E-56A2-A29C0C36E9F8}"/>
              </a:ext>
            </a:extLst>
          </p:cNvPr>
          <p:cNvSpPr/>
          <p:nvPr/>
        </p:nvSpPr>
        <p:spPr>
          <a:xfrm>
            <a:off x="10835173" y="5612379"/>
            <a:ext cx="823076" cy="400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作成</a:t>
            </a:r>
          </a:p>
        </p:txBody>
      </p:sp>
    </p:spTree>
    <p:extLst>
      <p:ext uri="{BB962C8B-B14F-4D97-AF65-F5344CB8AC3E}">
        <p14:creationId xmlns:p14="http://schemas.microsoft.com/office/powerpoint/2010/main" val="4133225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56F0-48D1-FFBB-2916-1626D027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E563F2-262B-72BE-24D4-754F7B9D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2CE86D-7602-915C-337C-8D9CF37EA03B}"/>
              </a:ext>
            </a:extLst>
          </p:cNvPr>
          <p:cNvSpPr txBox="1"/>
          <p:nvPr/>
        </p:nvSpPr>
        <p:spPr>
          <a:xfrm>
            <a:off x="371168" y="1625024"/>
            <a:ext cx="4277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リソース管理の問題点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3D9148-AA92-F8AB-4F6E-33404B8B97C0}"/>
              </a:ext>
            </a:extLst>
          </p:cNvPr>
          <p:cNvSpPr txBox="1"/>
          <p:nvPr/>
        </p:nvSpPr>
        <p:spPr>
          <a:xfrm>
            <a:off x="371168" y="2350152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現在のリソース管理は、ハッシュマップを使用して保持・管理を行っています。この方式だと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キャッシュ効率やメモリのオーバーヘッドが大きくなる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という問題があります。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7BAD7F-C8C2-40BF-4E65-04332AA43BDB}"/>
              </a:ext>
            </a:extLst>
          </p:cNvPr>
          <p:cNvSpPr/>
          <p:nvPr/>
        </p:nvSpPr>
        <p:spPr>
          <a:xfrm>
            <a:off x="3500284" y="5180644"/>
            <a:ext cx="44958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C092E0-922C-96C6-0791-F89FDA47F6D2}"/>
              </a:ext>
            </a:extLst>
          </p:cNvPr>
          <p:cNvSpPr txBox="1"/>
          <p:nvPr/>
        </p:nvSpPr>
        <p:spPr>
          <a:xfrm>
            <a:off x="909484" y="5180644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ハッシュマップ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41684F0-920C-5080-F72E-FE28D0887A3C}"/>
              </a:ext>
            </a:extLst>
          </p:cNvPr>
          <p:cNvSpPr/>
          <p:nvPr/>
        </p:nvSpPr>
        <p:spPr>
          <a:xfrm>
            <a:off x="3500284" y="6051375"/>
            <a:ext cx="44958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FF1DA8-52AE-EE20-65E6-E0235D4978BD}"/>
              </a:ext>
            </a:extLst>
          </p:cNvPr>
          <p:cNvSpPr txBox="1"/>
          <p:nvPr/>
        </p:nvSpPr>
        <p:spPr>
          <a:xfrm>
            <a:off x="909484" y="6051375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Vector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02DC8D3-E8D2-914F-BC01-55B70A56D4CF}"/>
              </a:ext>
            </a:extLst>
          </p:cNvPr>
          <p:cNvSpPr/>
          <p:nvPr/>
        </p:nvSpPr>
        <p:spPr>
          <a:xfrm>
            <a:off x="3515032" y="5180644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5815B6-B49D-DD27-F192-CB4AF18030EB}"/>
              </a:ext>
            </a:extLst>
          </p:cNvPr>
          <p:cNvSpPr/>
          <p:nvPr/>
        </p:nvSpPr>
        <p:spPr>
          <a:xfrm>
            <a:off x="5595784" y="5180644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DA586F3-A26A-503E-FEB6-A326BECABFB9}"/>
              </a:ext>
            </a:extLst>
          </p:cNvPr>
          <p:cNvSpPr/>
          <p:nvPr/>
        </p:nvSpPr>
        <p:spPr>
          <a:xfrm>
            <a:off x="3500284" y="6071419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F9EFC42-5B13-79DC-7FB2-4A59411052DB}"/>
              </a:ext>
            </a:extLst>
          </p:cNvPr>
          <p:cNvSpPr/>
          <p:nvPr/>
        </p:nvSpPr>
        <p:spPr>
          <a:xfrm>
            <a:off x="4235246" y="6071419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04948D6-B4F8-2CAA-EB89-51C6D43F6655}"/>
              </a:ext>
            </a:extLst>
          </p:cNvPr>
          <p:cNvSpPr/>
          <p:nvPr/>
        </p:nvSpPr>
        <p:spPr>
          <a:xfrm>
            <a:off x="4970208" y="6071419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7C21C65-2841-D6E0-8361-1885D564C4FC}"/>
              </a:ext>
            </a:extLst>
          </p:cNvPr>
          <p:cNvSpPr/>
          <p:nvPr/>
        </p:nvSpPr>
        <p:spPr>
          <a:xfrm>
            <a:off x="7005484" y="5190666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431E8AB-0A46-25F0-9255-A2920E305DE0}"/>
              </a:ext>
            </a:extLst>
          </p:cNvPr>
          <p:cNvSpPr txBox="1"/>
          <p:nvPr/>
        </p:nvSpPr>
        <p:spPr>
          <a:xfrm>
            <a:off x="3435146" y="4764419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</a:rPr>
              <a:t>メモリが散在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CED5754-BE04-7D54-7FDF-6E8A3FAE76D7}"/>
              </a:ext>
            </a:extLst>
          </p:cNvPr>
          <p:cNvSpPr txBox="1"/>
          <p:nvPr/>
        </p:nvSpPr>
        <p:spPr>
          <a:xfrm>
            <a:off x="3515032" y="5674669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</a:rPr>
              <a:t>連続配置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260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7A15-C928-B00C-6CDC-29636DF0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89438-1F5A-9F47-2BF7-1E8377A1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81E9F9-A0AA-9902-4088-96B7CC18C9D9}"/>
              </a:ext>
            </a:extLst>
          </p:cNvPr>
          <p:cNvSpPr txBox="1"/>
          <p:nvPr/>
        </p:nvSpPr>
        <p:spPr>
          <a:xfrm>
            <a:off x="371168" y="1625024"/>
            <a:ext cx="3864078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リソース管理の改善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E8142C-E93A-62B0-0C35-C4BF77E64E18}"/>
              </a:ext>
            </a:extLst>
          </p:cNvPr>
          <p:cNvSpPr txBox="1"/>
          <p:nvPr/>
        </p:nvSpPr>
        <p:spPr>
          <a:xfrm>
            <a:off x="371168" y="2638996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リソース管理を、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を使用してハンドル（添え字と世代）で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管理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するようにしました。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ハンドル取得に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文字列を使用して、ハッシュマップを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使用してハンドルを取得・管理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を行うようにしました。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843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6D88-E56B-F700-D175-B1DBDCA4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359D1-BD2D-E2BC-A7DD-36E139D73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3E6DE8-BB4A-62FA-3214-112F683D5451}"/>
              </a:ext>
            </a:extLst>
          </p:cNvPr>
          <p:cNvSpPr txBox="1"/>
          <p:nvPr/>
        </p:nvSpPr>
        <p:spPr>
          <a:xfrm>
            <a:off x="371168" y="1625024"/>
            <a:ext cx="3864078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リソース管理の改善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843FB-9528-C8F4-0AFC-E43971FF01A0}"/>
              </a:ext>
            </a:extLst>
          </p:cNvPr>
          <p:cNvSpPr/>
          <p:nvPr/>
        </p:nvSpPr>
        <p:spPr>
          <a:xfrm>
            <a:off x="7424584" y="3832413"/>
            <a:ext cx="44958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68C03A-BFF0-D328-BFC8-972F8AE6E840}"/>
              </a:ext>
            </a:extLst>
          </p:cNvPr>
          <p:cNvSpPr txBox="1"/>
          <p:nvPr/>
        </p:nvSpPr>
        <p:spPr>
          <a:xfrm>
            <a:off x="4833784" y="3832413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Vector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AD8D092-9706-F700-8F6F-EECBF7A3A5BD}"/>
              </a:ext>
            </a:extLst>
          </p:cNvPr>
          <p:cNvSpPr/>
          <p:nvPr/>
        </p:nvSpPr>
        <p:spPr>
          <a:xfrm>
            <a:off x="7424584" y="3852457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56EC3D-B14C-E136-EE81-0668F1079E61}"/>
              </a:ext>
            </a:extLst>
          </p:cNvPr>
          <p:cNvSpPr/>
          <p:nvPr/>
        </p:nvSpPr>
        <p:spPr>
          <a:xfrm>
            <a:off x="8159546" y="3852457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CE36A43-95A1-BC46-15FC-032CFA48D574}"/>
              </a:ext>
            </a:extLst>
          </p:cNvPr>
          <p:cNvSpPr/>
          <p:nvPr/>
        </p:nvSpPr>
        <p:spPr>
          <a:xfrm>
            <a:off x="8894508" y="3852457"/>
            <a:ext cx="73742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23AA7D-0208-7E89-8DC9-85E63D2044D2}"/>
              </a:ext>
            </a:extLst>
          </p:cNvPr>
          <p:cNvSpPr txBox="1"/>
          <p:nvPr/>
        </p:nvSpPr>
        <p:spPr>
          <a:xfrm>
            <a:off x="4833784" y="2841813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ハンドル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1B2B4D-9FD5-59BB-1624-223FA7B137B8}"/>
              </a:ext>
            </a:extLst>
          </p:cNvPr>
          <p:cNvSpPr/>
          <p:nvPr/>
        </p:nvSpPr>
        <p:spPr>
          <a:xfrm>
            <a:off x="7500784" y="2812073"/>
            <a:ext cx="1905000" cy="399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u="sng" dirty="0">
                <a:solidFill>
                  <a:srgbClr val="FF0000"/>
                </a:solidFill>
              </a:rPr>
              <a:t>添え字</a:t>
            </a:r>
            <a:r>
              <a:rPr kumimoji="1" lang="ja-JP" altLang="en-US" dirty="0"/>
              <a:t> ＋ 世代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82767F5-175C-717B-EF88-98142C9E79CF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8034184" y="3146613"/>
            <a:ext cx="494072" cy="7058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CEA1298-CEA5-EF15-B1F0-4C5911785D01}"/>
              </a:ext>
            </a:extLst>
          </p:cNvPr>
          <p:cNvSpPr/>
          <p:nvPr/>
        </p:nvSpPr>
        <p:spPr>
          <a:xfrm>
            <a:off x="7414752" y="5781178"/>
            <a:ext cx="44958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CD715F-A097-EF27-E6F0-BD09702881D2}"/>
              </a:ext>
            </a:extLst>
          </p:cNvPr>
          <p:cNvSpPr txBox="1"/>
          <p:nvPr/>
        </p:nvSpPr>
        <p:spPr>
          <a:xfrm>
            <a:off x="4823952" y="5781178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ハッシュマップ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29E956A-D0D8-8E85-A837-0284BCB06CC9}"/>
              </a:ext>
            </a:extLst>
          </p:cNvPr>
          <p:cNvSpPr/>
          <p:nvPr/>
        </p:nvSpPr>
        <p:spPr>
          <a:xfrm>
            <a:off x="7429500" y="5781178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40A3D0E-62F0-AB6C-6497-D42260BD5FA6}"/>
              </a:ext>
            </a:extLst>
          </p:cNvPr>
          <p:cNvSpPr/>
          <p:nvPr/>
        </p:nvSpPr>
        <p:spPr>
          <a:xfrm>
            <a:off x="9510252" y="5781178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C2E6D63-9007-F766-3B67-0080BE65A2C5}"/>
              </a:ext>
            </a:extLst>
          </p:cNvPr>
          <p:cNvSpPr/>
          <p:nvPr/>
        </p:nvSpPr>
        <p:spPr>
          <a:xfrm>
            <a:off x="10919952" y="5791200"/>
            <a:ext cx="990600" cy="381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B2842E-F086-6C6B-A5A1-A18DD225304E}"/>
              </a:ext>
            </a:extLst>
          </p:cNvPr>
          <p:cNvSpPr txBox="1"/>
          <p:nvPr/>
        </p:nvSpPr>
        <p:spPr>
          <a:xfrm>
            <a:off x="4833784" y="4772639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ハッシュが管理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6F3A1B-795D-3A99-09FC-DC451CC0A229}"/>
              </a:ext>
            </a:extLst>
          </p:cNvPr>
          <p:cNvSpPr/>
          <p:nvPr/>
        </p:nvSpPr>
        <p:spPr>
          <a:xfrm>
            <a:off x="7500784" y="4742899"/>
            <a:ext cx="3276600" cy="399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名前をキーに</a:t>
            </a:r>
            <a:r>
              <a:rPr kumimoji="1" lang="ja-JP" altLang="en-US" dirty="0"/>
              <a:t> ハンドルを保持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12F87FF-25F2-194E-47F9-2C6EC038E112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7924800" y="5141971"/>
            <a:ext cx="1214284" cy="639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4BAD658-08D3-FB64-72EB-C7E450041795}"/>
              </a:ext>
            </a:extLst>
          </p:cNvPr>
          <p:cNvSpPr txBox="1"/>
          <p:nvPr/>
        </p:nvSpPr>
        <p:spPr>
          <a:xfrm>
            <a:off x="709767" y="3807832"/>
            <a:ext cx="2204884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オブジェクト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01D9769-5B3E-26E2-DE11-A174C29B34A1}"/>
              </a:ext>
            </a:extLst>
          </p:cNvPr>
          <p:cNvSpPr/>
          <p:nvPr/>
        </p:nvSpPr>
        <p:spPr>
          <a:xfrm>
            <a:off x="4621162" y="1876655"/>
            <a:ext cx="7418438" cy="46671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1B72731-8391-AD2E-C369-771382081629}"/>
              </a:ext>
            </a:extLst>
          </p:cNvPr>
          <p:cNvSpPr txBox="1"/>
          <p:nvPr/>
        </p:nvSpPr>
        <p:spPr>
          <a:xfrm>
            <a:off x="6635358" y="1502039"/>
            <a:ext cx="3635851" cy="6463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新しい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リソース管理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8D569FA-4439-578C-9E36-B2E760B44BF5}"/>
              </a:ext>
            </a:extLst>
          </p:cNvPr>
          <p:cNvSpPr/>
          <p:nvPr/>
        </p:nvSpPr>
        <p:spPr>
          <a:xfrm>
            <a:off x="634181" y="6110088"/>
            <a:ext cx="2679290" cy="722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名前からハンドルを取得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なければハンドルを作成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4CDCE08-C0FE-55AD-24F6-DEBF36E7D602}"/>
              </a:ext>
            </a:extLst>
          </p:cNvPr>
          <p:cNvSpPr/>
          <p:nvPr/>
        </p:nvSpPr>
        <p:spPr>
          <a:xfrm>
            <a:off x="505133" y="5923349"/>
            <a:ext cx="515579" cy="373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①</a:t>
            </a: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B5AFEC0E-01D6-5FF3-058C-5D5FAA4283EE}"/>
              </a:ext>
            </a:extLst>
          </p:cNvPr>
          <p:cNvCxnSpPr>
            <a:cxnSpLocks/>
          </p:cNvCxnSpPr>
          <p:nvPr/>
        </p:nvCxnSpPr>
        <p:spPr>
          <a:xfrm rot="10800000">
            <a:off x="2416280" y="4201745"/>
            <a:ext cx="2417504" cy="1619688"/>
          </a:xfrm>
          <a:prstGeom prst="bentConnector3">
            <a:avLst>
              <a:gd name="adj1" fmla="val 100025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2FCBE8A-2F5D-D818-712B-1F4240539520}"/>
              </a:ext>
            </a:extLst>
          </p:cNvPr>
          <p:cNvSpPr/>
          <p:nvPr/>
        </p:nvSpPr>
        <p:spPr>
          <a:xfrm>
            <a:off x="1508022" y="4651312"/>
            <a:ext cx="2679290" cy="72252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ハンドルを</a:t>
            </a:r>
            <a:br>
              <a:rPr kumimoji="1" lang="en-US" altLang="ja-JP" dirty="0"/>
            </a:br>
            <a:r>
              <a:rPr kumimoji="1" lang="ja-JP" altLang="en-US" dirty="0"/>
              <a:t>オブジェクトに返す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12DF177-9BF5-C946-3642-81D0BDA26344}"/>
              </a:ext>
            </a:extLst>
          </p:cNvPr>
          <p:cNvSpPr/>
          <p:nvPr/>
        </p:nvSpPr>
        <p:spPr>
          <a:xfrm>
            <a:off x="1378358" y="4422590"/>
            <a:ext cx="515579" cy="373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②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47DB2936-625A-212B-CC59-41F740556C9E}"/>
              </a:ext>
            </a:extLst>
          </p:cNvPr>
          <p:cNvCxnSpPr>
            <a:cxnSpLocks/>
            <a:stCxn id="16" idx="0"/>
            <a:endCxn id="13" idx="1"/>
          </p:cNvCxnSpPr>
          <p:nvPr/>
        </p:nvCxnSpPr>
        <p:spPr>
          <a:xfrm rot="5400000" flipH="1" flipV="1">
            <a:off x="2932320" y="1906369"/>
            <a:ext cx="781353" cy="3021575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621FFC01-842A-61F5-F4B5-C5605ABD42F4}"/>
              </a:ext>
            </a:extLst>
          </p:cNvPr>
          <p:cNvSpPr/>
          <p:nvPr/>
        </p:nvSpPr>
        <p:spPr>
          <a:xfrm>
            <a:off x="1472382" y="2542728"/>
            <a:ext cx="2679290" cy="72252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描画時などにハンドルを使用して、リソースを取得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03D981E-6909-9477-5470-86D9DA18B81E}"/>
              </a:ext>
            </a:extLst>
          </p:cNvPr>
          <p:cNvSpPr/>
          <p:nvPr/>
        </p:nvSpPr>
        <p:spPr>
          <a:xfrm>
            <a:off x="1342718" y="2314006"/>
            <a:ext cx="515579" cy="373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③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9A53B9A5-F10C-8AB6-99D0-77453B383C62}"/>
              </a:ext>
            </a:extLst>
          </p:cNvPr>
          <p:cNvCxnSpPr>
            <a:cxnSpLocks/>
          </p:cNvCxnSpPr>
          <p:nvPr/>
        </p:nvCxnSpPr>
        <p:spPr>
          <a:xfrm>
            <a:off x="1103056" y="4215329"/>
            <a:ext cx="3720898" cy="1935181"/>
          </a:xfrm>
          <a:prstGeom prst="bentConnector3">
            <a:avLst>
              <a:gd name="adj1" fmla="val 5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60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D36B-21A6-69BC-5E81-7F45F199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580CD-C7AB-3959-E18D-EC6F61D4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758716-01D1-1232-4060-9D674FF14503}"/>
              </a:ext>
            </a:extLst>
          </p:cNvPr>
          <p:cNvSpPr txBox="1"/>
          <p:nvPr/>
        </p:nvSpPr>
        <p:spPr>
          <a:xfrm>
            <a:off x="371168" y="1670339"/>
            <a:ext cx="3591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EE1E48-27E7-1956-DA58-D0A2A69F573B}"/>
              </a:ext>
            </a:extLst>
          </p:cNvPr>
          <p:cNvSpPr txBox="1"/>
          <p:nvPr/>
        </p:nvSpPr>
        <p:spPr>
          <a:xfrm>
            <a:off x="371168" y="2255114"/>
            <a:ext cx="10754032" cy="2597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今のシェーダーリファレンスは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に依存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してしまって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いるので、リファレンス情報を他のプラットフォームで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使用できない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ごとに同じ内容のシェーダーを作成しないといけない</a:t>
            </a:r>
            <a:endParaRPr lang="en-US" altLang="ja-JP" sz="2800" u="sng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70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82BE-C156-AC52-37C4-BF1C3619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0CA87-684D-EC1C-ABB9-DD51D34B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E3F42F-CB54-57EA-1943-5CBB098FF232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シェーダー改善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E9D2F7-6C31-03B4-1CED-58CE789D817D}"/>
              </a:ext>
            </a:extLst>
          </p:cNvPr>
          <p:cNvSpPr txBox="1"/>
          <p:nvPr/>
        </p:nvSpPr>
        <p:spPr>
          <a:xfrm>
            <a:off x="371168" y="2255114"/>
            <a:ext cx="10754032" cy="45329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HLSL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を唯一のソース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として扱いたいため、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DXC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を使用して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の作成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を行えるようにし、</a:t>
            </a: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から</a:t>
            </a: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SPIR-</a:t>
            </a:r>
            <a:r>
              <a:rPr lang="en-US" altLang="ja-JP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Vcross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を使用することで</a:t>
            </a: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ごとに作成し直しを防げるようにしました。</a:t>
            </a:r>
            <a:endParaRPr lang="en-US" altLang="ja-JP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SPIR-V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を作成してリファレンスを書き出すことで、</a:t>
            </a:r>
            <a:b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すべての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で共通してリファレンス情報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を</a:t>
            </a:r>
            <a:b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使用することができるようにする。</a:t>
            </a:r>
            <a:b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（ただ、現在</a:t>
            </a:r>
            <a:r>
              <a:rPr lang="en-US" altLang="ja-JP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Usaes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が使用できない問題が発生しています。）</a:t>
            </a:r>
            <a:endParaRPr lang="en-US" altLang="ja-JP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200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852F-2758-7BFE-0905-54E93D3F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D3B0C-AA75-5DD7-B472-9AD515AB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6917A2-F1BF-1FC0-D12F-83826FB6CA65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シェーダー改善</a:t>
            </a:r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10B87447-EB19-4AA3-2043-6497C7CCC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7163800" cy="3181794"/>
          </a:xfrm>
          <a:prstGeom prst="rect">
            <a:avLst/>
          </a:prstGeom>
        </p:spPr>
      </p:pic>
      <p:pic>
        <p:nvPicPr>
          <p:cNvPr id="6" name="図 5" descr="文字の書かれた紙&#10;&#10;AI 生成コンテンツは誤りを含む可能性があります。">
            <a:extLst>
              <a:ext uri="{FF2B5EF4-FFF2-40B4-BE49-F238E27FC236}">
                <a16:creationId xmlns:a16="http://schemas.microsoft.com/office/drawing/2014/main" id="{65AE04B7-3811-80AE-51FD-8333238E8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993209"/>
            <a:ext cx="2543530" cy="551574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45A639-67F2-446F-F34E-9252739E9243}"/>
              </a:ext>
            </a:extLst>
          </p:cNvPr>
          <p:cNvSpPr txBox="1"/>
          <p:nvPr/>
        </p:nvSpPr>
        <p:spPr>
          <a:xfrm>
            <a:off x="400665" y="2831068"/>
            <a:ext cx="15190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SPIR-V </a:t>
            </a:r>
            <a:r>
              <a:rPr kumimoji="1" lang="ja-JP" altLang="en-US" dirty="0">
                <a:solidFill>
                  <a:schemeClr val="bg1"/>
                </a:solidFill>
              </a:rPr>
              <a:t>作成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889F17-653E-C3F1-A63E-1AB170A5C76F}"/>
              </a:ext>
            </a:extLst>
          </p:cNvPr>
          <p:cNvSpPr txBox="1"/>
          <p:nvPr/>
        </p:nvSpPr>
        <p:spPr>
          <a:xfrm>
            <a:off x="8458200" y="623877"/>
            <a:ext cx="2819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デバッグ用情報書き出し</a:t>
            </a:r>
          </a:p>
        </p:txBody>
      </p:sp>
    </p:spTree>
    <p:extLst>
      <p:ext uri="{BB962C8B-B14F-4D97-AF65-F5344CB8AC3E}">
        <p14:creationId xmlns:p14="http://schemas.microsoft.com/office/powerpoint/2010/main" val="3345326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3188-19C8-2FCD-2D2B-EA71A9C9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19E04-736B-F0DB-4951-81BAD9B2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E50B0E-8835-5949-7A23-88FB461DFB55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285FAB-2352-3DA8-E8D0-6F31733D75B0}"/>
              </a:ext>
            </a:extLst>
          </p:cNvPr>
          <p:cNvSpPr txBox="1"/>
          <p:nvPr/>
        </p:nvSpPr>
        <p:spPr>
          <a:xfrm>
            <a:off x="378542" y="2667000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入力情報をインターフェイスとして渡しているため、</a:t>
            </a:r>
            <a:b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マウスやキーボード以外が使用することができない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77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3DFD-41D1-8181-CA94-056E3D1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DBFAA-44CF-AFB1-1BAA-F94E28FB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C76505-AD4D-414E-5D42-6E957B3EFE10}"/>
              </a:ext>
            </a:extLst>
          </p:cNvPr>
          <p:cNvSpPr txBox="1"/>
          <p:nvPr/>
        </p:nvSpPr>
        <p:spPr>
          <a:xfrm>
            <a:off x="371168" y="1670339"/>
            <a:ext cx="2676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入力情報改善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4381DF-FCFE-D97C-698F-2EA59AE767C4}"/>
              </a:ext>
            </a:extLst>
          </p:cNvPr>
          <p:cNvSpPr txBox="1"/>
          <p:nvPr/>
        </p:nvSpPr>
        <p:spPr>
          <a:xfrm>
            <a:off x="371168" y="2778341"/>
            <a:ext cx="10754032" cy="1301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動作（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）を渡す</a:t>
            </a: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ことで、</a:t>
            </a:r>
            <a:b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en-US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どの入力情報を使用しているかをゲーム層から隠す</a:t>
            </a:r>
            <a:endParaRPr kumimoji="0" lang="en-US" altLang="ja-JP" sz="280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49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3510</TotalTime>
  <Words>1143</Words>
  <Application>Microsoft Office PowerPoint</Application>
  <PresentationFormat>ワイド画面</PresentationFormat>
  <Paragraphs>139</Paragraphs>
  <Slides>26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MS Gothic</vt:lpstr>
      <vt:lpstr>游ゴシック</vt:lpstr>
      <vt:lpstr>Arial</vt:lpstr>
      <vt:lpstr>Office Theme</vt:lpstr>
      <vt:lpstr>就職作品詳細資料</vt:lpstr>
      <vt:lpstr>目次</vt:lpstr>
      <vt:lpstr>①　作品概要</vt:lpstr>
      <vt:lpstr>作品概要</vt:lpstr>
      <vt:lpstr>作品概要</vt:lpstr>
      <vt:lpstr>②　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③　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1022</cp:revision>
  <dcterms:created xsi:type="dcterms:W3CDTF">2025-12-13T00:48:35Z</dcterms:created>
  <dcterms:modified xsi:type="dcterms:W3CDTF">2026-03-02T15:29:06Z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