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9" r:id="rId4"/>
    <p:sldId id="260" r:id="rId5"/>
    <p:sldId id="262" r:id="rId6"/>
    <p:sldId id="264" r:id="rId7"/>
    <p:sldId id="267" r:id="rId8"/>
    <p:sldId id="265" r:id="rId9"/>
    <p:sldId id="268" r:id="rId10"/>
    <p:sldId id="269" r:id="rId11"/>
    <p:sldId id="270" r:id="rId12"/>
    <p:sldId id="272" r:id="rId13"/>
    <p:sldId id="271" r:id="rId14"/>
    <p:sldId id="273" r:id="rId15"/>
    <p:sldId id="274" r:id="rId16"/>
    <p:sldId id="275" r:id="rId17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850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44CC07-7CCF-4856-941D-F16981C68265}" type="datetimeFigureOut">
              <a:rPr kumimoji="1" lang="ja-JP" altLang="en-US" smtClean="0"/>
              <a:t>2026/3/2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476A4E-7012-4A9C-843C-6443E265FB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9608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6A4E-7012-4A9C-843C-6443E265FB9C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454962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42671" y="482041"/>
            <a:ext cx="7287259" cy="6972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53313" y="2137663"/>
            <a:ext cx="5001895" cy="21983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355" y="1905000"/>
            <a:ext cx="6511290" cy="936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ja-JP" altLang="en-US" sz="6000" dirty="0"/>
              <a:t>就職作品詳細資料</a:t>
            </a:r>
            <a:endParaRPr sz="6000" dirty="0"/>
          </a:p>
        </p:txBody>
      </p:sp>
      <p:sp>
        <p:nvSpPr>
          <p:cNvPr id="3" name="object 3"/>
          <p:cNvSpPr txBox="1"/>
          <p:nvPr/>
        </p:nvSpPr>
        <p:spPr>
          <a:xfrm>
            <a:off x="2914650" y="5791200"/>
            <a:ext cx="6362700" cy="536685"/>
          </a:xfrm>
          <a:prstGeom prst="rect">
            <a:avLst/>
          </a:prstGeom>
        </p:spPr>
        <p:txBody>
          <a:bodyPr vert="horz" wrap="square" lIns="0" tIns="1047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735"/>
              </a:spcBef>
            </a:pPr>
            <a:r>
              <a:rPr lang="en-US" altLang="ja-JP" sz="2800" spc="-125" dirty="0">
                <a:solidFill>
                  <a:srgbClr val="FFFFFF"/>
                </a:solidFill>
                <a:latin typeface="MS Gothic"/>
                <a:cs typeface="MS Gothic"/>
              </a:rPr>
              <a:t>HAL</a:t>
            </a:r>
            <a:r>
              <a:rPr lang="ja-JP" altLang="en-US" sz="2800" spc="-125" dirty="0">
                <a:solidFill>
                  <a:srgbClr val="FFFFFF"/>
                </a:solidFill>
                <a:latin typeface="MS Gothic"/>
                <a:cs typeface="MS Gothic"/>
              </a:rPr>
              <a:t>大阪　ゲーム４年制学科　松田 </a:t>
            </a:r>
            <a:r>
              <a:rPr sz="2800" spc="-125" dirty="0" err="1">
                <a:solidFill>
                  <a:srgbClr val="FFFFFF"/>
                </a:solidFill>
                <a:latin typeface="MS Gothic"/>
                <a:cs typeface="MS Gothic"/>
              </a:rPr>
              <a:t>健志</a:t>
            </a:r>
            <a:endParaRPr sz="2800" dirty="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30DCD2-F0DB-B7B9-A22B-CC6696E04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381000"/>
            <a:ext cx="1981200" cy="923330"/>
          </a:xfrm>
        </p:spPr>
        <p:txBody>
          <a:bodyPr/>
          <a:lstStyle/>
          <a:p>
            <a:r>
              <a:rPr kumimoji="1" lang="ja-JP" altLang="en-US" sz="6000" dirty="0"/>
              <a:t>目次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EE9F1BA-CC7D-3F20-F458-0F6492D5C4D6}"/>
              </a:ext>
            </a:extLst>
          </p:cNvPr>
          <p:cNvSpPr txBox="1"/>
          <p:nvPr/>
        </p:nvSpPr>
        <p:spPr>
          <a:xfrm>
            <a:off x="381000" y="1981200"/>
            <a:ext cx="25146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  <a:latin typeface="+mj-ea"/>
                <a:ea typeface="+mj-ea"/>
              </a:rPr>
              <a:t>① </a:t>
            </a:r>
            <a:r>
              <a:rPr kumimoji="1" lang="ja-JP" altLang="en-US" sz="3200" b="1" u="sng" dirty="0">
                <a:solidFill>
                  <a:schemeClr val="bg1"/>
                </a:solidFill>
                <a:latin typeface="+mj-ea"/>
                <a:ea typeface="+mj-ea"/>
              </a:rPr>
              <a:t>作品概要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E09693D-262C-394F-A8A7-640967748777}"/>
              </a:ext>
            </a:extLst>
          </p:cNvPr>
          <p:cNvSpPr txBox="1"/>
          <p:nvPr/>
        </p:nvSpPr>
        <p:spPr>
          <a:xfrm>
            <a:off x="381000" y="2844225"/>
            <a:ext cx="54102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  <a:latin typeface="+mj-ea"/>
                <a:ea typeface="+mj-ea"/>
              </a:rPr>
              <a:t>② </a:t>
            </a:r>
            <a:r>
              <a:rPr kumimoji="1" lang="ja-JP" altLang="en-US" sz="3200" b="1" u="sng" dirty="0">
                <a:solidFill>
                  <a:schemeClr val="bg1"/>
                </a:solidFill>
                <a:latin typeface="+mj-ea"/>
                <a:ea typeface="+mj-ea"/>
              </a:rPr>
              <a:t>コンセプト実現に向けて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60C6055-A983-F43C-12BA-368BCF79D180}"/>
              </a:ext>
            </a:extLst>
          </p:cNvPr>
          <p:cNvSpPr txBox="1"/>
          <p:nvPr/>
        </p:nvSpPr>
        <p:spPr>
          <a:xfrm>
            <a:off x="381000" y="3707250"/>
            <a:ext cx="42672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  <a:latin typeface="+mj-ea"/>
                <a:ea typeface="+mj-ea"/>
              </a:rPr>
              <a:t>③ </a:t>
            </a:r>
            <a:r>
              <a:rPr kumimoji="1" lang="ja-JP" altLang="en-US" sz="3200" b="1" u="sng" dirty="0">
                <a:solidFill>
                  <a:schemeClr val="bg1"/>
                </a:solidFill>
                <a:latin typeface="+mj-ea"/>
                <a:ea typeface="+mj-ea"/>
              </a:rPr>
              <a:t>問題点と今後</a:t>
            </a:r>
          </a:p>
        </p:txBody>
      </p:sp>
    </p:spTree>
    <p:extLst>
      <p:ext uri="{BB962C8B-B14F-4D97-AF65-F5344CB8AC3E}">
        <p14:creationId xmlns:p14="http://schemas.microsoft.com/office/powerpoint/2010/main" val="6519152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5D6B6-954C-4D82-7E7B-002BE8F8D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081D0E-FD59-D61C-C70D-E4F752D74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9" y="390832"/>
            <a:ext cx="3134032" cy="923330"/>
          </a:xfrm>
        </p:spPr>
        <p:txBody>
          <a:bodyPr/>
          <a:lstStyle/>
          <a:p>
            <a:r>
              <a:rPr kumimoji="1" lang="ja-JP" altLang="en-US" sz="6000" dirty="0"/>
              <a:t>作品概要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5E731EC-97BD-6702-40FB-F449B406C8C4}"/>
              </a:ext>
            </a:extLst>
          </p:cNvPr>
          <p:cNvSpPr txBox="1"/>
          <p:nvPr/>
        </p:nvSpPr>
        <p:spPr>
          <a:xfrm>
            <a:off x="363795" y="1910588"/>
            <a:ext cx="11053916" cy="52322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u="sng" dirty="0">
                <a:solidFill>
                  <a:schemeClr val="bg1"/>
                </a:solidFill>
              </a:rPr>
              <a:t>作品名</a:t>
            </a:r>
            <a:r>
              <a:rPr kumimoji="1" lang="ja-JP" altLang="en-US" sz="2800" b="1" dirty="0">
                <a:solidFill>
                  <a:schemeClr val="bg1"/>
                </a:solidFill>
              </a:rPr>
              <a:t>　</a:t>
            </a:r>
            <a:r>
              <a:rPr kumimoji="1" lang="ja-JP" altLang="en-US" sz="2800" dirty="0">
                <a:solidFill>
                  <a:schemeClr val="bg1"/>
                </a:solidFill>
              </a:rPr>
              <a:t> </a:t>
            </a:r>
            <a:r>
              <a:rPr kumimoji="1" lang="en-US" altLang="ja-JP" sz="2800" dirty="0">
                <a:solidFill>
                  <a:schemeClr val="bg1"/>
                </a:solidFill>
              </a:rPr>
              <a:t>: </a:t>
            </a:r>
            <a:r>
              <a:rPr kumimoji="1" lang="ja-JP" altLang="ja-JP" sz="2800" dirty="0">
                <a:solidFill>
                  <a:schemeClr val="bg1"/>
                </a:solidFill>
              </a:rPr>
              <a:t>他のプラットフォーム対応を前提とした</a:t>
            </a:r>
            <a:r>
              <a:rPr kumimoji="1" lang="ja-JP" altLang="en-US" sz="2800" dirty="0">
                <a:solidFill>
                  <a:schemeClr val="bg1"/>
                </a:solidFill>
              </a:rPr>
              <a:t>フレームワーク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ED591FF-3C66-76C9-7DB1-C9FD342DC09F}"/>
              </a:ext>
            </a:extLst>
          </p:cNvPr>
          <p:cNvSpPr txBox="1"/>
          <p:nvPr/>
        </p:nvSpPr>
        <p:spPr>
          <a:xfrm>
            <a:off x="371169" y="3755760"/>
            <a:ext cx="4734232" cy="52322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u="sng" dirty="0">
                <a:solidFill>
                  <a:schemeClr val="bg1"/>
                </a:solidFill>
              </a:rPr>
              <a:t>制作期間</a:t>
            </a:r>
            <a:r>
              <a:rPr kumimoji="1" lang="ja-JP" altLang="en-US" sz="2800" b="1" dirty="0">
                <a:solidFill>
                  <a:schemeClr val="bg1"/>
                </a:solidFill>
              </a:rPr>
              <a:t> </a:t>
            </a:r>
            <a:r>
              <a:rPr kumimoji="1" lang="en-US" altLang="ja-JP" sz="2800" dirty="0">
                <a:solidFill>
                  <a:schemeClr val="bg1"/>
                </a:solidFill>
              </a:rPr>
              <a:t>: </a:t>
            </a:r>
            <a:r>
              <a:rPr kumimoji="1" lang="ja-JP" altLang="en-US" sz="2800" dirty="0">
                <a:solidFill>
                  <a:schemeClr val="bg1"/>
                </a:solidFill>
              </a:rPr>
              <a:t>約３～４か月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C3ED28E-B2D5-C64C-E143-47076CA1F52A}"/>
              </a:ext>
            </a:extLst>
          </p:cNvPr>
          <p:cNvSpPr txBox="1"/>
          <p:nvPr/>
        </p:nvSpPr>
        <p:spPr>
          <a:xfrm>
            <a:off x="371169" y="2792564"/>
            <a:ext cx="5877232" cy="52322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u="sng" dirty="0">
                <a:solidFill>
                  <a:schemeClr val="bg1"/>
                </a:solidFill>
              </a:rPr>
              <a:t>開発環境</a:t>
            </a:r>
            <a:r>
              <a:rPr kumimoji="1" lang="ja-JP" altLang="en-US" sz="2800" b="1" dirty="0">
                <a:solidFill>
                  <a:schemeClr val="bg1"/>
                </a:solidFill>
              </a:rPr>
              <a:t> </a:t>
            </a:r>
            <a:r>
              <a:rPr kumimoji="1" lang="en-US" altLang="ja-JP" sz="2800" dirty="0">
                <a:solidFill>
                  <a:schemeClr val="bg1"/>
                </a:solidFill>
              </a:rPr>
              <a:t>: C++20 </a:t>
            </a:r>
            <a:r>
              <a:rPr kumimoji="1" lang="ja-JP" altLang="en-US" sz="2800" dirty="0">
                <a:solidFill>
                  <a:schemeClr val="bg1"/>
                </a:solidFill>
              </a:rPr>
              <a:t>・ </a:t>
            </a:r>
            <a:r>
              <a:rPr kumimoji="1" lang="en-US" altLang="ja-JP" sz="2800" dirty="0">
                <a:solidFill>
                  <a:schemeClr val="bg1"/>
                </a:solidFill>
              </a:rPr>
              <a:t>DirectX11</a:t>
            </a:r>
            <a:endParaRPr kumimoji="1" lang="ja-JP" altLang="en-US" sz="2800" dirty="0">
              <a:solidFill>
                <a:schemeClr val="bg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85EB103-E022-71F1-C4DA-50FA9BB056C9}"/>
              </a:ext>
            </a:extLst>
          </p:cNvPr>
          <p:cNvSpPr txBox="1"/>
          <p:nvPr/>
        </p:nvSpPr>
        <p:spPr>
          <a:xfrm>
            <a:off x="373626" y="4640277"/>
            <a:ext cx="4277032" cy="52322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u="sng" dirty="0">
                <a:solidFill>
                  <a:schemeClr val="bg1"/>
                </a:solidFill>
              </a:rPr>
              <a:t>使用したライブラリー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29686F3-4DCA-0446-F882-162AAF7222AC}"/>
              </a:ext>
            </a:extLst>
          </p:cNvPr>
          <p:cNvSpPr txBox="1"/>
          <p:nvPr/>
        </p:nvSpPr>
        <p:spPr>
          <a:xfrm>
            <a:off x="363794" y="5239635"/>
            <a:ext cx="2531806" cy="10156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・ </a:t>
            </a:r>
            <a:r>
              <a:rPr kumimoji="1" lang="en-US" altLang="ja-JP" sz="2000" dirty="0" err="1">
                <a:solidFill>
                  <a:schemeClr val="bg1"/>
                </a:solidFill>
              </a:rPr>
              <a:t>assimp</a:t>
            </a:r>
            <a:br>
              <a:rPr kumimoji="1" lang="en-US" altLang="ja-JP" sz="2000" dirty="0">
                <a:solidFill>
                  <a:schemeClr val="bg1"/>
                </a:solidFill>
              </a:rPr>
            </a:br>
            <a:r>
              <a:rPr kumimoji="1" lang="ja-JP" altLang="en-US" sz="2000" dirty="0">
                <a:solidFill>
                  <a:schemeClr val="bg1"/>
                </a:solidFill>
              </a:rPr>
              <a:t>・ </a:t>
            </a:r>
            <a:r>
              <a:rPr kumimoji="1" lang="en-US" altLang="ja-JP" sz="2000" dirty="0">
                <a:solidFill>
                  <a:schemeClr val="bg1"/>
                </a:solidFill>
              </a:rPr>
              <a:t>DirectX Tex</a:t>
            </a:r>
          </a:p>
          <a:p>
            <a:r>
              <a:rPr kumimoji="1" lang="ja-JP" altLang="en-US" sz="2000" dirty="0">
                <a:solidFill>
                  <a:schemeClr val="bg1"/>
                </a:solidFill>
              </a:rPr>
              <a:t>・ </a:t>
            </a:r>
            <a:r>
              <a:rPr kumimoji="1" lang="en-US" altLang="ja-JP" sz="2000" dirty="0" err="1">
                <a:solidFill>
                  <a:schemeClr val="bg1"/>
                </a:solidFill>
              </a:rPr>
              <a:t>imgui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1342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5A1B2D-7334-4B27-5A11-5C018C382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8A2789-DDC9-EA5E-D3D6-9256DF560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2"/>
            <a:ext cx="7287259" cy="923330"/>
          </a:xfrm>
        </p:spPr>
        <p:txBody>
          <a:bodyPr/>
          <a:lstStyle/>
          <a:p>
            <a:r>
              <a:rPr kumimoji="1" lang="ja-JP" altLang="en-US" sz="6000" dirty="0"/>
              <a:t>作品概要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566F244-B60D-B801-2968-736AB6FA8A3F}"/>
              </a:ext>
            </a:extLst>
          </p:cNvPr>
          <p:cNvSpPr txBox="1"/>
          <p:nvPr/>
        </p:nvSpPr>
        <p:spPr>
          <a:xfrm>
            <a:off x="371168" y="2187313"/>
            <a:ext cx="10754032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ja-JP" altLang="en-US" sz="2400" dirty="0">
                <a:solidFill>
                  <a:schemeClr val="bg1"/>
                </a:solidFill>
              </a:rPr>
              <a:t>ゲーム本体だけでなく、開発現場においてもデザイナーをはじめとした多職種が</a:t>
            </a:r>
            <a:r>
              <a:rPr lang="en-US" altLang="ja-JP" sz="2400" dirty="0">
                <a:solidFill>
                  <a:schemeClr val="bg1"/>
                </a:solidFill>
              </a:rPr>
              <a:t>Mac</a:t>
            </a:r>
            <a:r>
              <a:rPr lang="ja-JP" altLang="en-US" sz="2400" dirty="0">
                <a:solidFill>
                  <a:schemeClr val="bg1"/>
                </a:solidFill>
              </a:rPr>
              <a:t>など多様な環境を利用することが一般的になっている。</a:t>
            </a:r>
            <a:br>
              <a:rPr lang="en-US" altLang="ja-JP" sz="2400" dirty="0">
                <a:solidFill>
                  <a:schemeClr val="bg1"/>
                </a:solidFill>
              </a:rPr>
            </a:br>
            <a:r>
              <a:rPr lang="ja-JP" altLang="en-US" sz="2400" dirty="0">
                <a:solidFill>
                  <a:schemeClr val="bg1"/>
                </a:solidFill>
              </a:rPr>
              <a:t>このような、</a:t>
            </a:r>
            <a:r>
              <a:rPr lang="ja-JP" altLang="en-US" sz="2400" u="sng" dirty="0">
                <a:solidFill>
                  <a:srgbClr val="FF0000"/>
                </a:solidFill>
              </a:rPr>
              <a:t>開発環境の多様化に対応することが、円滑なゲーム開発を行う上で</a:t>
            </a:r>
            <a:r>
              <a:rPr lang="ja-JP" altLang="en-US" sz="2400" b="1" u="sng" dirty="0">
                <a:ln>
                  <a:solidFill>
                    <a:srgbClr val="C00000"/>
                  </a:solidFill>
                </a:ln>
                <a:solidFill>
                  <a:srgbClr val="FF0000"/>
                </a:solidFill>
              </a:rPr>
              <a:t>重要</a:t>
            </a:r>
            <a:r>
              <a:rPr lang="ja-JP" altLang="en-US" sz="2400" dirty="0">
                <a:solidFill>
                  <a:schemeClr val="bg1"/>
                </a:solidFill>
              </a:rPr>
              <a:t>だと考えました。</a:t>
            </a:r>
            <a:endParaRPr kumimoji="1" lang="en-US" altLang="ja-JP" sz="2400" dirty="0">
              <a:solidFill>
                <a:schemeClr val="bg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F6019FD-93D9-34F8-F4FD-5F32F857CF05}"/>
              </a:ext>
            </a:extLst>
          </p:cNvPr>
          <p:cNvSpPr txBox="1"/>
          <p:nvPr/>
        </p:nvSpPr>
        <p:spPr>
          <a:xfrm>
            <a:off x="371168" y="1562972"/>
            <a:ext cx="11439832" cy="52322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dirty="0">
                <a:solidFill>
                  <a:schemeClr val="bg1"/>
                </a:solidFill>
              </a:rPr>
              <a:t>作品名 </a:t>
            </a:r>
            <a:r>
              <a:rPr kumimoji="1" lang="en-US" altLang="ja-JP" sz="2800" b="1" dirty="0">
                <a:solidFill>
                  <a:schemeClr val="bg1"/>
                </a:solidFill>
              </a:rPr>
              <a:t>: </a:t>
            </a:r>
            <a:r>
              <a:rPr kumimoji="1" lang="ja-JP" altLang="ja-JP" sz="2800" b="1" dirty="0">
                <a:solidFill>
                  <a:schemeClr val="bg1"/>
                </a:solidFill>
              </a:rPr>
              <a:t>他のプラットフォーム対応を前提とした</a:t>
            </a:r>
            <a:r>
              <a:rPr kumimoji="1" lang="ja-JP" altLang="en-US" sz="2800" b="1" dirty="0">
                <a:solidFill>
                  <a:schemeClr val="bg1"/>
                </a:solidFill>
              </a:rPr>
              <a:t>フレームワーク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1D7AAF5-A2A1-C3D5-B707-264CF4610733}"/>
              </a:ext>
            </a:extLst>
          </p:cNvPr>
          <p:cNvSpPr txBox="1"/>
          <p:nvPr/>
        </p:nvSpPr>
        <p:spPr>
          <a:xfrm>
            <a:off x="371168" y="4099037"/>
            <a:ext cx="4810432" cy="584775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dirty="0">
                <a:solidFill>
                  <a:schemeClr val="bg1"/>
                </a:solidFill>
              </a:rPr>
              <a:t>コンセプトに必要なこと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93B68A5-EBB3-BDF5-7243-C1311556DFDD}"/>
              </a:ext>
            </a:extLst>
          </p:cNvPr>
          <p:cNvSpPr txBox="1"/>
          <p:nvPr/>
        </p:nvSpPr>
        <p:spPr>
          <a:xfrm>
            <a:off x="371168" y="4663492"/>
            <a:ext cx="5877232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ja-JP" altLang="en-US" sz="2400" b="1" u="sng" dirty="0">
                <a:solidFill>
                  <a:schemeClr val="bg1"/>
                </a:solidFill>
              </a:rPr>
              <a:t>データ構造の統一化</a:t>
            </a:r>
            <a:endParaRPr kumimoji="1" lang="en-US" altLang="ja-JP" sz="2400" b="1" u="sng" dirty="0">
              <a:solidFill>
                <a:schemeClr val="bg1"/>
              </a:solidFill>
            </a:endParaRPr>
          </a:p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ja-JP" altLang="en-US" sz="2400" b="1" u="sng" dirty="0">
                <a:solidFill>
                  <a:schemeClr val="bg1"/>
                </a:solidFill>
              </a:rPr>
              <a:t>ゲーム層とプラットフォーム層の分離</a:t>
            </a:r>
            <a:endParaRPr kumimoji="1" lang="en-US" altLang="ja-JP" sz="2400" b="1" u="sng" dirty="0">
              <a:solidFill>
                <a:schemeClr val="bg1"/>
              </a:solidFill>
            </a:endParaRPr>
          </a:p>
          <a:p>
            <a:r>
              <a:rPr kumimoji="1" lang="ja-JP" altLang="en-US" sz="2400" dirty="0">
                <a:solidFill>
                  <a:schemeClr val="bg1"/>
                </a:solidFill>
              </a:rPr>
              <a:t>・</a:t>
            </a:r>
            <a:r>
              <a:rPr kumimoji="1" lang="ja-JP" altLang="en-US" sz="2400" b="1" u="sng" dirty="0">
                <a:solidFill>
                  <a:schemeClr val="bg1"/>
                </a:solidFill>
              </a:rPr>
              <a:t> 責任の明確化</a:t>
            </a:r>
            <a:endParaRPr kumimoji="1" lang="en-US" altLang="ja-JP" sz="2400" b="1" u="sng" dirty="0">
              <a:solidFill>
                <a:schemeClr val="bg1"/>
              </a:solidFill>
            </a:endParaRPr>
          </a:p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ja-JP" altLang="en-US" sz="2400" b="1" u="sng" dirty="0">
                <a:solidFill>
                  <a:schemeClr val="bg1"/>
                </a:solidFill>
              </a:rPr>
              <a:t>インターフェイス </a:t>
            </a:r>
            <a:r>
              <a:rPr kumimoji="1" lang="en-US" altLang="ja-JP" sz="2400" b="1" u="sng" dirty="0">
                <a:solidFill>
                  <a:schemeClr val="bg1"/>
                </a:solidFill>
              </a:rPr>
              <a:t>(</a:t>
            </a:r>
            <a:r>
              <a:rPr kumimoji="1" lang="ja-JP" altLang="en-US" sz="2400" b="1" u="sng" dirty="0">
                <a:solidFill>
                  <a:schemeClr val="bg1"/>
                </a:solidFill>
              </a:rPr>
              <a:t>仲介役</a:t>
            </a:r>
            <a:r>
              <a:rPr kumimoji="1" lang="en-US" altLang="ja-JP" sz="2400" b="1" u="sng" dirty="0">
                <a:solidFill>
                  <a:schemeClr val="bg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39401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D54F2-5412-F8A6-C31D-E1DAF632D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25D28A-7AC9-B615-0884-AA4D0120B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8803B9C-B76A-6051-F6AD-89F91A570D24}"/>
              </a:ext>
            </a:extLst>
          </p:cNvPr>
          <p:cNvSpPr txBox="1"/>
          <p:nvPr/>
        </p:nvSpPr>
        <p:spPr>
          <a:xfrm>
            <a:off x="371168" y="1670339"/>
            <a:ext cx="4048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dirty="0">
                <a:solidFill>
                  <a:schemeClr val="bg1"/>
                </a:solidFill>
              </a:rPr>
              <a:t>データ構造の統一化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1A88100-0725-4EDC-2BE3-779C7D19AAC8}"/>
              </a:ext>
            </a:extLst>
          </p:cNvPr>
          <p:cNvSpPr txBox="1"/>
          <p:nvPr/>
        </p:nvSpPr>
        <p:spPr>
          <a:xfrm>
            <a:off x="371168" y="2255114"/>
            <a:ext cx="10754032" cy="259398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数学・文字列ライブラリを自作し差異を吸収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数学処理は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計算関数内を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API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依存のものを使用して最適化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文字列は UTF-8 に統一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行列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ルールを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左手・列優先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(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列ベクトル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で決定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図 4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3E0A3369-F7C4-BA17-65EB-8625592D6D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9632" y="142895"/>
            <a:ext cx="1981200" cy="2597573"/>
          </a:xfrm>
          <a:prstGeom prst="rect">
            <a:avLst/>
          </a:prstGeom>
        </p:spPr>
      </p:pic>
      <p:pic>
        <p:nvPicPr>
          <p:cNvPr id="8" name="図 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8CCBE5D2-99AD-D425-DBE5-74D9A7632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4609" y="4869414"/>
            <a:ext cx="2319184" cy="1926797"/>
          </a:xfrm>
          <a:prstGeom prst="rect">
            <a:avLst/>
          </a:prstGeom>
        </p:spPr>
      </p:pic>
      <p:pic>
        <p:nvPicPr>
          <p:cNvPr id="11" name="図 10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DF5F31C7-B79E-640C-B434-DB5C53CA2F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7800" y="4379556"/>
            <a:ext cx="2819400" cy="2108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99220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2469C-9544-3EE0-2E53-A6F33783F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C8A78A-FF1F-9D2E-2968-2EF9DD7DA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AE956C6-E1AE-1739-4416-F70FE41DE4BB}"/>
              </a:ext>
            </a:extLst>
          </p:cNvPr>
          <p:cNvSpPr txBox="1"/>
          <p:nvPr/>
        </p:nvSpPr>
        <p:spPr>
          <a:xfrm>
            <a:off x="371168" y="1670339"/>
            <a:ext cx="5191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リソース管理マネージャー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320E06A-4618-5650-EE18-BFD8D7B7EDE2}"/>
              </a:ext>
            </a:extLst>
          </p:cNvPr>
          <p:cNvSpPr txBox="1"/>
          <p:nvPr/>
        </p:nvSpPr>
        <p:spPr>
          <a:xfrm>
            <a:off x="371168" y="2255114"/>
            <a:ext cx="10982632" cy="194764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描画マネージャーを抽象化し、ゲーム層へ受け渡し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ている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ポリモーフィズムによりAPI差異を意識せず描画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している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リソースは名前管理とし、自動的に共有される設計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のため疎結合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図 4" descr="コンピューター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9CB8BAA8-BDBE-C9C1-5046-7FE8802361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4343400"/>
            <a:ext cx="8305800" cy="2449382"/>
          </a:xfrm>
          <a:prstGeom prst="rect">
            <a:avLst/>
          </a:prstGeom>
        </p:spPr>
      </p:pic>
      <p:pic>
        <p:nvPicPr>
          <p:cNvPr id="6" name="図 5" descr="パソコンの画面&#10;&#10;AI 生成コンテンツは誤りを含む可能性があります。">
            <a:extLst>
              <a:ext uri="{FF2B5EF4-FFF2-40B4-BE49-F238E27FC236}">
                <a16:creationId xmlns:a16="http://schemas.microsoft.com/office/drawing/2014/main" id="{26975780-4996-340C-E00F-8464A2C9E1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8745" y="5025166"/>
            <a:ext cx="2085975" cy="1085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583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5C273-3BF3-11C8-794E-5A89FB38F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2F1C00-D7CE-F059-1BE3-177E133C5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B4BA5B1-1AA4-D293-0061-3A0D4BBDDE66}"/>
              </a:ext>
            </a:extLst>
          </p:cNvPr>
          <p:cNvSpPr txBox="1"/>
          <p:nvPr/>
        </p:nvSpPr>
        <p:spPr>
          <a:xfrm>
            <a:off x="371168" y="1670339"/>
            <a:ext cx="22958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シェーダー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11CF534-4526-C3EB-E7FB-5C4BF067762C}"/>
              </a:ext>
            </a:extLst>
          </p:cNvPr>
          <p:cNvSpPr txBox="1"/>
          <p:nvPr/>
        </p:nvSpPr>
        <p:spPr>
          <a:xfrm>
            <a:off x="371168" y="2255114"/>
            <a:ext cx="10754032" cy="310854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シェーダーリフレクションにより必要な定数情報を取得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シェーダーが自身のバインド情報を管理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オブジェクトは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自身が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更新</a:t>
            </a:r>
            <a:r>
              <a:rPr lang="ja-JP" altLang="en-US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する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定数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名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のみを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知る</a:t>
            </a:r>
            <a:endParaRPr kumimoji="0" lang="en-US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ja-JP" altLang="en-US" sz="2800" dirty="0">
                <a:solidFill>
                  <a:srgbClr val="FF0000"/>
                </a:solidFill>
              </a:rPr>
              <a:t> </a:t>
            </a:r>
            <a:r>
              <a:rPr lang="ja-JP" altLang="en-US" sz="2800" u="sng" dirty="0">
                <a:solidFill>
                  <a:srgbClr val="FF0000"/>
                </a:solidFill>
              </a:rPr>
              <a:t>同一ディレクトリ内の </a:t>
            </a:r>
            <a:r>
              <a:rPr lang="en-US" altLang="ja-JP" sz="2800" u="sng" dirty="0">
                <a:solidFill>
                  <a:srgbClr val="FF0000"/>
                </a:solidFill>
              </a:rPr>
              <a:t>.</a:t>
            </a:r>
            <a:r>
              <a:rPr lang="en-US" altLang="ja-JP" sz="2800" u="sng" dirty="0" err="1">
                <a:solidFill>
                  <a:srgbClr val="FF0000"/>
                </a:solidFill>
              </a:rPr>
              <a:t>hlsl</a:t>
            </a:r>
            <a:r>
              <a:rPr lang="ja-JP" altLang="en-US" sz="2800" u="sng" dirty="0">
                <a:solidFill>
                  <a:srgbClr val="FF0000"/>
                </a:solidFill>
              </a:rPr>
              <a:t> を監視し、</a:t>
            </a:r>
            <a:endParaRPr lang="en-US" altLang="ja-JP" sz="2800" u="sng" dirty="0">
              <a:solidFill>
                <a:srgbClr val="FF0000"/>
              </a:solidFill>
            </a:endParaRPr>
          </a:p>
          <a:p>
            <a:pPr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ja-JP" sz="2800" dirty="0">
                <a:solidFill>
                  <a:srgbClr val="FF0000"/>
                </a:solidFill>
              </a:rPr>
              <a:t>   </a:t>
            </a:r>
            <a:r>
              <a:rPr lang="ja-JP" altLang="en-US" sz="2800" u="sng" dirty="0">
                <a:solidFill>
                  <a:srgbClr val="FF0000"/>
                </a:solidFill>
              </a:rPr>
              <a:t>更新時のみ再コンパイルする仕組みを実装した。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図 3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50E91340-CF82-BEE3-EFBD-43AE761DDE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0674" y="2514600"/>
            <a:ext cx="1609051" cy="3326129"/>
          </a:xfrm>
          <a:prstGeom prst="rect">
            <a:avLst/>
          </a:prstGeom>
        </p:spPr>
      </p:pic>
      <p:pic>
        <p:nvPicPr>
          <p:cNvPr id="6" name="図 5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568BF7ED-C331-5BC8-A967-5A5A20B1B2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V="1">
            <a:off x="2743200" y="5394137"/>
            <a:ext cx="5830415" cy="1232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5190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329DF-10D4-BFA7-2DC7-28F641D53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3445E2-CC42-ECD3-FCF6-7EDD5DC95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D34D5E0-6B66-028D-0DCD-1D888E2DD470}"/>
              </a:ext>
            </a:extLst>
          </p:cNvPr>
          <p:cNvSpPr txBox="1"/>
          <p:nvPr/>
        </p:nvSpPr>
        <p:spPr>
          <a:xfrm>
            <a:off x="371168" y="1670339"/>
            <a:ext cx="34388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デバッグ時のログ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7C9A0F4-CB67-EF81-EDCA-8E9D4C6724DE}"/>
              </a:ext>
            </a:extLst>
          </p:cNvPr>
          <p:cNvSpPr txBox="1"/>
          <p:nvPr/>
        </p:nvSpPr>
        <p:spPr>
          <a:xfrm>
            <a:off x="371168" y="2255114"/>
            <a:ext cx="10754032" cy="194764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コンソール／メッセージボックス／ファイル出力に対応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出力先は用途に応じて切り替え可能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 Unicode MS"/>
              </a:rPr>
              <a:t>.cpp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rPr>
              <a:t> 差し替えによりプラットフォーム依存を吸収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5771792-CFC1-A612-1DE5-D50543967F92}"/>
              </a:ext>
            </a:extLst>
          </p:cNvPr>
          <p:cNvSpPr/>
          <p:nvPr/>
        </p:nvSpPr>
        <p:spPr>
          <a:xfrm>
            <a:off x="2398337" y="4524855"/>
            <a:ext cx="2057400" cy="4572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/>
              <a:t>ReportMessage.h</a:t>
            </a:r>
            <a:endParaRPr kumimoji="1" lang="ja-JP" altLang="en-US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573E2AD-AD8B-DEC5-389B-EEF1EAAD578F}"/>
              </a:ext>
            </a:extLst>
          </p:cNvPr>
          <p:cNvSpPr/>
          <p:nvPr/>
        </p:nvSpPr>
        <p:spPr>
          <a:xfrm>
            <a:off x="1451727" y="5715000"/>
            <a:ext cx="1676400" cy="4572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DX_RM.cpp</a:t>
            </a:r>
            <a:endParaRPr kumimoji="1" lang="ja-JP" altLang="en-US" dirty="0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FAE3F4B-E235-BF8D-9A42-17634D194937}"/>
              </a:ext>
            </a:extLst>
          </p:cNvPr>
          <p:cNvSpPr/>
          <p:nvPr/>
        </p:nvSpPr>
        <p:spPr>
          <a:xfrm>
            <a:off x="3581400" y="5715000"/>
            <a:ext cx="1676400" cy="4572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OGL_RM.cpp</a:t>
            </a:r>
            <a:endParaRPr kumimoji="1" lang="ja-JP" altLang="en-US" dirty="0"/>
          </a:p>
        </p:txBody>
      </p:sp>
      <p:pic>
        <p:nvPicPr>
          <p:cNvPr id="15" name="図 14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D47A4EB1-5FF5-CEBA-88BB-B75BEF460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4214" y="3100824"/>
            <a:ext cx="2796618" cy="3238845"/>
          </a:xfrm>
          <a:prstGeom prst="rect">
            <a:avLst/>
          </a:prstGeom>
        </p:spPr>
      </p:pic>
      <p:cxnSp>
        <p:nvCxnSpPr>
          <p:cNvPr id="17" name="コネクタ: カギ線 16">
            <a:extLst>
              <a:ext uri="{FF2B5EF4-FFF2-40B4-BE49-F238E27FC236}">
                <a16:creationId xmlns:a16="http://schemas.microsoft.com/office/drawing/2014/main" id="{C00CA6DE-813D-7FDD-4F33-88AAAC712471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 rot="5400000">
            <a:off x="2492010" y="4779972"/>
            <a:ext cx="732945" cy="1137110"/>
          </a:xfrm>
          <a:prstGeom prst="bentConnector3">
            <a:avLst>
              <a:gd name="adj1" fmla="val 71464"/>
            </a:avLst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C5D3992-D935-FCCF-1F41-663A796E8010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rot="16200000" flipH="1">
            <a:off x="3556846" y="4852245"/>
            <a:ext cx="732945" cy="992563"/>
          </a:xfrm>
          <a:prstGeom prst="bentConnector3">
            <a:avLst>
              <a:gd name="adj1" fmla="val 70122"/>
            </a:avLst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49C88A72-144D-0F1C-0A4A-D35BE03E1C38}"/>
              </a:ext>
            </a:extLst>
          </p:cNvPr>
          <p:cNvSpPr/>
          <p:nvPr/>
        </p:nvSpPr>
        <p:spPr>
          <a:xfrm>
            <a:off x="3467160" y="5044163"/>
            <a:ext cx="2057280" cy="4002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kumimoji="1" lang="ja-JP" altLang="en-US" dirty="0"/>
              <a:t>ビルド時に差し替え</a:t>
            </a:r>
          </a:p>
        </p:txBody>
      </p:sp>
    </p:spTree>
    <p:extLst>
      <p:ext uri="{BB962C8B-B14F-4D97-AF65-F5344CB8AC3E}">
        <p14:creationId xmlns:p14="http://schemas.microsoft.com/office/powerpoint/2010/main" val="1589482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6778F-F635-0616-B585-7716CA1C0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B26341-98AF-0E9C-4437-65316181F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341FC28-02CD-E182-1342-CF3FB1CB8771}"/>
              </a:ext>
            </a:extLst>
          </p:cNvPr>
          <p:cNvSpPr txBox="1"/>
          <p:nvPr/>
        </p:nvSpPr>
        <p:spPr>
          <a:xfrm>
            <a:off x="371168" y="1670339"/>
            <a:ext cx="16862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sz="3200" dirty="0" err="1">
                <a:solidFill>
                  <a:schemeClr val="bg1"/>
                </a:solidFill>
              </a:rPr>
              <a:t>CMake</a:t>
            </a:r>
            <a:endParaRPr kumimoji="1" lang="ja-JP" altLang="en-US" sz="3200" dirty="0">
              <a:solidFill>
                <a:schemeClr val="bg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C391546-A754-DD6D-302A-C86B444F8767}"/>
              </a:ext>
            </a:extLst>
          </p:cNvPr>
          <p:cNvSpPr txBox="1"/>
          <p:nvPr/>
        </p:nvSpPr>
        <p:spPr>
          <a:xfrm>
            <a:off x="371168" y="2255114"/>
            <a:ext cx="10754032" cy="130131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ja-JP" altLang="en-US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マルチプラットフォームへの対応が行いやすい</a:t>
            </a:r>
            <a:endParaRPr kumimoji="0" lang="en-US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ja-JP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OS</a:t>
            </a:r>
            <a:r>
              <a:rPr lang="ja-JP" altLang="en-US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や</a:t>
            </a:r>
            <a:r>
              <a:rPr lang="en-US" altLang="ja-JP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IDE</a:t>
            </a:r>
            <a:r>
              <a:rPr lang="ja-JP" altLang="en-US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が異なってもビルドが可能</a:t>
            </a:r>
            <a:endParaRPr lang="en-US" altLang="ja-JP" sz="2800" b="1" u="sng" dirty="0">
              <a:solidFill>
                <a:srgbClr val="FF0000"/>
              </a:solidFill>
              <a:latin typeface="Arial" panose="020B0604020202020204" pitchFamily="34" charset="0"/>
            </a:endParaRPr>
          </a:p>
        </p:txBody>
      </p:sp>
      <p:pic>
        <p:nvPicPr>
          <p:cNvPr id="4" name="図 3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25A12992-FB76-D612-8CDD-0BADB4BEE9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5245" y="2998781"/>
            <a:ext cx="3967514" cy="3577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7248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C5B7D-D9BF-A27C-3DFF-F3E67B753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42688C-0B15-1DF2-C15E-73345C421A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C2B3AA5-8889-FC69-C336-FD952CCBE9B4}"/>
              </a:ext>
            </a:extLst>
          </p:cNvPr>
          <p:cNvSpPr txBox="1"/>
          <p:nvPr/>
        </p:nvSpPr>
        <p:spPr>
          <a:xfrm>
            <a:off x="371168" y="1670339"/>
            <a:ext cx="23720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コンパイル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4944BB5-297B-AAEF-858A-EA307D884FE6}"/>
              </a:ext>
            </a:extLst>
          </p:cNvPr>
          <p:cNvSpPr txBox="1"/>
          <p:nvPr/>
        </p:nvSpPr>
        <p:spPr>
          <a:xfrm>
            <a:off x="371168" y="2255114"/>
            <a:ext cx="10754032" cy="1305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DirectX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で</a:t>
            </a:r>
            <a:r>
              <a:rPr lang="ja-JP" altLang="en-US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は</a:t>
            </a:r>
            <a:r>
              <a:rPr lang="en-US" altLang="ja-JP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Clang-CL </a:t>
            </a:r>
            <a:r>
              <a:rPr lang="ja-JP" altLang="en-US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を使用しています。</a:t>
            </a:r>
            <a:endParaRPr lang="en-US" altLang="ja-JP" sz="2800" b="1" u="sng" dirty="0">
              <a:solidFill>
                <a:srgbClr val="FF0000"/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他の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OS</a:t>
            </a:r>
            <a:r>
              <a:rPr lang="ja-JP" altLang="en-US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で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は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Clang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を基本として使用することを想定しています。</a:t>
            </a:r>
            <a:endParaRPr kumimoji="0" lang="en-US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図 4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3404B61A-4545-0E5B-7446-B6D5B6B23B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5400" y="3568690"/>
            <a:ext cx="6690852" cy="328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9096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C7372-ED01-E531-666C-D915BB10B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0B677F-6748-6461-8629-A772D11BD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4734232" cy="1056967"/>
          </a:xfrm>
        </p:spPr>
        <p:txBody>
          <a:bodyPr/>
          <a:lstStyle/>
          <a:p>
            <a:r>
              <a:rPr kumimoji="1" lang="ja-JP" altLang="en-US" sz="6000" dirty="0"/>
              <a:t>問題点と今後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148FB8C-D07F-2C9F-3D46-FE119165A1FE}"/>
              </a:ext>
            </a:extLst>
          </p:cNvPr>
          <p:cNvSpPr txBox="1"/>
          <p:nvPr/>
        </p:nvSpPr>
        <p:spPr>
          <a:xfrm>
            <a:off x="371168" y="1670339"/>
            <a:ext cx="47342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描画マネージャー問題点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E4874A6-9524-92A0-D25C-436FA0850661}"/>
              </a:ext>
            </a:extLst>
          </p:cNvPr>
          <p:cNvSpPr txBox="1"/>
          <p:nvPr/>
        </p:nvSpPr>
        <p:spPr>
          <a:xfrm>
            <a:off x="371168" y="2255114"/>
            <a:ext cx="10754032" cy="324415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en-US" sz="2800" i="0" u="sng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今の描画マネージャーでは</a:t>
            </a:r>
            <a:r>
              <a:rPr kumimoji="0" lang="en-US" altLang="ja-JP" sz="2800" i="0" u="sng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API</a:t>
            </a:r>
            <a:r>
              <a:rPr kumimoji="0" lang="ja-JP" altLang="en-US" sz="2800" i="0" u="sng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オブジェクトだけでなく</a:t>
            </a:r>
            <a:br>
              <a:rPr lang="en-US" altLang="ja-JP" sz="2800" u="sng" dirty="0">
                <a:solidFill>
                  <a:schemeClr val="bg1"/>
                </a:solidFill>
                <a:latin typeface="Arial" panose="020B0604020202020204" pitchFamily="34" charset="0"/>
              </a:rPr>
            </a:br>
            <a:r>
              <a:rPr lang="en-US" altLang="ja-JP" sz="2800" dirty="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  <a:r>
              <a:rPr kumimoji="0" lang="ja-JP" altLang="en-US" sz="2800" i="0" u="sng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各リソースマネージャーも動的確保していたり、</a:t>
            </a:r>
            <a:br>
              <a:rPr kumimoji="0" lang="en-US" altLang="ja-JP" sz="2800" i="0" u="sng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ja-JP" sz="2800" i="0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en-US" sz="2800" i="0" u="sng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描画マネージャーそのものをインターフェイスとして</a:t>
            </a:r>
            <a:br>
              <a:rPr kumimoji="0" lang="en-US" altLang="ja-JP" sz="2800" i="0" u="sng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ja-JP" sz="2800" i="0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en-US" sz="2800" i="0" u="sng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扱っているため、</a:t>
            </a:r>
            <a:r>
              <a:rPr kumimoji="0" lang="ja-JP" altLang="en-US" sz="280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参照や</a:t>
            </a:r>
            <a:r>
              <a:rPr kumimoji="0" lang="en-US" altLang="ja-JP" sz="2800" i="0" u="sng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Vtable</a:t>
            </a:r>
            <a:r>
              <a:rPr kumimoji="0" lang="ja-JP" altLang="en-US" sz="280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を何度も見に行ってしまう</a:t>
            </a:r>
            <a:r>
              <a:rPr lang="ja-JP" altLang="en-US" sz="2800" u="sng" dirty="0">
                <a:solidFill>
                  <a:schemeClr val="bg1"/>
                </a:solidFill>
                <a:latin typeface="Arial" panose="020B0604020202020204" pitchFamily="34" charset="0"/>
              </a:rPr>
              <a:t>。</a:t>
            </a:r>
            <a:br>
              <a:rPr lang="en-US" altLang="ja-JP" sz="2800" u="sng" dirty="0">
                <a:solidFill>
                  <a:schemeClr val="bg1"/>
                </a:solidFill>
                <a:latin typeface="Arial" panose="020B0604020202020204" pitchFamily="34" charset="0"/>
              </a:rPr>
            </a:br>
            <a:r>
              <a:rPr lang="ja-JP" alt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  <a:r>
              <a:rPr lang="ja-JP" altLang="en-US" sz="2800" u="sng" dirty="0">
                <a:solidFill>
                  <a:schemeClr val="bg1"/>
                </a:solidFill>
                <a:latin typeface="Arial" panose="020B0604020202020204" pitchFamily="34" charset="0"/>
              </a:rPr>
              <a:t>描画マネージャーが</a:t>
            </a:r>
            <a:r>
              <a:rPr lang="ja-JP" altLang="en-US" sz="2800" u="sng" dirty="0">
                <a:solidFill>
                  <a:srgbClr val="FF0000"/>
                </a:solidFill>
                <a:latin typeface="Arial" panose="020B0604020202020204" pitchFamily="34" charset="0"/>
              </a:rPr>
              <a:t>単一責任</a:t>
            </a:r>
            <a:r>
              <a:rPr lang="ja-JP" altLang="en-US" sz="2800" u="sng" dirty="0">
                <a:solidFill>
                  <a:schemeClr val="bg1"/>
                </a:solidFill>
                <a:latin typeface="Arial" panose="020B0604020202020204" pitchFamily="34" charset="0"/>
              </a:rPr>
              <a:t>になっていない。</a:t>
            </a:r>
            <a:endParaRPr kumimoji="0" lang="en-US" altLang="ja-JP" sz="2800" i="0" u="sng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25873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76A4A-96B6-B5C3-F33B-15A892D3A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119F17-02FF-29DD-3A37-E88E9FBA1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4734232" cy="1056967"/>
          </a:xfrm>
        </p:spPr>
        <p:txBody>
          <a:bodyPr/>
          <a:lstStyle/>
          <a:p>
            <a:r>
              <a:rPr kumimoji="1" lang="ja-JP" altLang="en-US" sz="6000" dirty="0"/>
              <a:t>問題点と今後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1526CF2-D70C-713C-E716-B44B9C85F463}"/>
              </a:ext>
            </a:extLst>
          </p:cNvPr>
          <p:cNvSpPr txBox="1"/>
          <p:nvPr/>
        </p:nvSpPr>
        <p:spPr>
          <a:xfrm>
            <a:off x="371168" y="1670339"/>
            <a:ext cx="42770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描画マネージャー今後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DFE138E-B6AF-9782-444F-6E2376C6518C}"/>
              </a:ext>
            </a:extLst>
          </p:cNvPr>
          <p:cNvSpPr txBox="1"/>
          <p:nvPr/>
        </p:nvSpPr>
        <p:spPr>
          <a:xfrm>
            <a:off x="371168" y="2255114"/>
            <a:ext cx="10754032" cy="259398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en-US" sz="2800" i="0" u="sng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描画マネージャーの問題点を改善するために、</a:t>
            </a:r>
            <a:br>
              <a:rPr lang="en-US" altLang="ja-JP" sz="2800" u="sng" dirty="0">
                <a:solidFill>
                  <a:schemeClr val="bg1"/>
                </a:solidFill>
                <a:latin typeface="Arial" panose="020B0604020202020204" pitchFamily="34" charset="0"/>
              </a:rPr>
            </a:br>
            <a:r>
              <a:rPr lang="en-US" altLang="ja-JP" sz="2800" dirty="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  <a:r>
              <a:rPr lang="ja-JP" altLang="en-US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コマンドリスト方式</a:t>
            </a:r>
            <a:r>
              <a:rPr lang="ja-JP" altLang="en-US" sz="2800" u="sng" dirty="0">
                <a:solidFill>
                  <a:schemeClr val="bg1"/>
                </a:solidFill>
                <a:latin typeface="Arial" panose="020B0604020202020204" pitchFamily="34" charset="0"/>
              </a:rPr>
              <a:t>を採用して、</a:t>
            </a:r>
            <a:r>
              <a:rPr lang="en-US" altLang="ja-JP" sz="2800" u="sng" dirty="0">
                <a:solidFill>
                  <a:schemeClr val="bg1"/>
                </a:solidFill>
                <a:latin typeface="Arial" panose="020B0604020202020204" pitchFamily="34" charset="0"/>
              </a:rPr>
              <a:t>API</a:t>
            </a:r>
            <a:r>
              <a:rPr lang="ja-JP" altLang="en-US" sz="2800" u="sng" dirty="0">
                <a:solidFill>
                  <a:schemeClr val="bg1"/>
                </a:solidFill>
                <a:latin typeface="Arial" panose="020B0604020202020204" pitchFamily="34" charset="0"/>
              </a:rPr>
              <a:t>オブジェクト作成だけを</a:t>
            </a:r>
            <a:br>
              <a:rPr lang="en-US" altLang="ja-JP" sz="2800" u="sng" dirty="0">
                <a:solidFill>
                  <a:schemeClr val="bg1"/>
                </a:solidFill>
                <a:latin typeface="Arial" panose="020B0604020202020204" pitchFamily="34" charset="0"/>
              </a:rPr>
            </a:br>
            <a:r>
              <a:rPr lang="en-US" altLang="ja-JP" sz="2800" dirty="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  <a:r>
              <a:rPr lang="ja-JP" altLang="en-US" sz="2800" u="sng" dirty="0">
                <a:solidFill>
                  <a:schemeClr val="bg1"/>
                </a:solidFill>
                <a:latin typeface="Arial" panose="020B0604020202020204" pitchFamily="34" charset="0"/>
              </a:rPr>
              <a:t>インターフェイスとして扱うことで今の２つの問題点を</a:t>
            </a:r>
            <a:br>
              <a:rPr lang="en-US" altLang="ja-JP" sz="2800" u="sng" dirty="0">
                <a:solidFill>
                  <a:schemeClr val="bg1"/>
                </a:solidFill>
                <a:latin typeface="Arial" panose="020B0604020202020204" pitchFamily="34" charset="0"/>
              </a:rPr>
            </a:br>
            <a:r>
              <a:rPr lang="en-US" altLang="ja-JP" sz="2800" dirty="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  <a:r>
              <a:rPr lang="ja-JP" altLang="en-US" sz="2800" u="sng" dirty="0">
                <a:solidFill>
                  <a:schemeClr val="bg1"/>
                </a:solidFill>
                <a:latin typeface="Arial" panose="020B0604020202020204" pitchFamily="34" charset="0"/>
              </a:rPr>
              <a:t>改善できると考えています。</a:t>
            </a:r>
            <a:endParaRPr kumimoji="0" lang="en-US" altLang="ja-JP" sz="2800" i="0" u="sng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27760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DD36B-21A6-69BC-5E81-7F45F199B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0580CD-C7AB-3959-E18D-EC6F61D44F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4734232" cy="1056967"/>
          </a:xfrm>
        </p:spPr>
        <p:txBody>
          <a:bodyPr/>
          <a:lstStyle/>
          <a:p>
            <a:r>
              <a:rPr kumimoji="1" lang="ja-JP" altLang="en-US" sz="6000" dirty="0"/>
              <a:t>問題点と今後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0758716-01D1-1232-4060-9D674FF14503}"/>
              </a:ext>
            </a:extLst>
          </p:cNvPr>
          <p:cNvSpPr txBox="1"/>
          <p:nvPr/>
        </p:nvSpPr>
        <p:spPr>
          <a:xfrm>
            <a:off x="371168" y="1670339"/>
            <a:ext cx="35912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シェーダー問題点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6EE1E48-27E7-1956-DA58-D0A2A69F573B}"/>
              </a:ext>
            </a:extLst>
          </p:cNvPr>
          <p:cNvSpPr txBox="1"/>
          <p:nvPr/>
        </p:nvSpPr>
        <p:spPr>
          <a:xfrm>
            <a:off x="371168" y="2255114"/>
            <a:ext cx="10754032" cy="259782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en-US" sz="2800" i="0" u="sng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今のシェーダーリファレンスは</a:t>
            </a:r>
            <a:r>
              <a:rPr kumimoji="0" lang="en-US" altLang="ja-JP" sz="280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DirectX</a:t>
            </a:r>
            <a:r>
              <a:rPr lang="en-US" altLang="ja-JP" sz="2800" u="sng" dirty="0">
                <a:solidFill>
                  <a:srgbClr val="FF0000"/>
                </a:solidFill>
                <a:latin typeface="Arial" panose="020B0604020202020204" pitchFamily="34" charset="0"/>
              </a:rPr>
              <a:t>11</a:t>
            </a:r>
            <a:r>
              <a:rPr lang="ja-JP" altLang="en-US" sz="2800" u="sng" dirty="0">
                <a:solidFill>
                  <a:srgbClr val="FF0000"/>
                </a:solidFill>
                <a:latin typeface="Arial" panose="020B0604020202020204" pitchFamily="34" charset="0"/>
              </a:rPr>
              <a:t>に依存</a:t>
            </a:r>
            <a:r>
              <a:rPr lang="ja-JP" altLang="en-US" sz="2800" u="sng" dirty="0">
                <a:solidFill>
                  <a:schemeClr val="bg1"/>
                </a:solidFill>
                <a:latin typeface="Arial" panose="020B0604020202020204" pitchFamily="34" charset="0"/>
              </a:rPr>
              <a:t>してしまって</a:t>
            </a:r>
            <a:br>
              <a:rPr lang="en-US" altLang="ja-JP" sz="2800" u="sng" dirty="0">
                <a:solidFill>
                  <a:schemeClr val="bg1"/>
                </a:solidFill>
                <a:latin typeface="Arial" panose="020B0604020202020204" pitchFamily="34" charset="0"/>
              </a:rPr>
            </a:br>
            <a:r>
              <a:rPr lang="en-US" altLang="ja-JP" sz="2800" dirty="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  <a:r>
              <a:rPr lang="ja-JP" altLang="en-US" sz="2800" u="sng" dirty="0">
                <a:solidFill>
                  <a:schemeClr val="bg1"/>
                </a:solidFill>
                <a:latin typeface="Arial" panose="020B0604020202020204" pitchFamily="34" charset="0"/>
              </a:rPr>
              <a:t>いるので、リファレンス情報を他のプラットフォームで</a:t>
            </a:r>
            <a:br>
              <a:rPr lang="en-US" altLang="ja-JP" sz="2800" u="sng" dirty="0">
                <a:solidFill>
                  <a:schemeClr val="bg1"/>
                </a:solidFill>
                <a:latin typeface="Arial" panose="020B0604020202020204" pitchFamily="34" charset="0"/>
              </a:rPr>
            </a:br>
            <a:r>
              <a:rPr lang="en-US" altLang="ja-JP" sz="2800" dirty="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  <a:r>
              <a:rPr lang="ja-JP" altLang="en-US" sz="2800" u="sng" dirty="0">
                <a:solidFill>
                  <a:schemeClr val="bg1"/>
                </a:solidFill>
                <a:latin typeface="Arial" panose="020B0604020202020204" pitchFamily="34" charset="0"/>
              </a:rPr>
              <a:t>使用できない</a:t>
            </a:r>
            <a:endParaRPr lang="en-US" altLang="ja-JP" sz="2800" u="sng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ja-JP" sz="2800" u="sng" dirty="0">
                <a:solidFill>
                  <a:srgbClr val="FF0000"/>
                </a:solidFill>
                <a:latin typeface="Arial" panose="020B0604020202020204" pitchFamily="34" charset="0"/>
              </a:rPr>
              <a:t>API</a:t>
            </a:r>
            <a:r>
              <a:rPr lang="ja-JP" altLang="en-US" sz="2800" u="sng" dirty="0">
                <a:solidFill>
                  <a:srgbClr val="FF0000"/>
                </a:solidFill>
                <a:latin typeface="Arial" panose="020B0604020202020204" pitchFamily="34" charset="0"/>
              </a:rPr>
              <a:t>ごとに同じ内容のシェーダーを作成しないといけない</a:t>
            </a:r>
            <a:endParaRPr lang="en-US" altLang="ja-JP" sz="2800" u="sng" dirty="0">
              <a:solidFill>
                <a:srgbClr val="FF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89708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382BE-C156-AC52-37C4-BF1C36192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40CA87-684D-EC1C-ABB9-DD51D34B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4734232" cy="1056967"/>
          </a:xfrm>
        </p:spPr>
        <p:txBody>
          <a:bodyPr/>
          <a:lstStyle/>
          <a:p>
            <a:r>
              <a:rPr kumimoji="1" lang="ja-JP" altLang="en-US" sz="6000" dirty="0"/>
              <a:t>問題点と今後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8E3F42F-CB54-57EA-1943-5CBB098FF232}"/>
              </a:ext>
            </a:extLst>
          </p:cNvPr>
          <p:cNvSpPr txBox="1"/>
          <p:nvPr/>
        </p:nvSpPr>
        <p:spPr>
          <a:xfrm>
            <a:off x="371168" y="1670339"/>
            <a:ext cx="31340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シェーダー今後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2E9D2F7-6C31-03B4-1CED-58CE789D817D}"/>
              </a:ext>
            </a:extLst>
          </p:cNvPr>
          <p:cNvSpPr txBox="1"/>
          <p:nvPr/>
        </p:nvSpPr>
        <p:spPr>
          <a:xfrm>
            <a:off x="371168" y="2255114"/>
            <a:ext cx="10754032" cy="388664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HLSL</a:t>
            </a:r>
            <a:r>
              <a:rPr kumimoji="0" lang="ja-JP" altLang="en-US" sz="280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を唯一のソース</a:t>
            </a:r>
            <a:r>
              <a:rPr kumimoji="0" lang="ja-JP" altLang="en-US" sz="2800" i="0" u="sng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として扱うため、</a:t>
            </a:r>
            <a:r>
              <a:rPr kumimoji="0" lang="en-US" altLang="ja-JP" sz="280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DXC</a:t>
            </a:r>
            <a:r>
              <a:rPr kumimoji="0" lang="ja-JP" altLang="en-US" sz="280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を使用して</a:t>
            </a:r>
            <a:br>
              <a:rPr kumimoji="0" lang="en-US" altLang="ja-JP" sz="280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ja-JP" sz="2800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ja-JP" sz="280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SPIR-V</a:t>
            </a:r>
            <a:r>
              <a:rPr kumimoji="0" lang="ja-JP" altLang="en-US" sz="280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の作成</a:t>
            </a:r>
            <a:r>
              <a:rPr kumimoji="0" lang="ja-JP" altLang="en-US" sz="2800" i="0" u="sng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を行えるようにし、</a:t>
            </a:r>
            <a:r>
              <a:rPr kumimoji="0" lang="en-US" altLang="ja-JP" sz="2800" i="0" u="sng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SPIR-V</a:t>
            </a:r>
            <a:r>
              <a:rPr lang="ja-JP" altLang="en-US" sz="2800" u="sng" dirty="0">
                <a:solidFill>
                  <a:schemeClr val="bg1"/>
                </a:solidFill>
                <a:latin typeface="Arial" panose="020B0604020202020204" pitchFamily="34" charset="0"/>
              </a:rPr>
              <a:t>から</a:t>
            </a:r>
            <a:r>
              <a:rPr lang="en-US" altLang="ja-JP" sz="2800" u="sng" dirty="0">
                <a:solidFill>
                  <a:schemeClr val="bg1"/>
                </a:solidFill>
                <a:latin typeface="Arial" panose="020B0604020202020204" pitchFamily="34" charset="0"/>
              </a:rPr>
              <a:t>GLSL</a:t>
            </a:r>
            <a:r>
              <a:rPr lang="ja-JP" altLang="en-US" sz="2800" u="sng" dirty="0">
                <a:solidFill>
                  <a:schemeClr val="bg1"/>
                </a:solidFill>
                <a:latin typeface="Arial" panose="020B0604020202020204" pitchFamily="34" charset="0"/>
              </a:rPr>
              <a:t>に</a:t>
            </a:r>
            <a:br>
              <a:rPr lang="en-US" altLang="ja-JP" sz="2800" u="sng" dirty="0">
                <a:solidFill>
                  <a:schemeClr val="bg1"/>
                </a:solidFill>
                <a:latin typeface="Arial" panose="020B0604020202020204" pitchFamily="34" charset="0"/>
              </a:rPr>
            </a:br>
            <a:r>
              <a:rPr lang="en-US" altLang="ja-JP" sz="2800" dirty="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  <a:r>
              <a:rPr lang="ja-JP" altLang="en-US" sz="2800" u="sng" dirty="0">
                <a:solidFill>
                  <a:schemeClr val="bg1"/>
                </a:solidFill>
                <a:latin typeface="Arial" panose="020B0604020202020204" pitchFamily="34" charset="0"/>
              </a:rPr>
              <a:t>変換できるようにする。</a:t>
            </a:r>
            <a:endParaRPr lang="en-US" altLang="ja-JP" sz="2800" u="sng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ja-JP" sz="2800" u="sng" dirty="0">
                <a:solidFill>
                  <a:srgbClr val="FF0000"/>
                </a:solidFill>
                <a:latin typeface="Arial" panose="020B0604020202020204" pitchFamily="34" charset="0"/>
              </a:rPr>
              <a:t>SPIR-V</a:t>
            </a:r>
            <a:r>
              <a:rPr lang="ja-JP" altLang="en-US" sz="2800" u="sng" dirty="0">
                <a:solidFill>
                  <a:srgbClr val="FF0000"/>
                </a:solidFill>
                <a:latin typeface="Arial" panose="020B0604020202020204" pitchFamily="34" charset="0"/>
              </a:rPr>
              <a:t>を作成してリファレンスを書き出すことで、</a:t>
            </a:r>
            <a:br>
              <a:rPr lang="en-US" altLang="ja-JP" sz="2800" u="sng" dirty="0">
                <a:solidFill>
                  <a:srgbClr val="FF0000"/>
                </a:solidFill>
                <a:latin typeface="Arial" panose="020B0604020202020204" pitchFamily="34" charset="0"/>
              </a:rPr>
            </a:br>
            <a:r>
              <a:rPr lang="en-US" altLang="ja-JP" sz="2800" dirty="0">
                <a:solidFill>
                  <a:srgbClr val="FF0000"/>
                </a:solidFill>
                <a:latin typeface="Arial" panose="020B0604020202020204" pitchFamily="34" charset="0"/>
              </a:rPr>
              <a:t> </a:t>
            </a:r>
            <a:r>
              <a:rPr lang="ja-JP" altLang="en-US" sz="2800" u="sng" dirty="0">
                <a:solidFill>
                  <a:srgbClr val="FF0000"/>
                </a:solidFill>
                <a:latin typeface="Arial" panose="020B0604020202020204" pitchFamily="34" charset="0"/>
              </a:rPr>
              <a:t>すべての</a:t>
            </a:r>
            <a:r>
              <a:rPr lang="en-US" altLang="ja-JP" sz="2800" u="sng" dirty="0">
                <a:solidFill>
                  <a:srgbClr val="FF0000"/>
                </a:solidFill>
                <a:latin typeface="Arial" panose="020B0604020202020204" pitchFamily="34" charset="0"/>
              </a:rPr>
              <a:t>API</a:t>
            </a:r>
            <a:r>
              <a:rPr lang="ja-JP" altLang="en-US" sz="2800" u="sng" dirty="0">
                <a:solidFill>
                  <a:srgbClr val="FF0000"/>
                </a:solidFill>
                <a:latin typeface="Arial" panose="020B0604020202020204" pitchFamily="34" charset="0"/>
              </a:rPr>
              <a:t>で共通してリファレンス情報</a:t>
            </a:r>
            <a:r>
              <a:rPr lang="ja-JP" altLang="en-US" sz="2800" u="sng" dirty="0">
                <a:solidFill>
                  <a:schemeClr val="bg1"/>
                </a:solidFill>
                <a:latin typeface="Arial" panose="020B0604020202020204" pitchFamily="34" charset="0"/>
              </a:rPr>
              <a:t>を</a:t>
            </a:r>
            <a:br>
              <a:rPr lang="en-US" altLang="ja-JP" sz="2800" u="sng" dirty="0">
                <a:solidFill>
                  <a:schemeClr val="bg1"/>
                </a:solidFill>
                <a:latin typeface="Arial" panose="020B0604020202020204" pitchFamily="34" charset="0"/>
              </a:rPr>
            </a:br>
            <a:r>
              <a:rPr lang="ja-JP" alt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  <a:r>
              <a:rPr lang="ja-JP" altLang="en-US" sz="2800" u="sng" dirty="0">
                <a:solidFill>
                  <a:schemeClr val="bg1"/>
                </a:solidFill>
                <a:latin typeface="Arial" panose="020B0604020202020204" pitchFamily="34" charset="0"/>
              </a:rPr>
              <a:t>使用することができるようにする。</a:t>
            </a:r>
            <a:endParaRPr lang="en-US" altLang="ja-JP" sz="2800" u="sng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82007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F3188-19C8-2FCD-2D2B-EA71A9C90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019E04-736B-F0DB-4951-81BAD9B24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4734232" cy="1056967"/>
          </a:xfrm>
        </p:spPr>
        <p:txBody>
          <a:bodyPr/>
          <a:lstStyle/>
          <a:p>
            <a:r>
              <a:rPr kumimoji="1" lang="ja-JP" altLang="en-US" sz="6000" dirty="0"/>
              <a:t>問題点と今後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2E50B0E-8835-5949-7A23-88FB461DFB55}"/>
              </a:ext>
            </a:extLst>
          </p:cNvPr>
          <p:cNvSpPr txBox="1"/>
          <p:nvPr/>
        </p:nvSpPr>
        <p:spPr>
          <a:xfrm>
            <a:off x="371168" y="1670339"/>
            <a:ext cx="30578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入力情報問題点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9285FAB-2352-3DA8-E8D0-6F31733D75B0}"/>
              </a:ext>
            </a:extLst>
          </p:cNvPr>
          <p:cNvSpPr txBox="1"/>
          <p:nvPr/>
        </p:nvSpPr>
        <p:spPr>
          <a:xfrm>
            <a:off x="371168" y="2255114"/>
            <a:ext cx="10754032" cy="1305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en-US" sz="2800" i="0" u="sng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入力情報をインターフェイスとして渡しているため、</a:t>
            </a:r>
            <a:br>
              <a:rPr kumimoji="0" lang="en-US" altLang="ja-JP" sz="2800" i="0" u="sng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ja-JP" sz="2800" i="0" u="sng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ja-JP" altLang="en-US" sz="2800" u="sng" dirty="0">
                <a:solidFill>
                  <a:srgbClr val="FF0000"/>
                </a:solidFill>
                <a:latin typeface="Arial" panose="020B0604020202020204" pitchFamily="34" charset="0"/>
              </a:rPr>
              <a:t>マウスやキーボード以外が使用することができない</a:t>
            </a:r>
            <a:endParaRPr kumimoji="0" lang="en-US" altLang="ja-JP" sz="2800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39779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33DFD-41D1-8181-CA94-056E3D11B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9DBFAA-44CF-AFB1-1BAA-F94E28FB3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4734232" cy="1056967"/>
          </a:xfrm>
        </p:spPr>
        <p:txBody>
          <a:bodyPr/>
          <a:lstStyle/>
          <a:p>
            <a:r>
              <a:rPr kumimoji="1" lang="ja-JP" altLang="en-US" sz="6000" dirty="0"/>
              <a:t>問題点と今後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7C76505-AD4D-414E-5D42-6E957B3EFE10}"/>
              </a:ext>
            </a:extLst>
          </p:cNvPr>
          <p:cNvSpPr txBox="1"/>
          <p:nvPr/>
        </p:nvSpPr>
        <p:spPr>
          <a:xfrm>
            <a:off x="371168" y="1670339"/>
            <a:ext cx="30578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入力情報今後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14381DF-FCFE-D97C-698F-2EA59AE767C4}"/>
              </a:ext>
            </a:extLst>
          </p:cNvPr>
          <p:cNvSpPr txBox="1"/>
          <p:nvPr/>
        </p:nvSpPr>
        <p:spPr>
          <a:xfrm>
            <a:off x="371168" y="2255114"/>
            <a:ext cx="10754032" cy="130131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en-US" sz="280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動作（</a:t>
            </a:r>
            <a:r>
              <a:rPr kumimoji="0" lang="en-US" altLang="ja-JP" sz="280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Action</a:t>
            </a:r>
            <a:r>
              <a:rPr kumimoji="0" lang="ja-JP" altLang="en-US" sz="280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）を渡す</a:t>
            </a:r>
            <a:r>
              <a:rPr kumimoji="0" lang="ja-JP" altLang="en-US" sz="2800" i="0" u="sng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ことで、どの入力情報を使用しているかを</a:t>
            </a:r>
            <a:br>
              <a:rPr kumimoji="0" lang="en-US" altLang="ja-JP" sz="2800" i="0" u="sng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ja-JP" sz="2800" i="0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en-US" sz="2800" i="0" u="sng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ゲーム層から隠す</a:t>
            </a:r>
            <a:endParaRPr kumimoji="0" lang="en-US" altLang="ja-JP" sz="2800" i="0" u="sng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24994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2771</TotalTime>
  <Words>709</Words>
  <Application>Microsoft Office PowerPoint</Application>
  <PresentationFormat>ワイド画面</PresentationFormat>
  <Paragraphs>77</Paragraphs>
  <Slides>16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1" baseType="lpstr">
      <vt:lpstr>Arial Unicode MS</vt:lpstr>
      <vt:lpstr>MS Gothic</vt:lpstr>
      <vt:lpstr>游ゴシック</vt:lpstr>
      <vt:lpstr>Arial</vt:lpstr>
      <vt:lpstr>Office Theme</vt:lpstr>
      <vt:lpstr>就職作品詳細資料</vt:lpstr>
      <vt:lpstr>目次</vt:lpstr>
      <vt:lpstr>作品概要</vt:lpstr>
      <vt:lpstr>作品概要</vt:lpstr>
      <vt:lpstr>コンセプト実現に向けて</vt:lpstr>
      <vt:lpstr>コンセプト実現に向けて</vt:lpstr>
      <vt:lpstr>コンセプト実現に向けて</vt:lpstr>
      <vt:lpstr>コンセプト実現に向けて</vt:lpstr>
      <vt:lpstr>コンセプト実現に向けて</vt:lpstr>
      <vt:lpstr>コンセプト実現に向けて</vt:lpstr>
      <vt:lpstr>問題点と今後</vt:lpstr>
      <vt:lpstr>問題点と今後</vt:lpstr>
      <vt:lpstr>問題点と今後</vt:lpstr>
      <vt:lpstr>問題点と今後</vt:lpstr>
      <vt:lpstr>問題点と今後</vt:lpstr>
      <vt:lpstr>問題点と今後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OHAT13B52932 松田健志</dc:creator>
  <cp:lastModifiedBy>OHAT13B52932 松田健志</cp:lastModifiedBy>
  <cp:revision>641</cp:revision>
  <dcterms:created xsi:type="dcterms:W3CDTF">2025-12-13T00:48:35Z</dcterms:created>
  <dcterms:modified xsi:type="dcterms:W3CDTF">2026-03-01T22:21:45Z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2025-10-11T00:00:00Z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2025-12-13T00:00:00Z</vt:filetime>
  </property>
  <property fmtid="{D5CDD505-2E9C-101B-9397-08002B2CF9AE}" pid="5" name="Producer">
    <vt:lpwstr>Microsoft® PowerPoint® for Microsoft 365</vt:lpwstr>
  </property>
</Properties>
</file>