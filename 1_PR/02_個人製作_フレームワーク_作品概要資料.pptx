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2" r:id="rId6"/>
    <p:sldId id="264" r:id="rId7"/>
    <p:sldId id="267" r:id="rId8"/>
    <p:sldId id="265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75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4CC07-7CCF-4856-941D-F16981C68265}" type="datetimeFigureOut">
              <a:rPr kumimoji="1" lang="ja-JP" altLang="en-US" smtClean="0"/>
              <a:t>2026/3/2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6A4E-7012-4A9C-843C-6443E265FB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6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6A4E-7012-4A9C-843C-6443E265FB9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4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355" y="1905000"/>
            <a:ext cx="651129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就職作品概要資料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914650" y="5791200"/>
            <a:ext cx="6362700" cy="5366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　ゲーム４年制学科　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25146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作品概要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コンセプト実現に向けて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4267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  <a:latin typeface="+mj-ea"/>
                <a:ea typeface="+mj-ea"/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  <a:latin typeface="+mj-ea"/>
                <a:ea typeface="+mj-ea"/>
              </a:rPr>
              <a:t>問題点と今後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9" y="390832"/>
            <a:ext cx="3134032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63795" y="1910588"/>
            <a:ext cx="11053916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作品名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　</a:t>
            </a:r>
            <a:r>
              <a:rPr kumimoji="1" lang="ja-JP" altLang="en-US" sz="2800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ja-JP" sz="2800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591FF-3C66-76C9-7DB1-C9FD342DC09F}"/>
              </a:ext>
            </a:extLst>
          </p:cNvPr>
          <p:cNvSpPr txBox="1"/>
          <p:nvPr/>
        </p:nvSpPr>
        <p:spPr>
          <a:xfrm>
            <a:off x="371169" y="3755760"/>
            <a:ext cx="4734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制作期間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</a:t>
            </a:r>
            <a:r>
              <a:rPr kumimoji="1" lang="ja-JP" altLang="en-US" sz="2800" dirty="0">
                <a:solidFill>
                  <a:schemeClr val="bg1"/>
                </a:solidFill>
              </a:rPr>
              <a:t>約３～４か月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3ED28E-B2D5-C64C-E143-47076CA1F52A}"/>
              </a:ext>
            </a:extLst>
          </p:cNvPr>
          <p:cNvSpPr txBox="1"/>
          <p:nvPr/>
        </p:nvSpPr>
        <p:spPr>
          <a:xfrm>
            <a:off x="371169" y="2792564"/>
            <a:ext cx="58772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開発環境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</a:rPr>
              <a:t>: C++20 </a:t>
            </a:r>
            <a:r>
              <a:rPr kumimoji="1" lang="ja-JP" altLang="en-US" sz="2800" dirty="0">
                <a:solidFill>
                  <a:schemeClr val="bg1"/>
                </a:solidFill>
              </a:rPr>
              <a:t>・ </a:t>
            </a:r>
            <a:r>
              <a:rPr kumimoji="1" lang="en-US" altLang="ja-JP" sz="2800" dirty="0">
                <a:solidFill>
                  <a:schemeClr val="bg1"/>
                </a:solidFill>
              </a:rPr>
              <a:t>DirectX11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5EB103-E022-71F1-C4DA-50FA9BB056C9}"/>
              </a:ext>
            </a:extLst>
          </p:cNvPr>
          <p:cNvSpPr txBox="1"/>
          <p:nvPr/>
        </p:nvSpPr>
        <p:spPr>
          <a:xfrm>
            <a:off x="373626" y="4640277"/>
            <a:ext cx="42770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u="sng" dirty="0">
                <a:solidFill>
                  <a:schemeClr val="bg1"/>
                </a:solidFill>
              </a:rPr>
              <a:t>使用したライブラリー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686F3-4DCA-0446-F882-162AAF7222AC}"/>
              </a:ext>
            </a:extLst>
          </p:cNvPr>
          <p:cNvSpPr txBox="1"/>
          <p:nvPr/>
        </p:nvSpPr>
        <p:spPr>
          <a:xfrm>
            <a:off x="363794" y="5239635"/>
            <a:ext cx="253180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assimp</a:t>
            </a:r>
            <a:br>
              <a:rPr kumimoji="1" lang="en-US" altLang="ja-JP" sz="2000" dirty="0">
                <a:solidFill>
                  <a:schemeClr val="bg1"/>
                </a:solidFill>
              </a:rPr>
            </a:br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>
                <a:solidFill>
                  <a:schemeClr val="bg1"/>
                </a:solidFill>
              </a:rPr>
              <a:t>DirectX Tex</a:t>
            </a:r>
          </a:p>
          <a:p>
            <a:r>
              <a:rPr kumimoji="1" lang="ja-JP" altLang="en-US" sz="2000" dirty="0">
                <a:solidFill>
                  <a:schemeClr val="bg1"/>
                </a:solidFill>
              </a:rPr>
              <a:t>・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imgui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B2D-7334-4B27-5A11-5C018C38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A2789-DDC9-EA5E-D3D6-9256DF56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作品概要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66F244-B60D-B801-2968-736AB6FA8A3F}"/>
              </a:ext>
            </a:extLst>
          </p:cNvPr>
          <p:cNvSpPr txBox="1"/>
          <p:nvPr/>
        </p:nvSpPr>
        <p:spPr>
          <a:xfrm>
            <a:off x="371168" y="2187313"/>
            <a:ext cx="107540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</a:rPr>
              <a:t>ゲーム本体だけでなく、開発現場においてもデザイナーをはじめとした多職種が</a:t>
            </a:r>
            <a:r>
              <a:rPr lang="en-US" altLang="ja-JP" sz="2400" dirty="0">
                <a:solidFill>
                  <a:schemeClr val="bg1"/>
                </a:solidFill>
              </a:rPr>
              <a:t>Mac</a:t>
            </a:r>
            <a:r>
              <a:rPr lang="ja-JP" altLang="en-US" sz="2400" dirty="0">
                <a:solidFill>
                  <a:schemeClr val="bg1"/>
                </a:solidFill>
              </a:rPr>
              <a:t>など多様な環境を利用することが一般的になっている。</a:t>
            </a:r>
            <a:br>
              <a:rPr lang="en-US" altLang="ja-JP" sz="2400" dirty="0">
                <a:solidFill>
                  <a:schemeClr val="bg1"/>
                </a:solidFill>
              </a:rPr>
            </a:br>
            <a:r>
              <a:rPr lang="ja-JP" altLang="en-US" sz="2400" dirty="0">
                <a:solidFill>
                  <a:schemeClr val="bg1"/>
                </a:solidFill>
              </a:rPr>
              <a:t>このような、</a:t>
            </a:r>
            <a:r>
              <a:rPr lang="ja-JP" altLang="en-US" sz="2400" u="sng" dirty="0">
                <a:solidFill>
                  <a:srgbClr val="FF0000"/>
                </a:solidFill>
              </a:rPr>
              <a:t>開発環境の多様化に対応することが、円滑なゲーム開発を行う上で</a:t>
            </a:r>
            <a:r>
              <a:rPr lang="ja-JP" altLang="en-US" sz="2400" b="1" u="sng" dirty="0">
                <a:ln>
                  <a:solidFill>
                    <a:srgbClr val="C00000"/>
                  </a:solidFill>
                </a:ln>
                <a:solidFill>
                  <a:srgbClr val="FF0000"/>
                </a:solidFill>
              </a:rPr>
              <a:t>重要</a:t>
            </a:r>
            <a:r>
              <a:rPr lang="ja-JP" altLang="en-US" sz="2400" dirty="0">
                <a:solidFill>
                  <a:schemeClr val="bg1"/>
                </a:solidFill>
              </a:rPr>
              <a:t>だと考えました。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6019FD-93D9-34F8-F4FD-5F32F857CF05}"/>
              </a:ext>
            </a:extLst>
          </p:cNvPr>
          <p:cNvSpPr txBox="1"/>
          <p:nvPr/>
        </p:nvSpPr>
        <p:spPr>
          <a:xfrm>
            <a:off x="371168" y="1562972"/>
            <a:ext cx="11439832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2800" b="1" dirty="0">
                <a:solidFill>
                  <a:schemeClr val="bg1"/>
                </a:solidFill>
              </a:rPr>
              <a:t>作品名 </a:t>
            </a:r>
            <a:r>
              <a:rPr kumimoji="1" lang="en-US" altLang="ja-JP" sz="2800" b="1" dirty="0">
                <a:solidFill>
                  <a:schemeClr val="bg1"/>
                </a:solidFill>
              </a:rPr>
              <a:t>: </a:t>
            </a:r>
            <a:r>
              <a:rPr kumimoji="1" lang="ja-JP" altLang="ja-JP" sz="2800" b="1" dirty="0">
                <a:solidFill>
                  <a:schemeClr val="bg1"/>
                </a:solidFill>
              </a:rPr>
              <a:t>他のプラットフォーム対応を前提とした</a:t>
            </a:r>
            <a:r>
              <a:rPr kumimoji="1" lang="ja-JP" altLang="en-US" sz="2800" b="1" dirty="0">
                <a:solidFill>
                  <a:schemeClr val="bg1"/>
                </a:solidFill>
              </a:rPr>
              <a:t>フレームワーク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D7AAF5-A2A1-C3D5-B707-264CF4610733}"/>
              </a:ext>
            </a:extLst>
          </p:cNvPr>
          <p:cNvSpPr txBox="1"/>
          <p:nvPr/>
        </p:nvSpPr>
        <p:spPr>
          <a:xfrm>
            <a:off x="371168" y="4099037"/>
            <a:ext cx="4810432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コンセプトに必要なこと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3B68A5-EBB3-BDF5-7243-C1311556DFDD}"/>
              </a:ext>
            </a:extLst>
          </p:cNvPr>
          <p:cNvSpPr txBox="1"/>
          <p:nvPr/>
        </p:nvSpPr>
        <p:spPr>
          <a:xfrm>
            <a:off x="371168" y="4663492"/>
            <a:ext cx="587723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データ構造の統一化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ゲーム層とプラットフォーム層の分離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 責任の明確化</a:t>
            </a:r>
            <a:endParaRPr kumimoji="1" lang="en-US" altLang="ja-JP" sz="2400" b="1" u="sng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・ 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インターフェイス 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(</a:t>
            </a:r>
            <a:r>
              <a:rPr kumimoji="1" lang="ja-JP" altLang="en-US" sz="2400" b="1" u="sng" dirty="0">
                <a:solidFill>
                  <a:schemeClr val="bg1"/>
                </a:solidFill>
              </a:rPr>
              <a:t>仲介役</a:t>
            </a:r>
            <a:r>
              <a:rPr kumimoji="1" lang="en-US" altLang="ja-JP" sz="2400" b="1" u="sng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940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803B9C-B76A-6051-F6AD-89F91A570D24}"/>
              </a:ext>
            </a:extLst>
          </p:cNvPr>
          <p:cNvSpPr txBox="1"/>
          <p:nvPr/>
        </p:nvSpPr>
        <p:spPr>
          <a:xfrm>
            <a:off x="371168" y="1670339"/>
            <a:ext cx="4048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b="1" dirty="0">
                <a:solidFill>
                  <a:schemeClr val="bg1"/>
                </a:solidFill>
              </a:rPr>
              <a:t>データ構造の統一化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A88100-0725-4EDC-2BE3-779C7D19AAC8}"/>
              </a:ext>
            </a:extLst>
          </p:cNvPr>
          <p:cNvSpPr txBox="1"/>
          <p:nvPr/>
        </p:nvSpPr>
        <p:spPr>
          <a:xfrm>
            <a:off x="371168" y="2255114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数学・文字列ライブラリを自作し差異を吸収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数学処理は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計算関数内を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依存のものを使用して最適化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文字列は UTF-8 に統一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行列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ルールを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左手・列優先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列ベクトル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で決定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E0A3369-F7C4-BA17-65EB-8625592D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632" y="142895"/>
            <a:ext cx="1981200" cy="2597573"/>
          </a:xfrm>
          <a:prstGeom prst="rect">
            <a:avLst/>
          </a:prstGeom>
        </p:spPr>
      </p:pic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CCBE5D2-99AD-D425-DBE5-74D9A7632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09" y="4869414"/>
            <a:ext cx="2319184" cy="1926797"/>
          </a:xfrm>
          <a:prstGeom prst="rect">
            <a:avLst/>
          </a:prstGeom>
        </p:spPr>
      </p:pic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F5F31C7-B79E-640C-B434-DB5C53CA2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0" y="4379556"/>
            <a:ext cx="2819400" cy="210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469C-9544-3EE0-2E53-A6F3378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8A78A-FF1F-9D2E-2968-2EF9DD7D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E956C6-E1AE-1739-4416-F70FE41DE4BB}"/>
              </a:ext>
            </a:extLst>
          </p:cNvPr>
          <p:cNvSpPr txBox="1"/>
          <p:nvPr/>
        </p:nvSpPr>
        <p:spPr>
          <a:xfrm>
            <a:off x="371168" y="1670339"/>
            <a:ext cx="5191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リソース管理マネージャー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20E06A-4618-5650-EE18-BFD8D7B7EDE2}"/>
              </a:ext>
            </a:extLst>
          </p:cNvPr>
          <p:cNvSpPr txBox="1"/>
          <p:nvPr/>
        </p:nvSpPr>
        <p:spPr>
          <a:xfrm>
            <a:off x="371168" y="2255114"/>
            <a:ext cx="109826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描画マネージャーを抽象化し、ゲーム層へ受け渡し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ポリモーフィズムによりAPI差異を意識せず描画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している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リソースは名前管理とし、自動的に共有される設計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のため疎結合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9CB8BAA8-BDBE-C9C1-5046-7FE880236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43400"/>
            <a:ext cx="8305800" cy="2449382"/>
          </a:xfrm>
          <a:prstGeom prst="rect">
            <a:avLst/>
          </a:prstGeom>
        </p:spPr>
      </p:pic>
      <p:pic>
        <p:nvPicPr>
          <p:cNvPr id="6" name="図 5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26975780-4996-340C-E00F-8464A2C9E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745" y="5025166"/>
            <a:ext cx="20859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3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C273-3BF3-11C8-794E-5A89FB38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F1C00-D7CE-F059-1BE3-177E133C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4BA5B1-1AA4-D293-0061-3A0D4BBDDE66}"/>
              </a:ext>
            </a:extLst>
          </p:cNvPr>
          <p:cNvSpPr txBox="1"/>
          <p:nvPr/>
        </p:nvSpPr>
        <p:spPr>
          <a:xfrm>
            <a:off x="371168" y="1670339"/>
            <a:ext cx="2295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11CF534-4526-C3EB-E7FB-5C4BF067762C}"/>
              </a:ext>
            </a:extLst>
          </p:cNvPr>
          <p:cNvSpPr txBox="1"/>
          <p:nvPr/>
        </p:nvSpPr>
        <p:spPr>
          <a:xfrm>
            <a:off x="371168" y="2255114"/>
            <a:ext cx="1075403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シェーダーリフレクションにより必要な定数情報を取得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シェーダーが自身のバインド情報を管理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オブジェクトは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自身が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更新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する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定数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名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のみを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知る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2800" dirty="0">
                <a:solidFill>
                  <a:srgbClr val="FF0000"/>
                </a:solidFill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</a:rPr>
              <a:t>同一ディレクトリ内の </a:t>
            </a:r>
            <a:r>
              <a:rPr lang="en-US" altLang="ja-JP" sz="2800" u="sng" dirty="0">
                <a:solidFill>
                  <a:srgbClr val="FF0000"/>
                </a:solidFill>
              </a:rPr>
              <a:t>.</a:t>
            </a:r>
            <a:r>
              <a:rPr lang="en-US" altLang="ja-JP" sz="2800" u="sng" dirty="0" err="1">
                <a:solidFill>
                  <a:srgbClr val="FF0000"/>
                </a:solidFill>
              </a:rPr>
              <a:t>hlsl</a:t>
            </a:r>
            <a:r>
              <a:rPr lang="ja-JP" altLang="en-US" sz="2800" u="sng" dirty="0">
                <a:solidFill>
                  <a:srgbClr val="FF0000"/>
                </a:solidFill>
              </a:rPr>
              <a:t> を監視し、</a:t>
            </a:r>
            <a:endParaRPr lang="en-US" altLang="ja-JP" sz="2800" u="sng" dirty="0">
              <a:solidFill>
                <a:srgbClr val="FF0000"/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2800" dirty="0">
                <a:solidFill>
                  <a:srgbClr val="FF0000"/>
                </a:solidFill>
              </a:rPr>
              <a:t>   </a:t>
            </a:r>
            <a:r>
              <a:rPr lang="ja-JP" altLang="en-US" sz="2800" u="sng" dirty="0">
                <a:solidFill>
                  <a:srgbClr val="FF0000"/>
                </a:solidFill>
              </a:rPr>
              <a:t>更新時のみ再コンパイルする仕組みを実装した。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図 3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0E91340-CF82-BEE3-EFBD-43AE761DD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674" y="2514600"/>
            <a:ext cx="1609051" cy="3326129"/>
          </a:xfrm>
          <a:prstGeom prst="rect">
            <a:avLst/>
          </a:prstGeom>
        </p:spPr>
      </p:pic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68BF7ED-C331-5BC8-A967-5A5A20B1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743200" y="5394137"/>
            <a:ext cx="5830415" cy="12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1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29DF-10D4-BFA7-2DC7-28F641D5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445E2-CC42-ECD3-FCF6-7EDD5DC9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34D5E0-6B66-028D-0DCD-1D888E2DD470}"/>
              </a:ext>
            </a:extLst>
          </p:cNvPr>
          <p:cNvSpPr txBox="1"/>
          <p:nvPr/>
        </p:nvSpPr>
        <p:spPr>
          <a:xfrm>
            <a:off x="371168" y="1670339"/>
            <a:ext cx="3438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デバッグ時のログ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C9A0F4-CB67-EF81-EDCA-8E9D4C6724DE}"/>
              </a:ext>
            </a:extLst>
          </p:cNvPr>
          <p:cNvSpPr txBox="1"/>
          <p:nvPr/>
        </p:nvSpPr>
        <p:spPr>
          <a:xfrm>
            <a:off x="371168" y="2255114"/>
            <a:ext cx="10754032" cy="19476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コンソール／メッセージボックス／ファイル出力に対応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出力先は用途に応じて切り替え可能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.cpp</a:t>
            </a:r>
            <a:r>
              <a:rPr kumimoji="0" lang="ja-JP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差し替えによりプラットフォーム依存を吸収</a:t>
            </a:r>
            <a:endParaRPr kumimoji="0" lang="ja-JP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771792-CFC1-A612-1DE5-D50543967F92}"/>
              </a:ext>
            </a:extLst>
          </p:cNvPr>
          <p:cNvSpPr/>
          <p:nvPr/>
        </p:nvSpPr>
        <p:spPr>
          <a:xfrm>
            <a:off x="2398337" y="4524855"/>
            <a:ext cx="2057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ReportMessage.h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73E2AD-AD8B-DEC5-389B-EEF1EAAD578F}"/>
              </a:ext>
            </a:extLst>
          </p:cNvPr>
          <p:cNvSpPr/>
          <p:nvPr/>
        </p:nvSpPr>
        <p:spPr>
          <a:xfrm>
            <a:off x="1451727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DX_RM.cpp</a:t>
            </a:r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AE3F4B-E235-BF8D-9A42-17634D194937}"/>
              </a:ext>
            </a:extLst>
          </p:cNvPr>
          <p:cNvSpPr/>
          <p:nvPr/>
        </p:nvSpPr>
        <p:spPr>
          <a:xfrm>
            <a:off x="3581400" y="5715000"/>
            <a:ext cx="1676400" cy="457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OGL_RM.cpp</a:t>
            </a:r>
            <a:endParaRPr kumimoji="1" lang="ja-JP" altLang="en-US" dirty="0"/>
          </a:p>
        </p:txBody>
      </p:sp>
      <p:pic>
        <p:nvPicPr>
          <p:cNvPr id="15" name="図 1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47A4EB1-5FF5-CEBA-88BB-B75BEF460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214" y="3100824"/>
            <a:ext cx="2796618" cy="3238845"/>
          </a:xfrm>
          <a:prstGeom prst="rect">
            <a:avLst/>
          </a:prstGeom>
        </p:spPr>
      </p:pic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C00CA6DE-813D-7FDD-4F33-88AAAC71247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>
            <a:off x="2492010" y="4779972"/>
            <a:ext cx="732945" cy="1137110"/>
          </a:xfrm>
          <a:prstGeom prst="bentConnector3">
            <a:avLst>
              <a:gd name="adj1" fmla="val 7146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BC5D3992-D935-FCCF-1F41-663A796E801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16200000" flipH="1">
            <a:off x="3556846" y="4852245"/>
            <a:ext cx="732945" cy="992563"/>
          </a:xfrm>
          <a:prstGeom prst="bentConnector3">
            <a:avLst>
              <a:gd name="adj1" fmla="val 7012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9C88A72-144D-0F1C-0A4A-D35BE03E1C38}"/>
              </a:ext>
            </a:extLst>
          </p:cNvPr>
          <p:cNvSpPr/>
          <p:nvPr/>
        </p:nvSpPr>
        <p:spPr>
          <a:xfrm>
            <a:off x="3467160" y="5044163"/>
            <a:ext cx="2057280" cy="400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ja-JP" altLang="en-US" dirty="0"/>
              <a:t>ビルド時に差し替え</a:t>
            </a:r>
          </a:p>
        </p:txBody>
      </p:sp>
    </p:spTree>
    <p:extLst>
      <p:ext uri="{BB962C8B-B14F-4D97-AF65-F5344CB8AC3E}">
        <p14:creationId xmlns:p14="http://schemas.microsoft.com/office/powerpoint/2010/main" val="158948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778F-F635-0616-B585-7716CA1C0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26341-98AF-0E9C-4437-65316181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41FC28-02CD-E182-1342-CF3FB1CB8771}"/>
              </a:ext>
            </a:extLst>
          </p:cNvPr>
          <p:cNvSpPr txBox="1"/>
          <p:nvPr/>
        </p:nvSpPr>
        <p:spPr>
          <a:xfrm>
            <a:off x="371168" y="1670339"/>
            <a:ext cx="1686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3200" dirty="0" err="1">
                <a:solidFill>
                  <a:schemeClr val="bg1"/>
                </a:solidFill>
              </a:rPr>
              <a:t>CMake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391546-A754-DD6D-302A-C86B444F8767}"/>
              </a:ext>
            </a:extLst>
          </p:cNvPr>
          <p:cNvSpPr txBox="1"/>
          <p:nvPr/>
        </p:nvSpPr>
        <p:spPr>
          <a:xfrm>
            <a:off x="371168" y="2255114"/>
            <a:ext cx="10754032" cy="1301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マルチプラットフォームへの対応が行いやすい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OS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や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IDE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が異なってもビルドが可能</a:t>
            </a:r>
            <a:endParaRPr lang="en-US" altLang="ja-JP" sz="2800" b="1" u="sng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5A12992-FB76-D612-8CDD-0BADB4BE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245" y="2998781"/>
            <a:ext cx="3967514" cy="357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24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5B7D-D9BF-A27C-3DFF-F3E67B75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2688C-0B15-1DF2-C15E-73345C421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コンセプト実現に向けて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2B3AA5-8889-FC69-C336-FD952CCBE9B4}"/>
              </a:ext>
            </a:extLst>
          </p:cNvPr>
          <p:cNvSpPr txBox="1"/>
          <p:nvPr/>
        </p:nvSpPr>
        <p:spPr>
          <a:xfrm>
            <a:off x="371168" y="1670339"/>
            <a:ext cx="2372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コンパイル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944BB5-297B-AAEF-858A-EA307D884FE6}"/>
              </a:ext>
            </a:extLst>
          </p:cNvPr>
          <p:cNvSpPr txBox="1"/>
          <p:nvPr/>
        </p:nvSpPr>
        <p:spPr>
          <a:xfrm>
            <a:off x="371168" y="2255114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で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は</a:t>
            </a:r>
            <a:r>
              <a:rPr lang="en-US" altLang="ja-JP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Clang-CL 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を使用しています。</a:t>
            </a:r>
            <a:endParaRPr lang="en-US" altLang="ja-JP" sz="2800" b="1" u="sng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他の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OS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で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は</a:t>
            </a:r>
            <a:r>
              <a:rPr kumimoji="0" lang="en-US" altLang="ja-JP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Clang</a:t>
            </a:r>
            <a:r>
              <a:rPr kumimoji="0" lang="ja-JP" altLang="en-US" sz="2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を基本として使用することを想定しています。</a:t>
            </a:r>
            <a:endParaRPr kumimoji="0" lang="en-US" altLang="ja-JP" sz="2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404B61A-4545-0E5B-7446-B6D5B6B2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568690"/>
            <a:ext cx="6690852" cy="328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90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7372-ED01-E531-666C-D915BB10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0B677F-6748-6461-8629-A772D11B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8FB8C-D07F-2C9F-3D46-FE119165A1FE}"/>
              </a:ext>
            </a:extLst>
          </p:cNvPr>
          <p:cNvSpPr txBox="1"/>
          <p:nvPr/>
        </p:nvSpPr>
        <p:spPr>
          <a:xfrm>
            <a:off x="371168" y="1670339"/>
            <a:ext cx="4734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描画マネージャー問題点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4874A6-9524-92A0-D25C-436FA0850661}"/>
              </a:ext>
            </a:extLst>
          </p:cNvPr>
          <p:cNvSpPr txBox="1"/>
          <p:nvPr/>
        </p:nvSpPr>
        <p:spPr>
          <a:xfrm>
            <a:off x="371168" y="2255114"/>
            <a:ext cx="10754032" cy="32441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今の描画マネージャーでは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オブジェクトだけでなく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各リソースマネージャーも動的確保していたり、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描画マネージャーそのものをインターフェイスとして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扱っているため、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参照や</a:t>
            </a:r>
            <a:r>
              <a:rPr kumimoji="0" lang="en-US" altLang="ja-JP" sz="2800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Vtable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を何度も見に行ってしまう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描画マネージャーが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単一責任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になっていない。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587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6A4A-96B6-B5C3-F33B-15A892D3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19F17-02FF-29DD-3A37-E88E9FBA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526CF2-D70C-713C-E716-B44B9C85F463}"/>
              </a:ext>
            </a:extLst>
          </p:cNvPr>
          <p:cNvSpPr txBox="1"/>
          <p:nvPr/>
        </p:nvSpPr>
        <p:spPr>
          <a:xfrm>
            <a:off x="371168" y="1670339"/>
            <a:ext cx="4277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描画マネージャー今後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DFE138E-B6AF-9782-444F-6E2376C6518C}"/>
              </a:ext>
            </a:extLst>
          </p:cNvPr>
          <p:cNvSpPr txBox="1"/>
          <p:nvPr/>
        </p:nvSpPr>
        <p:spPr>
          <a:xfrm>
            <a:off x="371168" y="2255114"/>
            <a:ext cx="10754032" cy="25939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描画マネージャーの問題点を改善するために、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b="1" u="sng" dirty="0">
                <a:solidFill>
                  <a:srgbClr val="FF0000"/>
                </a:solidFill>
                <a:latin typeface="Arial" panose="020B0604020202020204" pitchFamily="34" charset="0"/>
              </a:rPr>
              <a:t>コマンドリスト方式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を採用して、</a:t>
            </a:r>
            <a: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オブジェクト作成だけを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インターフェイスとして扱うことで今の２つの問題点を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改善できると考えています。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76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D36B-21A6-69BC-5E81-7F45F199B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580CD-C7AB-3959-E18D-EC6F61D4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758716-01D1-1232-4060-9D674FF14503}"/>
              </a:ext>
            </a:extLst>
          </p:cNvPr>
          <p:cNvSpPr txBox="1"/>
          <p:nvPr/>
        </p:nvSpPr>
        <p:spPr>
          <a:xfrm>
            <a:off x="371168" y="1670339"/>
            <a:ext cx="35912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EE1E48-27E7-1956-DA58-D0A2A69F573B}"/>
              </a:ext>
            </a:extLst>
          </p:cNvPr>
          <p:cNvSpPr txBox="1"/>
          <p:nvPr/>
        </p:nvSpPr>
        <p:spPr>
          <a:xfrm>
            <a:off x="371168" y="2255114"/>
            <a:ext cx="10754032" cy="2597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今のシェーダーリファレンスは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DirectX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に依存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してしまって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いるので、リファレンス情報を他のプラットフォームで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使用できない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ごとに同じ内容のシェーダーを作成しないといけない</a:t>
            </a:r>
            <a:endParaRPr lang="en-US" altLang="ja-JP" sz="2800" u="sng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7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82BE-C156-AC52-37C4-BF1C3619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0CA87-684D-EC1C-ABB9-DD51D34B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E3F42F-CB54-57EA-1943-5CBB098FF232}"/>
              </a:ext>
            </a:extLst>
          </p:cNvPr>
          <p:cNvSpPr txBox="1"/>
          <p:nvPr/>
        </p:nvSpPr>
        <p:spPr>
          <a:xfrm>
            <a:off x="371168" y="1670339"/>
            <a:ext cx="31340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シェーダー今後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E9D2F7-6C31-03B4-1CED-58CE789D817D}"/>
              </a:ext>
            </a:extLst>
          </p:cNvPr>
          <p:cNvSpPr txBox="1"/>
          <p:nvPr/>
        </p:nvSpPr>
        <p:spPr>
          <a:xfrm>
            <a:off x="371168" y="2255114"/>
            <a:ext cx="10754032" cy="38866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HLSL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を唯一のソース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として扱うため、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DXC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を使用して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の作成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を行えるようにし、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SPIR-V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から</a:t>
            </a:r>
            <a: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GLSL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に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変換できるようにする。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SPIR-V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を作成してリファレンスを書き出すことで、</a:t>
            </a:r>
            <a:b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</a:br>
            <a:r>
              <a:rPr lang="en-US" altLang="ja-JP" sz="2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すべての</a:t>
            </a:r>
            <a:r>
              <a:rPr lang="en-US" altLang="ja-JP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API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で共通してリファレンス情報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を</a:t>
            </a:r>
            <a:br>
              <a:rPr lang="en-US" altLang="ja-JP" sz="2800" u="sng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ja-JP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chemeClr val="bg1"/>
                </a:solidFill>
                <a:latin typeface="Arial" panose="020B0604020202020204" pitchFamily="34" charset="0"/>
              </a:rPr>
              <a:t>使用することができるようにする。</a:t>
            </a:r>
            <a:endParaRPr lang="en-US" altLang="ja-JP" sz="2800" u="sng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200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3188-19C8-2FCD-2D2B-EA71A9C9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19E04-736B-F0DB-4951-81BAD9B2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E50B0E-8835-5949-7A23-88FB461DFB55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入力情報問題点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285FAB-2352-3DA8-E8D0-6F31733D75B0}"/>
              </a:ext>
            </a:extLst>
          </p:cNvPr>
          <p:cNvSpPr txBox="1"/>
          <p:nvPr/>
        </p:nvSpPr>
        <p:spPr>
          <a:xfrm>
            <a:off x="371168" y="2255114"/>
            <a:ext cx="10754032" cy="1305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入力情報をインターフェイスとして渡しているため、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ja-JP" altLang="en-US" sz="2800" u="sng" dirty="0">
                <a:solidFill>
                  <a:srgbClr val="FF0000"/>
                </a:solidFill>
                <a:latin typeface="Arial" panose="020B0604020202020204" pitchFamily="34" charset="0"/>
              </a:rPr>
              <a:t>マウスやキーボード以外が使用することができない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77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3DFD-41D1-8181-CA94-056E3D1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DBFAA-44CF-AFB1-1BAA-F94E28FB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4734232" cy="1056967"/>
          </a:xfrm>
        </p:spPr>
        <p:txBody>
          <a:bodyPr/>
          <a:lstStyle/>
          <a:p>
            <a:r>
              <a:rPr kumimoji="1" lang="ja-JP" altLang="en-US" sz="6000" dirty="0"/>
              <a:t>問題点と今後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C76505-AD4D-414E-5D42-6E957B3EFE10}"/>
              </a:ext>
            </a:extLst>
          </p:cNvPr>
          <p:cNvSpPr txBox="1"/>
          <p:nvPr/>
        </p:nvSpPr>
        <p:spPr>
          <a:xfrm>
            <a:off x="371168" y="1670339"/>
            <a:ext cx="3057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入力情報今後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4381DF-FCFE-D97C-698F-2EA59AE767C4}"/>
              </a:ext>
            </a:extLst>
          </p:cNvPr>
          <p:cNvSpPr txBox="1"/>
          <p:nvPr/>
        </p:nvSpPr>
        <p:spPr>
          <a:xfrm>
            <a:off x="371168" y="2255114"/>
            <a:ext cx="10754032" cy="1301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動作（</a:t>
            </a:r>
            <a: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Action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）を渡す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ことで、どの入力情報を使用しているかを</a:t>
            </a:r>
            <a:br>
              <a:rPr kumimoji="0" lang="en-US" altLang="ja-JP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ja-JP" sz="280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ja-JP" altLang="en-US" sz="280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ゲーム層から隠す</a:t>
            </a:r>
            <a:endParaRPr kumimoji="0" lang="en-US" altLang="ja-JP" sz="2800" i="0" u="sng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49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2767</TotalTime>
  <Words>709</Words>
  <Application>Microsoft Office PowerPoint</Application>
  <PresentationFormat>ワイド画面</PresentationFormat>
  <Paragraphs>77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Arial Unicode MS</vt:lpstr>
      <vt:lpstr>MS Gothic</vt:lpstr>
      <vt:lpstr>游ゴシック</vt:lpstr>
      <vt:lpstr>Arial</vt:lpstr>
      <vt:lpstr>Office Theme</vt:lpstr>
      <vt:lpstr>就職作品概要資料</vt:lpstr>
      <vt:lpstr>目次</vt:lpstr>
      <vt:lpstr>作品概要</vt:lpstr>
      <vt:lpstr>作品概要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コンセプト実現に向けて</vt:lpstr>
      <vt:lpstr>問題点と今後</vt:lpstr>
      <vt:lpstr>問題点と今後</vt:lpstr>
      <vt:lpstr>問題点と今後</vt:lpstr>
      <vt:lpstr>問題点と今後</vt:lpstr>
      <vt:lpstr>問題点と今後</vt:lpstr>
      <vt:lpstr>問題点と今後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642</cp:revision>
  <dcterms:created xsi:type="dcterms:W3CDTF">2025-12-13T00:48:35Z</dcterms:created>
  <dcterms:modified xsi:type="dcterms:W3CDTF">2026-03-01T22:17:28Z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