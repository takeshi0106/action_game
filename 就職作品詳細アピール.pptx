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74" r:id="rId5"/>
    <p:sldId id="278" r:id="rId6"/>
    <p:sldId id="275" r:id="rId7"/>
    <p:sldId id="267" r:id="rId8"/>
    <p:sldId id="276" r:id="rId9"/>
    <p:sldId id="277" r:id="rId10"/>
    <p:sldId id="279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580235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905000"/>
            <a:ext cx="107365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u="none" spc="-5" dirty="0" err="1"/>
              <a:t>就職</a:t>
            </a:r>
            <a:r>
              <a:rPr lang="ja-JP" altLang="en-US" sz="6000" u="none" spc="-5" dirty="0"/>
              <a:t>作品詳細アピール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9481820" y="5011270"/>
            <a:ext cx="2092960" cy="4751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AT-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13B-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529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32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E2CB74-5913-A1D0-F1E2-9A1CB7A844AB}"/>
              </a:ext>
            </a:extLst>
          </p:cNvPr>
          <p:cNvSpPr txBox="1"/>
          <p:nvPr/>
        </p:nvSpPr>
        <p:spPr>
          <a:xfrm>
            <a:off x="10020808" y="5486400"/>
            <a:ext cx="155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735"/>
              </a:spcBef>
            </a:pPr>
            <a:r>
              <a:rPr lang="ja-JP" altLang="en-US" sz="2400" spc="-125" dirty="0">
                <a:solidFill>
                  <a:srgbClr val="FFFFFF"/>
                </a:solidFill>
                <a:latin typeface="MS Gothic"/>
                <a:cs typeface="MS Gothic"/>
              </a:rPr>
              <a:t>松田 健志</a:t>
            </a:r>
            <a:endParaRPr lang="ja-JP" altLang="en-US" sz="24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754537"/>
            <a:ext cx="50539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" dirty="0" err="1"/>
              <a:t>作品概要</a:t>
            </a:r>
            <a:r>
              <a:rPr lang="ja-JP" altLang="en-US" spc="-20" dirty="0"/>
              <a:t>・</a:t>
            </a:r>
            <a:r>
              <a:rPr lang="ja-JP" altLang="en-US" b="1" spc="-20" dirty="0"/>
              <a:t>開発目的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5410200"/>
            <a:ext cx="276286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45"/>
              </a:spcBef>
            </a:pPr>
            <a:r>
              <a:rPr lang="ja-JP" altLang="en-US" sz="2800" b="1" spc="-40" dirty="0">
                <a:solidFill>
                  <a:srgbClr val="FFFFFF"/>
                </a:solidFill>
                <a:latin typeface="MS Gothic"/>
                <a:cs typeface="MS Gothic"/>
              </a:rPr>
              <a:t>約３～４カ月</a:t>
            </a:r>
            <a:endParaRPr lang="ja-JP" altLang="en-US" sz="2800" b="1" dirty="0">
              <a:latin typeface="MS Gothic"/>
              <a:cs typeface="MS Gothic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2B156A2-B4BA-5EA8-07B5-B1CD830F6170}"/>
              </a:ext>
            </a:extLst>
          </p:cNvPr>
          <p:cNvSpPr txBox="1"/>
          <p:nvPr/>
        </p:nvSpPr>
        <p:spPr>
          <a:xfrm>
            <a:off x="762000" y="1668743"/>
            <a:ext cx="112014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b="1" spc="-25" dirty="0">
                <a:solidFill>
                  <a:srgbClr val="FFFFFF"/>
                </a:solidFill>
                <a:latin typeface="MS Gothic"/>
                <a:cs typeface="MS Gothic"/>
              </a:rPr>
              <a:t>ゲームロジック層を変更せずに、プラットフォームを変更できる。</a:t>
            </a:r>
            <a:endParaRPr lang="en-US" altLang="ja-JP" sz="2800" b="1" spc="-25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b="1" spc="-25" dirty="0">
                <a:solidFill>
                  <a:srgbClr val="FFFFFF"/>
                </a:solidFill>
                <a:latin typeface="MS Gothic"/>
                <a:cs typeface="MS Gothic"/>
              </a:rPr>
              <a:t>大量のオブジェクトを描画したい。</a:t>
            </a:r>
            <a:endParaRPr lang="en-US" altLang="ja-JP" sz="2800" b="1" spc="-25" dirty="0">
              <a:solidFill>
                <a:srgbClr val="FFFFFF"/>
              </a:solidFill>
              <a:latin typeface="MS Gothic"/>
              <a:cs typeface="MS Gothic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5DE84D-A70D-8D7B-04E3-A856563326BC}"/>
              </a:ext>
            </a:extLst>
          </p:cNvPr>
          <p:cNvSpPr txBox="1"/>
          <p:nvPr/>
        </p:nvSpPr>
        <p:spPr>
          <a:xfrm>
            <a:off x="528484" y="2868413"/>
            <a:ext cx="27628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ja-JP" altLang="en-US" sz="4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開発環境</a:t>
            </a:r>
            <a:endParaRPr lang="ja-JP" altLang="en-US" sz="4400" dirty="0">
              <a:latin typeface="MS Gothic"/>
              <a:cs typeface="MS Gothic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BD5AEE0-AC2C-160F-9306-57AF188A17E3}"/>
              </a:ext>
            </a:extLst>
          </p:cNvPr>
          <p:cNvSpPr txBox="1"/>
          <p:nvPr/>
        </p:nvSpPr>
        <p:spPr>
          <a:xfrm>
            <a:off x="762000" y="3775925"/>
            <a:ext cx="396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5765" algn="l">
              <a:lnSpc>
                <a:spcPct val="100000"/>
              </a:lnSpc>
              <a:spcBef>
                <a:spcPts val="1095"/>
              </a:spcBef>
            </a:pPr>
            <a:r>
              <a:rPr lang="en-US" altLang="ja-JP" sz="2800" b="1" spc="-30" dirty="0">
                <a:solidFill>
                  <a:srgbClr val="FFFFFF"/>
                </a:solidFill>
                <a:latin typeface="Arial MT"/>
                <a:cs typeface="Arial MT"/>
              </a:rPr>
              <a:t>C++ </a:t>
            </a:r>
            <a:r>
              <a:rPr lang="en-US" altLang="ja-JP" sz="2800" b="1" spc="-30" dirty="0">
                <a:solidFill>
                  <a:srgbClr val="FFFFFF"/>
                </a:solidFill>
                <a:latin typeface="MS Gothic"/>
                <a:cs typeface="Arial MT"/>
              </a:rPr>
              <a:t>20</a:t>
            </a:r>
            <a:r>
              <a:rPr lang="en-US" altLang="ja-JP" sz="2800" b="1" spc="-590" dirty="0">
                <a:solidFill>
                  <a:srgbClr val="FFFFFF"/>
                </a:solidFill>
                <a:latin typeface="MS Gothic"/>
                <a:cs typeface="MS Gothic"/>
              </a:rPr>
              <a:t> </a:t>
            </a:r>
            <a:r>
              <a:rPr lang="en-US" altLang="ja-JP" sz="2800" b="1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lang="en-US" altLang="ja-JP" sz="2800" b="1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altLang="ja-JP" sz="2800" b="1" spc="-10" dirty="0">
                <a:solidFill>
                  <a:srgbClr val="FFFFFF"/>
                </a:solidFill>
                <a:latin typeface="Arial MT"/>
                <a:cs typeface="Arial MT"/>
              </a:rPr>
              <a:t>DirectX</a:t>
            </a:r>
            <a:r>
              <a:rPr lang="ja-JP" altLang="en-US" sz="2800" b="1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altLang="ja-JP" sz="2800" b="1" spc="-10" dirty="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endParaRPr lang="en-US" altLang="ja-JP" sz="2800" b="1" dirty="0">
              <a:latin typeface="Arial MT"/>
              <a:cs typeface="Arial MT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D0AB96-CCE6-6120-E873-2F3CC809A09E}"/>
              </a:ext>
            </a:extLst>
          </p:cNvPr>
          <p:cNvSpPr txBox="1"/>
          <p:nvPr/>
        </p:nvSpPr>
        <p:spPr>
          <a:xfrm>
            <a:off x="513736" y="4530011"/>
            <a:ext cx="27628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ja-JP" altLang="en-US" sz="4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開発期間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FB25B17-844E-2C98-643A-4861163F8BA8}"/>
              </a:ext>
            </a:extLst>
          </p:cNvPr>
          <p:cNvSpPr/>
          <p:nvPr/>
        </p:nvSpPr>
        <p:spPr>
          <a:xfrm>
            <a:off x="2209800" y="2133600"/>
            <a:ext cx="8305800" cy="21336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u="heavy" spc="-45" dirty="0">
                <a:uFill>
                  <a:solidFill>
                    <a:srgbClr val="FFFFFF"/>
                  </a:solidFill>
                </a:uFill>
              </a:rPr>
              <a:t>作品の</a:t>
            </a:r>
            <a:r>
              <a:rPr lang="ja-JP" altLang="en-US" sz="4400" u="heavy" spc="-40" dirty="0">
                <a:uFill>
                  <a:solidFill>
                    <a:srgbClr val="FFFFFF"/>
                  </a:solidFill>
                </a:uFill>
              </a:rPr>
              <a:t>アピールポイント紹介</a:t>
            </a:r>
            <a:endParaRPr kumimoji="1" lang="ja-JP" alt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0442-6235-BD9F-28DD-F9A6AD0A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F7B998-8FC6-E246-7ECA-17A6D1CAB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105301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ja-JP" dirty="0"/>
              <a:t>プラットフォーム非依存設計</a:t>
            </a:r>
            <a:r>
              <a:rPr lang="ja-JP" altLang="en-US" dirty="0"/>
              <a:t> ： 数学型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127C8B-80B8-190E-3989-3BCF57F39860}"/>
              </a:ext>
            </a:extLst>
          </p:cNvPr>
          <p:cNvSpPr txBox="1"/>
          <p:nvPr/>
        </p:nvSpPr>
        <p:spPr>
          <a:xfrm>
            <a:off x="609600" y="1676400"/>
            <a:ext cx="11367415" cy="403700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ゲームロジックを変更しなくてよいようにするために、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左手座標系・行列は行優先で統一しています。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数学型を共通で定義して、計算処理関数の実態をプラットフォームごとに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分けることで、各環境で最適化されている数学ライブラリを使用しています。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今は実装できておりませんが、</a:t>
            </a:r>
            <a:r>
              <a:rPr lang="en-US" altLang="ja-JP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DirectX11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フォルダーに入れることで、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ビルド時に明示的に選択されて、実装漏れなどは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コンパイルエラーとして検出されます。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5180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CA1C-CC53-BDE0-9B97-CDC38736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7DDEB-38EC-27A8-CCC0-82CFB440B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105301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ja-JP" dirty="0"/>
              <a:t>プラットフォーム非依存設計</a:t>
            </a:r>
            <a:r>
              <a:rPr lang="ja-JP" altLang="en-US" dirty="0"/>
              <a:t> ： デバッグ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8BF7B04-A174-8F0F-451B-54F488D5B07B}"/>
              </a:ext>
            </a:extLst>
          </p:cNvPr>
          <p:cNvSpPr txBox="1"/>
          <p:nvPr/>
        </p:nvSpPr>
        <p:spPr>
          <a:xfrm>
            <a:off x="609600" y="1676400"/>
            <a:ext cx="11367415" cy="48705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自作抽象化レポート関数と、</a:t>
            </a:r>
            <a:r>
              <a:rPr lang="en-US" altLang="ja-JP" sz="2800" dirty="0" err="1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Imgui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を使用しています。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en-US" altLang="ja-JP" sz="2800" dirty="0" err="1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Imgui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は</a:t>
            </a:r>
            <a:r>
              <a:rPr lang="en-US" altLang="ja-JP" sz="2800" dirty="0" err="1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Andoroid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などにも対応しており、プラットフォーム層にプラットフォーム固有の処理を書くだけで、共通して使用できるため使用しています。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ログで見返したいとき用に自作抽象化レポート関数を作成しています。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en-US" altLang="ja-JP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DirectX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ではコンソールと、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en-US" altLang="ja-JP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Windows</a:t>
            </a: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のメッセージボックスを使用しています。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数学系と同じく、関数の実態をプラットフォームごとに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切り替えれるようにしています。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3701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14812-DB6D-0098-B6DA-E017541A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D393A7-E2C5-C2C0-6ACC-2277F1DED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94633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ja-JP" dirty="0"/>
              <a:t>プラットフォーム非依存設計</a:t>
            </a:r>
            <a:r>
              <a:rPr lang="ja-JP" altLang="en-US" dirty="0"/>
              <a:t> ： 描画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5C0B79-342E-B6B7-DAFA-D3A7B7209246}"/>
              </a:ext>
            </a:extLst>
          </p:cNvPr>
          <p:cNvSpPr txBox="1"/>
          <p:nvPr/>
        </p:nvSpPr>
        <p:spPr>
          <a:xfrm>
            <a:off x="609600" y="1371600"/>
            <a:ext cx="11367415" cy="53194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基底クラスをインターフェイスとして、ゲーム層に渡すことでゲーム層が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プラットフォームを知ることなく描画を行えるようしています。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各リソースとゲーム層をつなげるキーは、文字列で行っています。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文字列にすることで、どのリソースでエラーが起きているのか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わかりやすいようにしています。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各リソース設定を自作列挙型で渡し、プラットフォーム層で各自のプラットフォームに変換吸うようにしています。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シェーダーのコンパイルをゲーム初回時に行うようにしているため、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将来的なハードウェア環境にも拡張できると考えています。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9971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3936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en-US" spc="-25" dirty="0"/>
              <a:t>責任の</a:t>
            </a:r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4932-FD05-1523-FFDE-1429357B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DC900F-EB9A-0C04-65A3-2D22BD438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32911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en-US" spc="-25" dirty="0"/>
              <a:t>リソース管理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20E5E63-D6C9-3AC5-9520-CE2D228B28DB}"/>
              </a:ext>
            </a:extLst>
          </p:cNvPr>
          <p:cNvSpPr txBox="1"/>
          <p:nvPr/>
        </p:nvSpPr>
        <p:spPr>
          <a:xfrm>
            <a:off x="609600" y="1447800"/>
            <a:ext cx="8000999" cy="126701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同じリソースを重複して作成しないようにして、</a:t>
            </a:r>
            <a:endParaRPr lang="ja-JP" altLang="en-US" sz="2800" dirty="0">
              <a:latin typeface="MS Gothic"/>
              <a:cs typeface="MS Gothic"/>
            </a:endParaRPr>
          </a:p>
          <a:p>
            <a:pPr marL="12700">
              <a:lnSpc>
                <a:spcPts val="3190"/>
              </a:lnSpc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一度作成したリソースを再利用して、</a:t>
            </a: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>
              <a:lnSpc>
                <a:spcPts val="3190"/>
              </a:lnSpc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不必要なメモリの使用量を減らしました。</a:t>
            </a: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BB735F7-70B2-0C54-3416-534909ABB40A}"/>
              </a:ext>
            </a:extLst>
          </p:cNvPr>
          <p:cNvSpPr txBox="1">
            <a:spLocks/>
          </p:cNvSpPr>
          <p:nvPr/>
        </p:nvSpPr>
        <p:spPr>
          <a:xfrm>
            <a:off x="450045" y="3195177"/>
            <a:ext cx="67201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ea typeface="+mj-ea"/>
                <a:cs typeface="MS Gothic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ja-JP" altLang="en-US" spc="-25" dirty="0"/>
              <a:t>シェーダーのリフレクション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8BB0031-ED2B-4E23-CB2F-6F04770B48D2}"/>
              </a:ext>
            </a:extLst>
          </p:cNvPr>
          <p:cNvSpPr txBox="1"/>
          <p:nvPr/>
        </p:nvSpPr>
        <p:spPr>
          <a:xfrm>
            <a:off x="616975" y="4038600"/>
            <a:ext cx="8915400" cy="22416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シェーダーリフレクションを行い、その情報をもとに</a:t>
            </a:r>
            <a:br>
              <a:rPr lang="en-US" altLang="ja-JP" sz="2800" spc="-40" dirty="0">
                <a:solidFill>
                  <a:srgbClr val="FFFFFF"/>
                </a:solidFill>
                <a:latin typeface="MS Gothic"/>
                <a:cs typeface="MS Gothic"/>
              </a:rPr>
            </a:b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自動でバインドするようにしています。</a:t>
            </a: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オブジェクトが知らなくてよい定数バッファなどを</a:t>
            </a: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知らなくてもよいようにしています。</a:t>
            </a:r>
            <a:endParaRPr lang="en-US" altLang="ja-JP" sz="2800" spc="-40" dirty="0">
              <a:solidFill>
                <a:srgbClr val="FFFFFF"/>
              </a:solidFill>
              <a:latin typeface="MS Gothic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4459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54D2-2F94-E012-7FB4-94E43ED5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C03A3F-ACEE-D7E5-2C79-4D9302DA4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94633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en-US" spc="-25" dirty="0"/>
              <a:t>当たり判定 </a:t>
            </a:r>
            <a:r>
              <a:rPr lang="en-US" altLang="ja-JP" spc="-25" dirty="0" err="1"/>
              <a:t>AABBTree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38852B-833C-BA16-DC2F-27E7AE95450C}"/>
              </a:ext>
            </a:extLst>
          </p:cNvPr>
          <p:cNvSpPr txBox="1"/>
          <p:nvPr/>
        </p:nvSpPr>
        <p:spPr>
          <a:xfrm>
            <a:off x="609600" y="1851645"/>
            <a:ext cx="11367415" cy="3154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当たり判定を高速化、最適化するために、</a:t>
            </a:r>
            <a:r>
              <a:rPr lang="en-US" altLang="ja-JP" sz="2800" dirty="0" err="1">
                <a:solidFill>
                  <a:schemeClr val="bg1"/>
                </a:solidFill>
                <a:latin typeface="MS Gothic"/>
                <a:cs typeface="MS Gothic"/>
              </a:rPr>
              <a:t>AABBTree</a:t>
            </a: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を使用しました。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ja-JP" sz="2800" dirty="0" err="1">
                <a:solidFill>
                  <a:schemeClr val="bg1"/>
                </a:solidFill>
                <a:latin typeface="MS Gothic"/>
                <a:cs typeface="MS Gothic"/>
              </a:rPr>
              <a:t>AABBTree</a:t>
            </a: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を使用した理由は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・ 特定のセルの判定数が増えてしまう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・ 当たり判定の回数などが開発者が想定しにくい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・ マルチスレッドに対応したときに特定のセルに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ja-JP" altLang="en-US" sz="2800" dirty="0">
                <a:solidFill>
                  <a:schemeClr val="bg1"/>
                </a:solidFill>
                <a:latin typeface="MS Gothic"/>
                <a:cs typeface="MS Gothic"/>
              </a:rPr>
              <a:t>　 偏りが出て遅くなってしまう</a:t>
            </a:r>
            <a:endParaRPr lang="en-US" altLang="ja-JP" sz="2800" dirty="0">
              <a:solidFill>
                <a:schemeClr val="bg1"/>
              </a:solidFill>
              <a:latin typeface="MS Gothic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5834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E416-41FC-0499-93F2-6D2A60B6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7DBF8C-EB01-8167-E4E4-611C55E95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94633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ja-JP" altLang="en-US" spc="-25" dirty="0"/>
              <a:t>現在行っていること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F1187D-4E4B-A2B9-5A84-C6011FC99A64}"/>
              </a:ext>
            </a:extLst>
          </p:cNvPr>
          <p:cNvSpPr txBox="1"/>
          <p:nvPr/>
        </p:nvSpPr>
        <p:spPr>
          <a:xfrm>
            <a:off x="609600" y="1676400"/>
            <a:ext cx="11367415" cy="448584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今の抽象化では、間接参照を何度も行ったり、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リソースを取得するときのにキャッシュ効率が悪いだけでなく、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描画マネージャーが作成、管理、バインドなどを行うため、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単一責任になっていません。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これらの問題点を解決するために、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描画マネージャーを作成、管理、描画で分けて、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作成は抽象化クラスを作成して、ゲーム層に渡し。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描画は、ゲーム層で描画コマンドリストを作成して、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lang="ja-JP" altLang="en-US" sz="2800" dirty="0">
                <a:solidFill>
                  <a:schemeClr val="bg1"/>
                </a:solidFill>
                <a:latin typeface="+mn-ea"/>
                <a:ea typeface="+mn-ea"/>
                <a:cs typeface="MS Gothic"/>
              </a:rPr>
              <a:t>プラットフォーム層に渡すことで描画するように修正しています。</a:t>
            </a:r>
            <a:endParaRPr lang="en-US" altLang="ja-JP" sz="2800" dirty="0">
              <a:solidFill>
                <a:schemeClr val="bg1"/>
              </a:solidFill>
              <a:latin typeface="+mn-ea"/>
              <a:ea typeface="+mn-ea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985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</TotalTime>
  <Words>586</Words>
  <Application>Microsoft Office PowerPoint</Application>
  <PresentationFormat>ワイド画面</PresentationFormat>
  <Paragraphs>73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 MT</vt:lpstr>
      <vt:lpstr>MS Gothic</vt:lpstr>
      <vt:lpstr>Office Theme</vt:lpstr>
      <vt:lpstr>就職作品詳細アピール</vt:lpstr>
      <vt:lpstr>作品概要・開発目的</vt:lpstr>
      <vt:lpstr>PowerPoint プレゼンテーション</vt:lpstr>
      <vt:lpstr>プラットフォーム非依存設計 ： 数学型</vt:lpstr>
      <vt:lpstr>プラットフォーム非依存設計 ： デバッグ</vt:lpstr>
      <vt:lpstr>プラットフォーム非依存設計 ： 描画</vt:lpstr>
      <vt:lpstr>責任の</vt:lpstr>
      <vt:lpstr>リソース管理</vt:lpstr>
      <vt:lpstr>当たり判定 AABBTree</vt:lpstr>
      <vt:lpstr>現在行っていること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432</cp:revision>
  <dcterms:created xsi:type="dcterms:W3CDTF">2025-12-13T00:48:35Z</dcterms:created>
  <dcterms:modified xsi:type="dcterms:W3CDTF">2026-01-13T14:27:21Z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